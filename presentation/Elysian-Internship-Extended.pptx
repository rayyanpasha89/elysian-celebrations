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Migrations</c:v>
                </c:pt>
              </c:strCache>
            </c:strRef>
          </c:tx>
          <c:spPr>
            <a:solidFill>
              <a:srgbClr val="7F4F24"/>
            </a:solidFill>
            <a:effectLst/>
          </c:spPr>
          <c:invertIfNegative val="0"/>
          <c:dLbls>
            <c:numFmt formatCode="#,##0" sourceLinked="0"/>
            <c:txPr>
              <a:bodyPr/>
              <a:lstStyle/>
              <a:p>
                <a:pPr>
                  <a:defRPr b="1" i="0" strike="noStrike" sz="1100" u="none">
                    <a:solidFill>
                      <a:srgbClr val="333D29"/>
                    </a:solidFill>
                    <a:latin typeface="Calibri"/>
                  </a:defRPr>
                </a:pPr>
              </a:p>
            </c:txPr>
            <c:showLegendKey val="0"/>
            <c:showVal val="1"/>
            <c:showCatName val="0"/>
            <c:showSerName val="0"/>
            <c:showPercent val="0"/>
            <c:showBubbleSize val="0"/>
            <c:showLeaderLines val="0"/>
          </c:dLbls>
          <c:cat>
            <c:multiLvlStrRef>
              <c:f>Sheet1!$A$2:$A$7</c:f>
              <c:multiLvlStrCache>
                <c:ptCount val="6"/>
                <c:lvl>
                  <c:pt idx="0">
                    <c:v>Mar</c:v>
                  </c:pt>
                  <c:pt idx="1">
                    <c:v>Apr</c:v>
                  </c:pt>
                  <c:pt idx="2">
                    <c:v>May</c:v>
                  </c:pt>
                  <c:pt idx="3">
                    <c:v>Jun</c:v>
                  </c:pt>
                  <c:pt idx="4">
                    <c:v>Jul</c:v>
                  </c:pt>
                  <c:pt idx="5">
                    <c:v>Aug</c:v>
                  </c:pt>
                </c:lvl>
              </c:multiLvlStrCache>
            </c:multiLvlStrRef>
          </c:cat>
          <c:val>
            <c:numRef>
              <c:f>Sheet1!$B$2:$B$7</c:f>
              <c:numCache>
                <c:formatCode>General</c:formatCode>
                <c:ptCount val="6"/>
                <c:pt idx="0">
                  <c:v>1</c:v>
                </c:pt>
                <c:pt idx="1">
                  <c:v>3</c:v>
                </c:pt>
                <c:pt idx="2">
                  <c:v>4</c:v>
                </c:pt>
                <c:pt idx="3">
                  <c:v>7</c:v>
                </c:pt>
                <c:pt idx="4">
                  <c:v>4</c:v>
                </c:pt>
                <c:pt idx="5">
                  <c:v>6</c:v>
                </c:pt>
              </c:numCache>
            </c:numRef>
          </c:val>
        </c:ser>
        <c:dLbls>
          <c:numFmt formatCode="#,##0" sourceLinked="0"/>
          <c:txPr>
            <a:bodyPr/>
            <a:lstStyle/>
            <a:p>
              <a:pPr>
                <a:defRPr b="1" i="0" strike="noStrike" sz="1100" u="none">
                  <a:solidFill>
                    <a:srgbClr val="333D29"/>
                  </a:solidFill>
                  <a:latin typeface="Calibri"/>
                </a:defRPr>
              </a:pPr>
            </a:p>
          </c:txPr>
          <c:showLegendKey val="0"/>
          <c:showVal val="1"/>
          <c:showCatName val="0"/>
          <c:showSerName val="0"/>
          <c:showPercent val="0"/>
          <c:showBubbleSize val="0"/>
          <c:showLeaderLines val="0"/>
        </c:dLbls>
        <c:gapWidth val="62"/>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56D4A"/>
                </a:solidFill>
                <a:latin typeface="Calibri"/>
              </a:defRPr>
            </a:pPr>
            <a:endParaRPr lang="en-US"/>
          </a:p>
        </c:txPr>
        <c:crossAx val="2094734552"/>
        <c:crosses val="autoZero"/>
        <c:auto val="1"/>
        <c:lblAlgn val="ctr"/>
        <c:noMultiLvlLbl val="1"/>
      </c:catAx>
      <c:valAx>
        <c:axId val="2094734552"/>
        <c:scaling>
          <c:orientation val="minMax"/>
          <c:max val="8"/>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5F0E2"/>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Over my internship at TIPS Founder's Desk I built Elysian Celebrations. It started as a wedding website brief, and the most important thing I did was recognise it shouldn't stay one. Today I'll show you what I built, the architecture underneath it, and — honestly — what's still unfinished.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frame the scale: 61,000 lines of strict TypeScript, 62 routes, 59 API handlers, 27 tables. But the number that matters is none of those — it's the gap between the brief I was given and the problem I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Planning a multi-day Indian celebration means twenty-plus functions across five days. Today that's coordinated across six disconnected tools, and the client is the integration layer. Every one of these four problems became a design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sentence drove every screen. If the user is typing, the system has stopped understanding them. A typed vendor name is a dead end — it can't be priced, booked or reported on. A chosen one is a foreign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Definition shapes the event. The flow map is where the real work happens. Finalization checks readiness. The rule that ties them together: each layer only asks for what the previous one has made knowable — which is why there's no budget question in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I'm proudest of. Instead of one enormous form, the user drills: hub, day, function, step. By the time an editor opens it's scoped to one step of one function of one day — small enough to actually finish. The highlighted path is the drill-down.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portals, 62 routes, one shared spine. The design decision worth noting: none of these portals is a separate application. They read the same tables through the same handlers — the difference is purely what each role is authorised to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the most consequential decision: the browser holds no database credentials at all. RLS is on with zero policies and public grants revoked, so Postgres is reachable only through my 59 handlers. The honest cost is that RLS can no longer catch my mistakes — which is exactly why I audited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migrations over six months. June is the spike — that's when the event-platform layer and the commercial model both landed. The discipline point: not one schema change was typed into the Supabase dashboard. Everything is a reviewed file in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hardest business logic. Three roles need three different truths about the same number. The service fee is a generated column — final minus payout — so it cannot drift. And the client total is gated behind 100% readiness, so nobody is quoted a price for a plan that isn't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straight about this slide. I wrote two audits against my own code and I'm showing you the open finding as well as the closed ones. One HIGH is still open — dashboards need a server-rendered role check as defence in depth. The data is protected by the API checks today, but it isn't layered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ask me one technical question, ask about this. Readiness was calculated in two places with divergent rules, and one of those copies decided whether a client could see a price. I collapsed it to a single server-side contract. The lesson generalises: duplicated logic near money is a security problem, not a tidiness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I chose not to fake. Each needs a data migration rather than a patch, and shipping chrome that implied they worked would have been worse than leaving them open. That judgement — knowing when not to ship — is probably the most useful thing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The first is the one that stings — I built surfaces that implied features worked when the logic behind them didn't. The second changed how I think about where rules live. The third is the habit I'll keep: read your own code the way an attacker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 and I'd particularly welcome ones about the open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9-image-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Elysian-Celebrations/b352a563-fe1e-5748-a5d2-f04c5510bd2a/scratchpad/deck/assets/motif-flow.png">    </p:cNvPr>
          <p:cNvPicPr>
            <a:picLocks noChangeAspect="1"/>
          </p:cNvPicPr>
          <p:nvPr/>
        </p:nvPicPr>
        <p:blipFill>
          <a:blip r:embed="rId2">
            <a:alphaModFix amt="78000"/>
          </a:blip>
          <a:stretch>
            <a:fillRect/>
          </a:stretch>
        </p:blipFill>
        <p:spPr>
          <a:xfrm>
            <a:off x="6903720" y="274320"/>
            <a:ext cx="6309360" cy="6309360"/>
          </a:xfrm>
          <a:prstGeom prst="rect">
            <a:avLst/>
          </a:prstGeom>
        </p:spPr>
      </p:pic>
      <p:sp>
        <p:nvSpPr>
          <p:cNvPr id="3" name="Text 0"/>
          <p:cNvSpPr/>
          <p:nvPr/>
        </p:nvSpPr>
        <p:spPr>
          <a:xfrm>
            <a:off x="777240" y="1298448"/>
            <a:ext cx="6583680" cy="256032"/>
          </a:xfrm>
          <a:prstGeom prst="rect">
            <a:avLst/>
          </a:prstGeom>
          <a:noFill/>
          <a:ln/>
        </p:spPr>
        <p:txBody>
          <a:bodyPr wrap="square" lIns="0" tIns="0" rIns="0" bIns="0" rtlCol="0" anchor="ctr"/>
          <a:lstStyle/>
          <a:p>
            <a:pPr indent="0" marL="0">
              <a:buNone/>
            </a:pPr>
            <a:r>
              <a:rPr lang="en-US" sz="1100" b="1" spc="300" kern="0" dirty="0">
                <a:solidFill>
                  <a:srgbClr val="A68A64"/>
                </a:solidFill>
                <a:latin typeface="Calibri" pitchFamily="34" charset="0"/>
                <a:ea typeface="Calibri" pitchFamily="34" charset="-122"/>
                <a:cs typeface="Calibri" pitchFamily="34" charset="-120"/>
              </a:rPr>
              <a:t>INTERNSHIP PROJECT PRESENTATION</a:t>
            </a:r>
            <a:endParaRPr lang="en-US" sz="1100" dirty="0"/>
          </a:p>
        </p:txBody>
      </p:sp>
      <p:sp>
        <p:nvSpPr>
          <p:cNvPr id="4" name="Text 1"/>
          <p:cNvSpPr/>
          <p:nvPr/>
        </p:nvSpPr>
        <p:spPr>
          <a:xfrm>
            <a:off x="777240" y="1700784"/>
            <a:ext cx="6583680" cy="1975104"/>
          </a:xfrm>
          <a:prstGeom prst="rect">
            <a:avLst/>
          </a:prstGeom>
          <a:noFill/>
          <a:ln/>
        </p:spPr>
        <p:txBody>
          <a:bodyPr wrap="square" lIns="0" tIns="0" rIns="0" bIns="0" rtlCol="0" anchor="ctr"/>
          <a:lstStyle/>
          <a:p>
            <a:pPr indent="0" marL="0">
              <a:lnSpc>
                <a:spcPct val="96000"/>
              </a:lnSpc>
              <a:buNone/>
            </a:pPr>
            <a:r>
              <a:rPr lang="en-US" sz="5400" b="1" dirty="0">
                <a:solidFill>
                  <a:srgbClr val="F5F0E2"/>
                </a:solidFill>
                <a:latin typeface="Cambria" pitchFamily="34" charset="0"/>
                <a:ea typeface="Cambria" pitchFamily="34" charset="-122"/>
                <a:cs typeface="Cambria" pitchFamily="34" charset="-120"/>
              </a:rPr>
              <a:t>Elysian</a:t>
            </a:r>
            <a:endParaRPr lang="en-US" sz="5400" dirty="0"/>
          </a:p>
          <a:p>
            <a:pPr indent="0" marL="0">
              <a:lnSpc>
                <a:spcPct val="96000"/>
              </a:lnSpc>
              <a:buNone/>
            </a:pPr>
            <a:r>
              <a:rPr lang="en-US" sz="5400" b="1" dirty="0">
                <a:solidFill>
                  <a:srgbClr val="F5F0E2"/>
                </a:solidFill>
                <a:latin typeface="Cambria" pitchFamily="34" charset="0"/>
                <a:ea typeface="Cambria" pitchFamily="34" charset="-122"/>
                <a:cs typeface="Cambria" pitchFamily="34" charset="-120"/>
              </a:rPr>
              <a:t>Celebrations</a:t>
            </a:r>
            <a:endParaRPr lang="en-US" sz="5400" dirty="0"/>
          </a:p>
        </p:txBody>
      </p:sp>
      <p:sp>
        <p:nvSpPr>
          <p:cNvPr id="5" name="Text 2"/>
          <p:cNvSpPr/>
          <p:nvPr/>
        </p:nvSpPr>
        <p:spPr>
          <a:xfrm>
            <a:off x="777240" y="3767328"/>
            <a:ext cx="6309360" cy="384048"/>
          </a:xfrm>
          <a:prstGeom prst="rect">
            <a:avLst/>
          </a:prstGeom>
          <a:noFill/>
          <a:ln/>
        </p:spPr>
        <p:txBody>
          <a:bodyPr wrap="square" lIns="0" tIns="0" rIns="0" bIns="0" rtlCol="0" anchor="ctr"/>
          <a:lstStyle/>
          <a:p>
            <a:pPr indent="0" marL="0">
              <a:buNone/>
            </a:pPr>
            <a:r>
              <a:rPr lang="en-US" sz="1600" i="1" dirty="0">
                <a:solidFill>
                  <a:srgbClr val="B6AD90"/>
                </a:solidFill>
                <a:latin typeface="Calibri" pitchFamily="34" charset="0"/>
                <a:ea typeface="Calibri" pitchFamily="34" charset="-122"/>
                <a:cs typeface="Calibri" pitchFamily="34" charset="-120"/>
              </a:rPr>
              <a:t>Turning a wedding website into an event-planning platform.</a:t>
            </a:r>
            <a:endParaRPr lang="en-US" sz="1600" dirty="0"/>
          </a:p>
        </p:txBody>
      </p:sp>
      <p:sp>
        <p:nvSpPr>
          <p:cNvPr id="6" name="Text 3"/>
          <p:cNvSpPr/>
          <p:nvPr/>
        </p:nvSpPr>
        <p:spPr>
          <a:xfrm>
            <a:off x="777240" y="4864608"/>
            <a:ext cx="2103120" cy="219456"/>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PRESENTED BY</a:t>
            </a:r>
            <a:endParaRPr lang="en-US" sz="900" dirty="0"/>
          </a:p>
        </p:txBody>
      </p:sp>
      <p:sp>
        <p:nvSpPr>
          <p:cNvPr id="7" name="Text 4"/>
          <p:cNvSpPr/>
          <p:nvPr/>
        </p:nvSpPr>
        <p:spPr>
          <a:xfrm>
            <a:off x="777240" y="5120640"/>
            <a:ext cx="2194560" cy="292608"/>
          </a:xfrm>
          <a:prstGeom prst="rect">
            <a:avLst/>
          </a:prstGeom>
          <a:noFill/>
          <a:ln/>
        </p:spPr>
        <p:txBody>
          <a:bodyPr wrap="square" lIns="0" tIns="0" rIns="0" bIns="0" rtlCol="0" anchor="ctr"/>
          <a:lstStyle/>
          <a:p>
            <a:pPr indent="0" marL="0">
              <a:buNone/>
            </a:pPr>
            <a:r>
              <a:rPr lang="en-US" sz="1250" b="1" dirty="0">
                <a:solidFill>
                  <a:srgbClr val="F5F0E2"/>
                </a:solidFill>
                <a:latin typeface="Calibri" pitchFamily="34" charset="0"/>
                <a:ea typeface="Calibri" pitchFamily="34" charset="-122"/>
                <a:cs typeface="Calibri" pitchFamily="34" charset="-120"/>
              </a:rPr>
              <a:t>Mohammed Rayyan Pasha</a:t>
            </a:r>
            <a:endParaRPr lang="en-US" sz="1250" dirty="0"/>
          </a:p>
        </p:txBody>
      </p:sp>
      <p:sp>
        <p:nvSpPr>
          <p:cNvPr id="8" name="Text 5"/>
          <p:cNvSpPr/>
          <p:nvPr/>
        </p:nvSpPr>
        <p:spPr>
          <a:xfrm>
            <a:off x="3017520" y="4864608"/>
            <a:ext cx="2103120" cy="219456"/>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ORGANISATION</a:t>
            </a:r>
            <a:endParaRPr lang="en-US" sz="900" dirty="0"/>
          </a:p>
        </p:txBody>
      </p:sp>
      <p:sp>
        <p:nvSpPr>
          <p:cNvPr id="9" name="Text 6"/>
          <p:cNvSpPr/>
          <p:nvPr/>
        </p:nvSpPr>
        <p:spPr>
          <a:xfrm>
            <a:off x="3017520" y="5120640"/>
            <a:ext cx="2194560" cy="292608"/>
          </a:xfrm>
          <a:prstGeom prst="rect">
            <a:avLst/>
          </a:prstGeom>
          <a:noFill/>
          <a:ln/>
        </p:spPr>
        <p:txBody>
          <a:bodyPr wrap="square" lIns="0" tIns="0" rIns="0" bIns="0" rtlCol="0" anchor="ctr"/>
          <a:lstStyle/>
          <a:p>
            <a:pPr indent="0" marL="0">
              <a:buNone/>
            </a:pPr>
            <a:r>
              <a:rPr lang="en-US" sz="1250" b="1" dirty="0">
                <a:solidFill>
                  <a:srgbClr val="F5F0E2"/>
                </a:solidFill>
                <a:latin typeface="Calibri" pitchFamily="34" charset="0"/>
                <a:ea typeface="Calibri" pitchFamily="34" charset="-122"/>
                <a:cs typeface="Calibri" pitchFamily="34" charset="-120"/>
              </a:rPr>
              <a:t>TIPS Founder's Desk</a:t>
            </a:r>
            <a:endParaRPr lang="en-US" sz="1250" dirty="0"/>
          </a:p>
        </p:txBody>
      </p:sp>
      <p:sp>
        <p:nvSpPr>
          <p:cNvPr id="10" name="Text 7"/>
          <p:cNvSpPr/>
          <p:nvPr/>
        </p:nvSpPr>
        <p:spPr>
          <a:xfrm>
            <a:off x="5257800" y="4864608"/>
            <a:ext cx="2103120" cy="219456"/>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DURATION</a:t>
            </a:r>
            <a:endParaRPr lang="en-US" sz="900" dirty="0"/>
          </a:p>
        </p:txBody>
      </p:sp>
      <p:sp>
        <p:nvSpPr>
          <p:cNvPr id="11" name="Text 8"/>
          <p:cNvSpPr/>
          <p:nvPr/>
        </p:nvSpPr>
        <p:spPr>
          <a:xfrm>
            <a:off x="5257800" y="5120640"/>
            <a:ext cx="2194560" cy="292608"/>
          </a:xfrm>
          <a:prstGeom prst="rect">
            <a:avLst/>
          </a:prstGeom>
          <a:noFill/>
          <a:ln/>
        </p:spPr>
        <p:txBody>
          <a:bodyPr wrap="square" lIns="0" tIns="0" rIns="0" bIns="0" rtlCol="0" anchor="ctr"/>
          <a:lstStyle/>
          <a:p>
            <a:pPr indent="0" marL="0">
              <a:buNone/>
            </a:pPr>
            <a:r>
              <a:rPr lang="en-US" sz="1250" b="1" dirty="0">
                <a:solidFill>
                  <a:srgbClr val="F5F0E2"/>
                </a:solidFill>
                <a:latin typeface="Calibri" pitchFamily="34" charset="0"/>
                <a:ea typeface="Calibri" pitchFamily="34" charset="-122"/>
                <a:cs typeface="Calibri" pitchFamily="34" charset="-120"/>
              </a:rPr>
              <a:t>01 Apr 2025 – 30 Dec 2026</a:t>
            </a:r>
            <a:endParaRPr lang="en-US" sz="1250" dirty="0"/>
          </a:p>
        </p:txBody>
      </p:sp>
      <p:sp>
        <p:nvSpPr>
          <p:cNvPr id="12" name="Text 9"/>
          <p:cNvSpPr/>
          <p:nvPr/>
        </p:nvSpPr>
        <p:spPr>
          <a:xfrm>
            <a:off x="777240" y="5870448"/>
            <a:ext cx="6766560" cy="274320"/>
          </a:xfrm>
          <a:prstGeom prst="rect">
            <a:avLst/>
          </a:prstGeom>
          <a:noFill/>
          <a:ln/>
        </p:spPr>
        <p:txBody>
          <a:bodyPr wrap="square" lIns="0" tIns="0" rIns="0" bIns="0" rtlCol="0" anchor="ctr"/>
          <a:lstStyle/>
          <a:p>
            <a:pPr indent="0" marL="0">
              <a:buNone/>
            </a:pPr>
            <a:r>
              <a:rPr lang="en-US" sz="1100" spc="60" kern="0" dirty="0">
                <a:solidFill>
                  <a:srgbClr val="BFC2AC"/>
                </a:solidFill>
                <a:latin typeface="Calibri" pitchFamily="34" charset="0"/>
                <a:ea typeface="Calibri" pitchFamily="34" charset="-122"/>
                <a:cs typeface="Calibri" pitchFamily="34" charset="-120"/>
              </a:rPr>
              <a:t>Next.js 16  ·  React 19  ·  TypeScript  ·  Supabase Postgres  ·  Clerk  ·  Vercel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01 · SCOPE OF WORK</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One codebase, every layer of a real product.</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Not a prototype and not a tutorial build — a deployed, role-aware platform with its own schema, security model and commercial rules.</a:t>
            </a:r>
            <a:endParaRPr lang="en-US" sz="1350" dirty="0"/>
          </a:p>
        </p:txBody>
      </p:sp>
      <p:sp>
        <p:nvSpPr>
          <p:cNvPr id="5" name="Shape 3"/>
          <p:cNvSpPr/>
          <p:nvPr/>
        </p:nvSpPr>
        <p:spPr>
          <a:xfrm>
            <a:off x="685800" y="2249424"/>
            <a:ext cx="2485339" cy="1883664"/>
          </a:xfrm>
          <a:prstGeom prst="roundRect">
            <a:avLst>
              <a:gd name="adj" fmla="val 485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905256" y="2414016"/>
            <a:ext cx="2046427" cy="749808"/>
          </a:xfrm>
          <a:prstGeom prst="rect">
            <a:avLst/>
          </a:prstGeom>
          <a:noFill/>
          <a:ln/>
        </p:spPr>
        <p:txBody>
          <a:bodyPr wrap="square" lIns="0" tIns="0" rIns="0" bIns="0" rtlCol="0" anchor="ctr"/>
          <a:lstStyle/>
          <a:p>
            <a:pPr indent="0" marL="0">
              <a:buNone/>
            </a:pPr>
            <a:r>
              <a:rPr lang="en-US" sz="3100" b="1" dirty="0">
                <a:solidFill>
                  <a:srgbClr val="7F4F24"/>
                </a:solidFill>
                <a:latin typeface="Cambria" pitchFamily="34" charset="0"/>
                <a:ea typeface="Cambria" pitchFamily="34" charset="-122"/>
                <a:cs typeface="Cambria" pitchFamily="34" charset="-120"/>
              </a:rPr>
              <a:t>61,000+</a:t>
            </a:r>
            <a:endParaRPr lang="en-US" sz="3100" dirty="0"/>
          </a:p>
        </p:txBody>
      </p:sp>
      <p:sp>
        <p:nvSpPr>
          <p:cNvPr id="7" name="Text 5"/>
          <p:cNvSpPr/>
          <p:nvPr/>
        </p:nvSpPr>
        <p:spPr>
          <a:xfrm>
            <a:off x="905256" y="3182112"/>
            <a:ext cx="2046427" cy="566928"/>
          </a:xfrm>
          <a:prstGeom prst="rect">
            <a:avLst/>
          </a:prstGeom>
          <a:noFill/>
          <a:ln/>
        </p:spPr>
        <p:txBody>
          <a:bodyPr wrap="square" lIns="0" tIns="0" rIns="0" bIns="0" rtlCol="0" anchor="ctr"/>
          <a:lstStyle/>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lines of</a:t>
            </a:r>
            <a:endParaRPr lang="en-US" sz="1300" dirty="0"/>
          </a:p>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TypeScript</a:t>
            </a:r>
            <a:endParaRPr lang="en-US" sz="1300" dirty="0"/>
          </a:p>
        </p:txBody>
      </p:sp>
      <p:sp>
        <p:nvSpPr>
          <p:cNvPr id="8" name="Text 6"/>
          <p:cNvSpPr/>
          <p:nvPr/>
        </p:nvSpPr>
        <p:spPr>
          <a:xfrm>
            <a:off x="905256" y="3749040"/>
            <a:ext cx="2046427" cy="274320"/>
          </a:xfrm>
          <a:prstGeom prst="rect">
            <a:avLst/>
          </a:prstGeom>
          <a:noFill/>
          <a:ln/>
        </p:spPr>
        <p:txBody>
          <a:bodyPr wrap="square" lIns="0" tIns="0" rIns="0" bIns="0" rtlCol="0" anchor="ctr"/>
          <a:lstStyle/>
          <a:p>
            <a:pPr indent="0" marL="0">
              <a:buNone/>
            </a:pPr>
            <a:r>
              <a:rPr lang="en-US" sz="1000" i="1" dirty="0">
                <a:solidFill>
                  <a:srgbClr val="656D4A"/>
                </a:solidFill>
                <a:latin typeface="Calibri" pitchFamily="34" charset="0"/>
                <a:ea typeface="Calibri" pitchFamily="34" charset="-122"/>
                <a:cs typeface="Calibri" pitchFamily="34" charset="-120"/>
              </a:rPr>
              <a:t>strict mode, zero `any`</a:t>
            </a:r>
            <a:endParaRPr lang="en-US" sz="1000" dirty="0"/>
          </a:p>
        </p:txBody>
      </p:sp>
      <p:sp>
        <p:nvSpPr>
          <p:cNvPr id="9" name="Shape 7"/>
          <p:cNvSpPr/>
          <p:nvPr/>
        </p:nvSpPr>
        <p:spPr>
          <a:xfrm>
            <a:off x="3463747" y="2249424"/>
            <a:ext cx="2485339" cy="1883664"/>
          </a:xfrm>
          <a:prstGeom prst="roundRect">
            <a:avLst>
              <a:gd name="adj" fmla="val 485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0" name="Text 8"/>
          <p:cNvSpPr/>
          <p:nvPr/>
        </p:nvSpPr>
        <p:spPr>
          <a:xfrm>
            <a:off x="3683203" y="2414016"/>
            <a:ext cx="2046427" cy="749808"/>
          </a:xfrm>
          <a:prstGeom prst="rect">
            <a:avLst/>
          </a:prstGeom>
          <a:noFill/>
          <a:ln/>
        </p:spPr>
        <p:txBody>
          <a:bodyPr wrap="square" lIns="0" tIns="0" rIns="0" bIns="0" rtlCol="0" anchor="ctr"/>
          <a:lstStyle/>
          <a:p>
            <a:pPr indent="0" marL="0">
              <a:buNone/>
            </a:pPr>
            <a:r>
              <a:rPr lang="en-US" sz="4000" b="1" dirty="0">
                <a:solidFill>
                  <a:srgbClr val="7F4F24"/>
                </a:solidFill>
                <a:latin typeface="Cambria" pitchFamily="34" charset="0"/>
                <a:ea typeface="Cambria" pitchFamily="34" charset="-122"/>
                <a:cs typeface="Cambria" pitchFamily="34" charset="-120"/>
              </a:rPr>
              <a:t>62</a:t>
            </a:r>
            <a:endParaRPr lang="en-US" sz="4000" dirty="0"/>
          </a:p>
        </p:txBody>
      </p:sp>
      <p:sp>
        <p:nvSpPr>
          <p:cNvPr id="11" name="Text 9"/>
          <p:cNvSpPr/>
          <p:nvPr/>
        </p:nvSpPr>
        <p:spPr>
          <a:xfrm>
            <a:off x="3683203" y="3182112"/>
            <a:ext cx="2046427" cy="566928"/>
          </a:xfrm>
          <a:prstGeom prst="rect">
            <a:avLst/>
          </a:prstGeom>
          <a:noFill/>
          <a:ln/>
        </p:spPr>
        <p:txBody>
          <a:bodyPr wrap="square" lIns="0" tIns="0" rIns="0" bIns="0" rtlCol="0" anchor="ctr"/>
          <a:lstStyle/>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application</a:t>
            </a:r>
            <a:endParaRPr lang="en-US" sz="1300" dirty="0"/>
          </a:p>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routes</a:t>
            </a:r>
            <a:endParaRPr lang="en-US" sz="1300" dirty="0"/>
          </a:p>
        </p:txBody>
      </p:sp>
      <p:sp>
        <p:nvSpPr>
          <p:cNvPr id="12" name="Text 10"/>
          <p:cNvSpPr/>
          <p:nvPr/>
        </p:nvSpPr>
        <p:spPr>
          <a:xfrm>
            <a:off x="3683203" y="3749040"/>
            <a:ext cx="2046427" cy="274320"/>
          </a:xfrm>
          <a:prstGeom prst="rect">
            <a:avLst/>
          </a:prstGeom>
          <a:noFill/>
          <a:ln/>
        </p:spPr>
        <p:txBody>
          <a:bodyPr wrap="square" lIns="0" tIns="0" rIns="0" bIns="0" rtlCol="0" anchor="ctr"/>
          <a:lstStyle/>
          <a:p>
            <a:pPr indent="0" marL="0">
              <a:buNone/>
            </a:pPr>
            <a:r>
              <a:rPr lang="en-US" sz="1000" i="1" dirty="0">
                <a:solidFill>
                  <a:srgbClr val="656D4A"/>
                </a:solidFill>
                <a:latin typeface="Calibri" pitchFamily="34" charset="0"/>
                <a:ea typeface="Calibri" pitchFamily="34" charset="-122"/>
                <a:cs typeface="Calibri" pitchFamily="34" charset="-120"/>
              </a:rPr>
              <a:t>across 4 role portals</a:t>
            </a:r>
            <a:endParaRPr lang="en-US" sz="1000" dirty="0"/>
          </a:p>
        </p:txBody>
      </p:sp>
      <p:sp>
        <p:nvSpPr>
          <p:cNvPr id="13" name="Shape 11"/>
          <p:cNvSpPr/>
          <p:nvPr/>
        </p:nvSpPr>
        <p:spPr>
          <a:xfrm>
            <a:off x="6241694" y="2249424"/>
            <a:ext cx="2485339" cy="1883664"/>
          </a:xfrm>
          <a:prstGeom prst="roundRect">
            <a:avLst>
              <a:gd name="adj" fmla="val 485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4" name="Text 12"/>
          <p:cNvSpPr/>
          <p:nvPr/>
        </p:nvSpPr>
        <p:spPr>
          <a:xfrm>
            <a:off x="6461150" y="2414016"/>
            <a:ext cx="2046427" cy="749808"/>
          </a:xfrm>
          <a:prstGeom prst="rect">
            <a:avLst/>
          </a:prstGeom>
          <a:noFill/>
          <a:ln/>
        </p:spPr>
        <p:txBody>
          <a:bodyPr wrap="square" lIns="0" tIns="0" rIns="0" bIns="0" rtlCol="0" anchor="ctr"/>
          <a:lstStyle/>
          <a:p>
            <a:pPr indent="0" marL="0">
              <a:buNone/>
            </a:pPr>
            <a:r>
              <a:rPr lang="en-US" sz="4000" b="1" dirty="0">
                <a:solidFill>
                  <a:srgbClr val="7F4F24"/>
                </a:solidFill>
                <a:latin typeface="Cambria" pitchFamily="34" charset="0"/>
                <a:ea typeface="Cambria" pitchFamily="34" charset="-122"/>
                <a:cs typeface="Cambria" pitchFamily="34" charset="-120"/>
              </a:rPr>
              <a:t>59</a:t>
            </a:r>
            <a:endParaRPr lang="en-US" sz="4000" dirty="0"/>
          </a:p>
        </p:txBody>
      </p:sp>
      <p:sp>
        <p:nvSpPr>
          <p:cNvPr id="15" name="Text 13"/>
          <p:cNvSpPr/>
          <p:nvPr/>
        </p:nvSpPr>
        <p:spPr>
          <a:xfrm>
            <a:off x="6461150" y="3182112"/>
            <a:ext cx="2046427" cy="566928"/>
          </a:xfrm>
          <a:prstGeom prst="rect">
            <a:avLst/>
          </a:prstGeom>
          <a:noFill/>
          <a:ln/>
        </p:spPr>
        <p:txBody>
          <a:bodyPr wrap="square" lIns="0" tIns="0" rIns="0" bIns="0" rtlCol="0" anchor="ctr"/>
          <a:lstStyle/>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API route</a:t>
            </a:r>
            <a:endParaRPr lang="en-US" sz="1300" dirty="0"/>
          </a:p>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handlers</a:t>
            </a:r>
            <a:endParaRPr lang="en-US" sz="1300" dirty="0"/>
          </a:p>
        </p:txBody>
      </p:sp>
      <p:sp>
        <p:nvSpPr>
          <p:cNvPr id="16" name="Text 14"/>
          <p:cNvSpPr/>
          <p:nvPr/>
        </p:nvSpPr>
        <p:spPr>
          <a:xfrm>
            <a:off x="6461150" y="3749040"/>
            <a:ext cx="2046427" cy="274320"/>
          </a:xfrm>
          <a:prstGeom prst="rect">
            <a:avLst/>
          </a:prstGeom>
          <a:noFill/>
          <a:ln/>
        </p:spPr>
        <p:txBody>
          <a:bodyPr wrap="square" lIns="0" tIns="0" rIns="0" bIns="0" rtlCol="0" anchor="ctr"/>
          <a:lstStyle/>
          <a:p>
            <a:pPr indent="0" marL="0">
              <a:buNone/>
            </a:pPr>
            <a:r>
              <a:rPr lang="en-US" sz="1000" i="1" dirty="0">
                <a:solidFill>
                  <a:srgbClr val="656D4A"/>
                </a:solidFill>
                <a:latin typeface="Calibri" pitchFamily="34" charset="0"/>
                <a:ea typeface="Calibri" pitchFamily="34" charset="-122"/>
                <a:cs typeface="Calibri" pitchFamily="34" charset="-120"/>
              </a:rPr>
              <a:t>the full security boundary</a:t>
            </a:r>
            <a:endParaRPr lang="en-US" sz="1000" dirty="0"/>
          </a:p>
        </p:txBody>
      </p:sp>
      <p:sp>
        <p:nvSpPr>
          <p:cNvPr id="17" name="Shape 15"/>
          <p:cNvSpPr/>
          <p:nvPr/>
        </p:nvSpPr>
        <p:spPr>
          <a:xfrm>
            <a:off x="9019642" y="2249424"/>
            <a:ext cx="2485339" cy="1883664"/>
          </a:xfrm>
          <a:prstGeom prst="roundRect">
            <a:avLst>
              <a:gd name="adj" fmla="val 485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8" name="Text 16"/>
          <p:cNvSpPr/>
          <p:nvPr/>
        </p:nvSpPr>
        <p:spPr>
          <a:xfrm>
            <a:off x="9239098" y="2414016"/>
            <a:ext cx="2046427" cy="749808"/>
          </a:xfrm>
          <a:prstGeom prst="rect">
            <a:avLst/>
          </a:prstGeom>
          <a:noFill/>
          <a:ln/>
        </p:spPr>
        <p:txBody>
          <a:bodyPr wrap="square" lIns="0" tIns="0" rIns="0" bIns="0" rtlCol="0" anchor="ctr"/>
          <a:lstStyle/>
          <a:p>
            <a:pPr indent="0" marL="0">
              <a:buNone/>
            </a:pPr>
            <a:r>
              <a:rPr lang="en-US" sz="4000" b="1" dirty="0">
                <a:solidFill>
                  <a:srgbClr val="7F4F24"/>
                </a:solidFill>
                <a:latin typeface="Cambria" pitchFamily="34" charset="0"/>
                <a:ea typeface="Cambria" pitchFamily="34" charset="-122"/>
                <a:cs typeface="Cambria" pitchFamily="34" charset="-120"/>
              </a:rPr>
              <a:t>27</a:t>
            </a:r>
            <a:endParaRPr lang="en-US" sz="4000" dirty="0"/>
          </a:p>
        </p:txBody>
      </p:sp>
      <p:sp>
        <p:nvSpPr>
          <p:cNvPr id="19" name="Text 17"/>
          <p:cNvSpPr/>
          <p:nvPr/>
        </p:nvSpPr>
        <p:spPr>
          <a:xfrm>
            <a:off x="9239098" y="3182112"/>
            <a:ext cx="2046427" cy="566928"/>
          </a:xfrm>
          <a:prstGeom prst="rect">
            <a:avLst/>
          </a:prstGeom>
          <a:noFill/>
          <a:ln/>
        </p:spPr>
        <p:txBody>
          <a:bodyPr wrap="square" lIns="0" tIns="0" rIns="0" bIns="0" rtlCol="0" anchor="ctr"/>
          <a:lstStyle/>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Postgres</a:t>
            </a:r>
            <a:endParaRPr lang="en-US" sz="1300" dirty="0"/>
          </a:p>
          <a:p>
            <a:pPr indent="0" marL="0">
              <a:lnSpc>
                <a:spcPct val="94000"/>
              </a:lnSpc>
              <a:buNone/>
            </a:pPr>
            <a:r>
              <a:rPr lang="en-US" sz="1300" b="1" dirty="0">
                <a:solidFill>
                  <a:srgbClr val="333D29"/>
                </a:solidFill>
                <a:latin typeface="Calibri" pitchFamily="34" charset="0"/>
                <a:ea typeface="Calibri" pitchFamily="34" charset="-122"/>
                <a:cs typeface="Calibri" pitchFamily="34" charset="-120"/>
              </a:rPr>
              <a:t>tables</a:t>
            </a:r>
            <a:endParaRPr lang="en-US" sz="1300" dirty="0"/>
          </a:p>
        </p:txBody>
      </p:sp>
      <p:sp>
        <p:nvSpPr>
          <p:cNvPr id="20" name="Text 18"/>
          <p:cNvSpPr/>
          <p:nvPr/>
        </p:nvSpPr>
        <p:spPr>
          <a:xfrm>
            <a:off x="9239098" y="3749040"/>
            <a:ext cx="2046427" cy="274320"/>
          </a:xfrm>
          <a:prstGeom prst="rect">
            <a:avLst/>
          </a:prstGeom>
          <a:noFill/>
          <a:ln/>
        </p:spPr>
        <p:txBody>
          <a:bodyPr wrap="square" lIns="0" tIns="0" rIns="0" bIns="0" rtlCol="0" anchor="ctr"/>
          <a:lstStyle/>
          <a:p>
            <a:pPr indent="0" marL="0">
              <a:buNone/>
            </a:pPr>
            <a:r>
              <a:rPr lang="en-US" sz="1000" i="1" dirty="0">
                <a:solidFill>
                  <a:srgbClr val="656D4A"/>
                </a:solidFill>
                <a:latin typeface="Calibri" pitchFamily="34" charset="0"/>
                <a:ea typeface="Calibri" pitchFamily="34" charset="-122"/>
                <a:cs typeface="Calibri" pitchFamily="34" charset="-120"/>
              </a:rPr>
              <a:t>via 25 reviewed migrations</a:t>
            </a:r>
            <a:endParaRPr lang="en-US" sz="1000" dirty="0"/>
          </a:p>
        </p:txBody>
      </p:sp>
      <p:sp>
        <p:nvSpPr>
          <p:cNvPr id="21" name="Shape 19"/>
          <p:cNvSpPr/>
          <p:nvPr/>
        </p:nvSpPr>
        <p:spPr>
          <a:xfrm>
            <a:off x="685800" y="4443984"/>
            <a:ext cx="10820095" cy="1536192"/>
          </a:xfrm>
          <a:prstGeom prst="roundRect">
            <a:avLst>
              <a:gd name="adj" fmla="val 5357"/>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22" name="Text 20"/>
          <p:cNvSpPr/>
          <p:nvPr/>
        </p:nvSpPr>
        <p:spPr>
          <a:xfrm>
            <a:off x="1051560" y="4663440"/>
            <a:ext cx="5760720" cy="365760"/>
          </a:xfrm>
          <a:prstGeom prst="rect">
            <a:avLst/>
          </a:prstGeom>
          <a:noFill/>
          <a:ln/>
        </p:spPr>
        <p:txBody>
          <a:bodyPr wrap="square" lIns="0" tIns="0" rIns="0" bIns="0" rtlCol="0" anchor="ctr"/>
          <a:lstStyle/>
          <a:p>
            <a:pPr indent="0" marL="0">
              <a:buNone/>
            </a:pPr>
            <a:r>
              <a:rPr lang="en-US" sz="1300" dirty="0">
                <a:solidFill>
                  <a:srgbClr val="B6AD90"/>
                </a:solidFill>
                <a:latin typeface="Calibri" pitchFamily="34" charset="0"/>
                <a:ea typeface="Calibri" pitchFamily="34" charset="-122"/>
                <a:cs typeface="Calibri" pitchFamily="34" charset="-120"/>
              </a:rPr>
              <a:t>The brief was “build a wedding website”.</a:t>
            </a:r>
            <a:endParaRPr lang="en-US" sz="1300" dirty="0"/>
          </a:p>
        </p:txBody>
      </p:sp>
      <p:sp>
        <p:nvSpPr>
          <p:cNvPr id="23" name="Text 21"/>
          <p:cNvSpPr/>
          <p:nvPr/>
        </p:nvSpPr>
        <p:spPr>
          <a:xfrm>
            <a:off x="1051560" y="5047488"/>
            <a:ext cx="8138160" cy="694944"/>
          </a:xfrm>
          <a:prstGeom prst="rect">
            <a:avLst/>
          </a:prstGeom>
          <a:noFill/>
          <a:ln/>
        </p:spPr>
        <p:txBody>
          <a:bodyPr wrap="square" lIns="0" tIns="0" rIns="0" bIns="0" rtlCol="0" anchor="ctr"/>
          <a:lstStyle/>
          <a:p>
            <a:pPr indent="0" marL="0">
              <a:lnSpc>
                <a:spcPct val="98000"/>
              </a:lnSpc>
              <a:buNone/>
            </a:pPr>
            <a:r>
              <a:rPr lang="en-US" sz="2000" b="1" dirty="0">
                <a:solidFill>
                  <a:srgbClr val="F5F0E2"/>
                </a:solidFill>
                <a:latin typeface="Cambria" pitchFamily="34" charset="0"/>
                <a:ea typeface="Cambria" pitchFamily="34" charset="-122"/>
                <a:cs typeface="Cambria" pitchFamily="34" charset="-120"/>
              </a:rPr>
              <a:t>What the users actually needed was an operating system for multi-day events.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02 · THE PROBLEM</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A five-day celebration still runs on</a:t>
            </a:r>
            <a:endParaRPr lang="en-US" sz="3000" dirty="0"/>
          </a:p>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spreadsheets, phone calls and memory.</a:t>
            </a:r>
            <a:endParaRPr lang="en-US" sz="3000" dirty="0"/>
          </a:p>
        </p:txBody>
      </p:sp>
      <p:sp>
        <p:nvSpPr>
          <p:cNvPr id="4" name="Shape 2"/>
          <p:cNvSpPr/>
          <p:nvPr/>
        </p:nvSpPr>
        <p:spPr>
          <a:xfrm>
            <a:off x="685800" y="2194560"/>
            <a:ext cx="310896" cy="310896"/>
          </a:xfrm>
          <a:prstGeom prst="ellipse">
            <a:avLst/>
          </a:prstGeom>
          <a:solidFill>
            <a:srgbClr val="7F4F24"/>
          </a:solidFill>
          <a:ln w="12700">
            <a:solidFill>
              <a:srgbClr val="7F4F24"/>
            </a:solidFill>
            <a:prstDash val="solid"/>
          </a:ln>
        </p:spPr>
      </p:sp>
      <p:sp>
        <p:nvSpPr>
          <p:cNvPr id="5" name="Text 3"/>
          <p:cNvSpPr/>
          <p:nvPr/>
        </p:nvSpPr>
        <p:spPr>
          <a:xfrm>
            <a:off x="685800" y="2194560"/>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1133856" y="2157984"/>
            <a:ext cx="4114800" cy="274320"/>
          </a:xfrm>
          <a:prstGeom prst="rect">
            <a:avLst/>
          </a:prstGeom>
          <a:noFill/>
          <a:ln/>
        </p:spPr>
        <p:txBody>
          <a:bodyPr wrap="square" lIns="0" tIns="0" rIns="0" bIns="0" rtlCol="0" anchor="ctr"/>
          <a:lstStyle/>
          <a:p>
            <a:pPr indent="0" marL="0">
              <a:buNone/>
            </a:pPr>
            <a:r>
              <a:rPr lang="en-US" sz="1400" b="1" dirty="0">
                <a:solidFill>
                  <a:srgbClr val="333D29"/>
                </a:solidFill>
                <a:latin typeface="Calibri" pitchFamily="34" charset="0"/>
                <a:ea typeface="Calibri" pitchFamily="34" charset="-122"/>
                <a:cs typeface="Calibri" pitchFamily="34" charset="-120"/>
              </a:rPr>
              <a:t>Nothing is connected</a:t>
            </a:r>
            <a:endParaRPr lang="en-US" sz="1400" dirty="0"/>
          </a:p>
        </p:txBody>
      </p:sp>
      <p:sp>
        <p:nvSpPr>
          <p:cNvPr id="7" name="Text 5"/>
          <p:cNvSpPr/>
          <p:nvPr/>
        </p:nvSpPr>
        <p:spPr>
          <a:xfrm>
            <a:off x="1133856" y="2450592"/>
            <a:ext cx="4224528" cy="676656"/>
          </a:xfrm>
          <a:prstGeom prst="rect">
            <a:avLst/>
          </a:prstGeom>
          <a:noFill/>
          <a:ln/>
        </p:spPr>
        <p:txBody>
          <a:bodyPr wrap="square" lIns="0" tIns="0" rIns="0" bIns="0" rtlCol="0" anchor="ctr"/>
          <a:lstStyle/>
          <a:p>
            <a:pPr indent="0" marL="0">
              <a:lnSpc>
                <a:spcPct val="104000"/>
              </a:lnSpc>
              <a:buNone/>
            </a:pPr>
            <a:r>
              <a:rPr lang="en-US" sz="1150" dirty="0">
                <a:solidFill>
                  <a:srgbClr val="656D4A"/>
                </a:solidFill>
                <a:latin typeface="Calibri" pitchFamily="34" charset="0"/>
                <a:ea typeface="Calibri" pitchFamily="34" charset="-122"/>
                <a:cs typeface="Calibri" pitchFamily="34" charset="-120"/>
              </a:rPr>
              <a:t>The guest count lives in a sheet, the menu in a chat, the budget in someone's head. Change one and the rest silently go stale.</a:t>
            </a:r>
            <a:endParaRPr lang="en-US" sz="1150" dirty="0"/>
          </a:p>
        </p:txBody>
      </p:sp>
      <p:sp>
        <p:nvSpPr>
          <p:cNvPr id="8" name="Shape 6"/>
          <p:cNvSpPr/>
          <p:nvPr/>
        </p:nvSpPr>
        <p:spPr>
          <a:xfrm>
            <a:off x="685800" y="3264408"/>
            <a:ext cx="310896" cy="310896"/>
          </a:xfrm>
          <a:prstGeom prst="ellipse">
            <a:avLst/>
          </a:prstGeom>
          <a:solidFill>
            <a:srgbClr val="7F4F24"/>
          </a:solidFill>
          <a:ln w="12700">
            <a:solidFill>
              <a:srgbClr val="7F4F24"/>
            </a:solidFill>
            <a:prstDash val="solid"/>
          </a:ln>
        </p:spPr>
      </p:sp>
      <p:sp>
        <p:nvSpPr>
          <p:cNvPr id="9" name="Text 7"/>
          <p:cNvSpPr/>
          <p:nvPr/>
        </p:nvSpPr>
        <p:spPr>
          <a:xfrm>
            <a:off x="685800" y="3264408"/>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1133856" y="3227832"/>
            <a:ext cx="4114800" cy="274320"/>
          </a:xfrm>
          <a:prstGeom prst="rect">
            <a:avLst/>
          </a:prstGeom>
          <a:noFill/>
          <a:ln/>
        </p:spPr>
        <p:txBody>
          <a:bodyPr wrap="square" lIns="0" tIns="0" rIns="0" bIns="0" rtlCol="0" anchor="ctr"/>
          <a:lstStyle/>
          <a:p>
            <a:pPr indent="0" marL="0">
              <a:buNone/>
            </a:pPr>
            <a:r>
              <a:rPr lang="en-US" sz="1400" b="1" dirty="0">
                <a:solidFill>
                  <a:srgbClr val="333D29"/>
                </a:solidFill>
                <a:latin typeface="Calibri" pitchFamily="34" charset="0"/>
                <a:ea typeface="Calibri" pitchFamily="34" charset="-122"/>
                <a:cs typeface="Calibri" pitchFamily="34" charset="-120"/>
              </a:rPr>
              <a:t>Everything is free text</a:t>
            </a:r>
            <a:endParaRPr lang="en-US" sz="1400" dirty="0"/>
          </a:p>
        </p:txBody>
      </p:sp>
      <p:sp>
        <p:nvSpPr>
          <p:cNvPr id="11" name="Text 9"/>
          <p:cNvSpPr/>
          <p:nvPr/>
        </p:nvSpPr>
        <p:spPr>
          <a:xfrm>
            <a:off x="1133856" y="3520440"/>
            <a:ext cx="4224528" cy="676656"/>
          </a:xfrm>
          <a:prstGeom prst="rect">
            <a:avLst/>
          </a:prstGeom>
          <a:noFill/>
          <a:ln/>
        </p:spPr>
        <p:txBody>
          <a:bodyPr wrap="square" lIns="0" tIns="0" rIns="0" bIns="0" rtlCol="0" anchor="ctr"/>
          <a:lstStyle/>
          <a:p>
            <a:pPr indent="0" marL="0">
              <a:lnSpc>
                <a:spcPct val="104000"/>
              </a:lnSpc>
              <a:buNone/>
            </a:pPr>
            <a:r>
              <a:rPr lang="en-US" sz="1150" dirty="0">
                <a:solidFill>
                  <a:srgbClr val="656D4A"/>
                </a:solidFill>
                <a:latin typeface="Calibri" pitchFamily="34" charset="0"/>
                <a:ea typeface="Calibri" pitchFamily="34" charset="-122"/>
                <a:cs typeface="Calibri" pitchFamily="34" charset="-120"/>
              </a:rPr>
              <a:t>Vendor names are typed, not chosen. Two spellings of one caterer become two vendors, and no system can price either.</a:t>
            </a:r>
            <a:endParaRPr lang="en-US" sz="1150" dirty="0"/>
          </a:p>
        </p:txBody>
      </p:sp>
      <p:sp>
        <p:nvSpPr>
          <p:cNvPr id="12" name="Shape 10"/>
          <p:cNvSpPr/>
          <p:nvPr/>
        </p:nvSpPr>
        <p:spPr>
          <a:xfrm>
            <a:off x="685800" y="4334256"/>
            <a:ext cx="310896" cy="310896"/>
          </a:xfrm>
          <a:prstGeom prst="ellipse">
            <a:avLst/>
          </a:prstGeom>
          <a:solidFill>
            <a:srgbClr val="7F4F24"/>
          </a:solidFill>
          <a:ln w="12700">
            <a:solidFill>
              <a:srgbClr val="7F4F24"/>
            </a:solidFill>
            <a:prstDash val="solid"/>
          </a:ln>
        </p:spPr>
      </p:sp>
      <p:sp>
        <p:nvSpPr>
          <p:cNvPr id="13" name="Text 11"/>
          <p:cNvSpPr/>
          <p:nvPr/>
        </p:nvSpPr>
        <p:spPr>
          <a:xfrm>
            <a:off x="685800" y="4334256"/>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1133856" y="4297680"/>
            <a:ext cx="4114800" cy="274320"/>
          </a:xfrm>
          <a:prstGeom prst="rect">
            <a:avLst/>
          </a:prstGeom>
          <a:noFill/>
          <a:ln/>
        </p:spPr>
        <p:txBody>
          <a:bodyPr wrap="square" lIns="0" tIns="0" rIns="0" bIns="0" rtlCol="0" anchor="ctr"/>
          <a:lstStyle/>
          <a:p>
            <a:pPr indent="0" marL="0">
              <a:buNone/>
            </a:pPr>
            <a:r>
              <a:rPr lang="en-US" sz="1400" b="1" dirty="0">
                <a:solidFill>
                  <a:srgbClr val="333D29"/>
                </a:solidFill>
                <a:latin typeface="Calibri" pitchFamily="34" charset="0"/>
                <a:ea typeface="Calibri" pitchFamily="34" charset="-122"/>
                <a:cs typeface="Calibri" pitchFamily="34" charset="-120"/>
              </a:rPr>
              <a:t>Cost arrives last</a:t>
            </a:r>
            <a:endParaRPr lang="en-US" sz="1400" dirty="0"/>
          </a:p>
        </p:txBody>
      </p:sp>
      <p:sp>
        <p:nvSpPr>
          <p:cNvPr id="15" name="Text 13"/>
          <p:cNvSpPr/>
          <p:nvPr/>
        </p:nvSpPr>
        <p:spPr>
          <a:xfrm>
            <a:off x="1133856" y="4590288"/>
            <a:ext cx="4224528" cy="676656"/>
          </a:xfrm>
          <a:prstGeom prst="rect">
            <a:avLst/>
          </a:prstGeom>
          <a:noFill/>
          <a:ln/>
        </p:spPr>
        <p:txBody>
          <a:bodyPr wrap="square" lIns="0" tIns="0" rIns="0" bIns="0" rtlCol="0" anchor="ctr"/>
          <a:lstStyle/>
          <a:p>
            <a:pPr indent="0" marL="0">
              <a:lnSpc>
                <a:spcPct val="104000"/>
              </a:lnSpc>
              <a:buNone/>
            </a:pPr>
            <a:r>
              <a:rPr lang="en-US" sz="1150" dirty="0">
                <a:solidFill>
                  <a:srgbClr val="656D4A"/>
                </a:solidFill>
                <a:latin typeface="Calibri" pitchFamily="34" charset="0"/>
                <a:ea typeface="Calibri" pitchFamily="34" charset="-122"/>
                <a:cs typeface="Calibri" pitchFamily="34" charset="-120"/>
              </a:rPr>
              <a:t>Clients are asked for a budget before anyone knows what the event even contains — so the number is fiction from day one.</a:t>
            </a:r>
            <a:endParaRPr lang="en-US" sz="1150" dirty="0"/>
          </a:p>
        </p:txBody>
      </p:sp>
      <p:sp>
        <p:nvSpPr>
          <p:cNvPr id="16" name="Shape 14"/>
          <p:cNvSpPr/>
          <p:nvPr/>
        </p:nvSpPr>
        <p:spPr>
          <a:xfrm>
            <a:off x="685800" y="5404104"/>
            <a:ext cx="310896" cy="310896"/>
          </a:xfrm>
          <a:prstGeom prst="ellipse">
            <a:avLst/>
          </a:prstGeom>
          <a:solidFill>
            <a:srgbClr val="7F4F24"/>
          </a:solidFill>
          <a:ln w="12700">
            <a:solidFill>
              <a:srgbClr val="7F4F24"/>
            </a:solidFill>
            <a:prstDash val="solid"/>
          </a:ln>
        </p:spPr>
      </p:sp>
      <p:sp>
        <p:nvSpPr>
          <p:cNvPr id="17" name="Text 15"/>
          <p:cNvSpPr/>
          <p:nvPr/>
        </p:nvSpPr>
        <p:spPr>
          <a:xfrm>
            <a:off x="685800" y="5404104"/>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1133856" y="5367528"/>
            <a:ext cx="4114800" cy="274320"/>
          </a:xfrm>
          <a:prstGeom prst="rect">
            <a:avLst/>
          </a:prstGeom>
          <a:noFill/>
          <a:ln/>
        </p:spPr>
        <p:txBody>
          <a:bodyPr wrap="square" lIns="0" tIns="0" rIns="0" bIns="0" rtlCol="0" anchor="ctr"/>
          <a:lstStyle/>
          <a:p>
            <a:pPr indent="0" marL="0">
              <a:buNone/>
            </a:pPr>
            <a:r>
              <a:rPr lang="en-US" sz="1400" b="1" dirty="0">
                <a:solidFill>
                  <a:srgbClr val="333D29"/>
                </a:solidFill>
                <a:latin typeface="Calibri" pitchFamily="34" charset="0"/>
                <a:ea typeface="Calibri" pitchFamily="34" charset="-122"/>
                <a:cs typeface="Calibri" pitchFamily="34" charset="-120"/>
              </a:rPr>
              <a:t>No one can see readiness</a:t>
            </a:r>
            <a:endParaRPr lang="en-US" sz="1400" dirty="0"/>
          </a:p>
        </p:txBody>
      </p:sp>
      <p:sp>
        <p:nvSpPr>
          <p:cNvPr id="19" name="Text 17"/>
          <p:cNvSpPr/>
          <p:nvPr/>
        </p:nvSpPr>
        <p:spPr>
          <a:xfrm>
            <a:off x="1133856" y="5660136"/>
            <a:ext cx="4224528" cy="676656"/>
          </a:xfrm>
          <a:prstGeom prst="rect">
            <a:avLst/>
          </a:prstGeom>
          <a:noFill/>
          <a:ln/>
        </p:spPr>
        <p:txBody>
          <a:bodyPr wrap="square" lIns="0" tIns="0" rIns="0" bIns="0" rtlCol="0" anchor="ctr"/>
          <a:lstStyle/>
          <a:p>
            <a:pPr indent="0" marL="0">
              <a:lnSpc>
                <a:spcPct val="104000"/>
              </a:lnSpc>
              <a:buNone/>
            </a:pPr>
            <a:r>
              <a:rPr lang="en-US" sz="1150" dirty="0">
                <a:solidFill>
                  <a:srgbClr val="656D4A"/>
                </a:solidFill>
                <a:latin typeface="Calibri" pitchFamily="34" charset="0"/>
                <a:ea typeface="Calibri" pitchFamily="34" charset="-122"/>
                <a:cs typeface="Calibri" pitchFamily="34" charset="-120"/>
              </a:rPr>
              <a:t>“Are we ready for Day 3?” has no answer short of calling six people.</a:t>
            </a:r>
            <a:endParaRPr lang="en-US" sz="1150" dirty="0"/>
          </a:p>
        </p:txBody>
      </p:sp>
      <p:pic>
        <p:nvPicPr>
          <p:cNvPr id="20" name="Image 0" descr="/tmp/claude-0/-home-user-Elysian-Celebrations/b352a563-fe1e-5748-a5d2-f04c5510bd2a/scratchpad/deck/assets/motif-fragments.png">    </p:cNvPr>
          <p:cNvPicPr>
            <a:picLocks noChangeAspect="1"/>
          </p:cNvPicPr>
          <p:nvPr/>
        </p:nvPicPr>
        <p:blipFill>
          <a:blip r:embed="rId2"/>
          <a:stretch>
            <a:fillRect/>
          </a:stretch>
        </p:blipFill>
        <p:spPr>
          <a:xfrm>
            <a:off x="6053328" y="2103120"/>
            <a:ext cx="5449824" cy="3063240"/>
          </a:xfrm>
          <a:prstGeom prst="rect">
            <a:avLst/>
          </a:prstGeom>
        </p:spPr>
      </p:pic>
      <p:sp>
        <p:nvSpPr>
          <p:cNvPr id="21" name="Shape 18"/>
          <p:cNvSpPr/>
          <p:nvPr/>
        </p:nvSpPr>
        <p:spPr>
          <a:xfrm>
            <a:off x="6053328" y="5449824"/>
            <a:ext cx="5449824" cy="804672"/>
          </a:xfrm>
          <a:prstGeom prst="roundRect">
            <a:avLst>
              <a:gd name="adj" fmla="val 11364"/>
            </a:avLst>
          </a:prstGeom>
          <a:solidFill>
            <a:srgbClr val="EBE3CE"/>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2" name="Text 19"/>
          <p:cNvSpPr/>
          <p:nvPr/>
        </p:nvSpPr>
        <p:spPr>
          <a:xfrm>
            <a:off x="6327648" y="5522976"/>
            <a:ext cx="4901184" cy="658368"/>
          </a:xfrm>
          <a:prstGeom prst="rect">
            <a:avLst/>
          </a:prstGeom>
          <a:noFill/>
          <a:ln/>
        </p:spPr>
        <p:txBody>
          <a:bodyPr wrap="square" lIns="0" tIns="0" rIns="0" bIns="0" rtlCol="0" anchor="ctr"/>
          <a:lstStyle/>
          <a:p>
            <a:pPr indent="0" marL="0">
              <a:buNone/>
            </a:pPr>
            <a:r>
              <a:rPr lang="en-US" sz="1200" i="1" dirty="0">
                <a:solidFill>
                  <a:srgbClr val="333D29"/>
                </a:solidFill>
                <a:latin typeface="Calibri" pitchFamily="34" charset="0"/>
                <a:ea typeface="Calibri" pitchFamily="34" charset="-122"/>
                <a:cs typeface="Calibri" pitchFamily="34" charset="-120"/>
              </a:rPr>
              <a:t>Six tools that never speak to each other — and one client expected to be the integration layer.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A68A64"/>
                </a:solidFill>
                <a:latin typeface="Calibri" pitchFamily="34" charset="0"/>
                <a:ea typeface="Calibri" pitchFamily="34" charset="-122"/>
                <a:cs typeface="Calibri" pitchFamily="34" charset="-120"/>
              </a:rPr>
              <a:t>03 · PRODUCT THESIS</a:t>
            </a:r>
            <a:endParaRPr lang="en-US" sz="1050" dirty="0"/>
          </a:p>
        </p:txBody>
      </p:sp>
      <p:sp>
        <p:nvSpPr>
          <p:cNvPr id="3" name="Text 1"/>
          <p:cNvSpPr/>
          <p:nvPr/>
        </p:nvSpPr>
        <p:spPr>
          <a:xfrm>
            <a:off x="777240" y="1298448"/>
            <a:ext cx="7680960" cy="1920240"/>
          </a:xfrm>
          <a:prstGeom prst="rect">
            <a:avLst/>
          </a:prstGeom>
          <a:noFill/>
          <a:ln/>
        </p:spPr>
        <p:txBody>
          <a:bodyPr wrap="square" lIns="0" tIns="0" rIns="0" bIns="0" rtlCol="0" anchor="ctr"/>
          <a:lstStyle/>
          <a:p>
            <a:pPr indent="0" marL="0">
              <a:lnSpc>
                <a:spcPct val="100000"/>
              </a:lnSpc>
              <a:buNone/>
            </a:pPr>
            <a:r>
              <a:rPr lang="en-US" sz="4400" b="1" dirty="0">
                <a:solidFill>
                  <a:srgbClr val="F5F0E2"/>
                </a:solidFill>
                <a:latin typeface="Cambria" pitchFamily="34" charset="0"/>
                <a:ea typeface="Cambria" pitchFamily="34" charset="-122"/>
                <a:cs typeface="Cambria" pitchFamily="34" charset="-120"/>
              </a:rPr>
              <a:t>Tap first.</a:t>
            </a:r>
            <a:endParaRPr lang="en-US" sz="4400" dirty="0"/>
          </a:p>
          <a:p>
            <a:pPr indent="0" marL="0">
              <a:lnSpc>
                <a:spcPct val="100000"/>
              </a:lnSpc>
              <a:buNone/>
            </a:pPr>
            <a:r>
              <a:rPr lang="en-US" sz="4400" b="1" dirty="0">
                <a:solidFill>
                  <a:srgbClr val="F5F0E2"/>
                </a:solidFill>
                <a:latin typeface="Cambria" pitchFamily="34" charset="0"/>
                <a:ea typeface="Cambria" pitchFamily="34" charset="-122"/>
                <a:cs typeface="Cambria" pitchFamily="34" charset="-120"/>
              </a:rPr>
              <a:t>Type only when you must.</a:t>
            </a:r>
            <a:endParaRPr lang="en-US" sz="4400" dirty="0"/>
          </a:p>
        </p:txBody>
      </p:sp>
      <p:sp>
        <p:nvSpPr>
          <p:cNvPr id="4" name="Text 2"/>
          <p:cNvSpPr/>
          <p:nvPr/>
        </p:nvSpPr>
        <p:spPr>
          <a:xfrm>
            <a:off x="777240" y="3255264"/>
            <a:ext cx="7223760" cy="731520"/>
          </a:xfrm>
          <a:prstGeom prst="rect">
            <a:avLst/>
          </a:prstGeom>
          <a:noFill/>
          <a:ln/>
        </p:spPr>
        <p:txBody>
          <a:bodyPr wrap="square" lIns="0" tIns="0" rIns="0" bIns="0" rtlCol="0" anchor="ctr"/>
          <a:lstStyle/>
          <a:p>
            <a:pPr indent="0" marL="0">
              <a:lnSpc>
                <a:spcPct val="106000"/>
              </a:lnSpc>
              <a:buNone/>
            </a:pPr>
            <a:r>
              <a:rPr lang="en-US" sz="1500" i="1" dirty="0">
                <a:solidFill>
                  <a:srgbClr val="B6AD90"/>
                </a:solidFill>
                <a:latin typeface="Calibri" pitchFamily="34" charset="0"/>
                <a:ea typeface="Calibri" pitchFamily="34" charset="-122"/>
                <a:cs typeface="Calibri" pitchFamily="34" charset="-120"/>
              </a:rPr>
              <a:t>Every free-text field is a place the system stops understanding the user. So I removed them wherever a real catalogue could take their place.</a:t>
            </a:r>
            <a:endParaRPr lang="en-US" sz="1500" dirty="0"/>
          </a:p>
        </p:txBody>
      </p:sp>
      <p:sp>
        <p:nvSpPr>
          <p:cNvPr id="5" name="Shape 3"/>
          <p:cNvSpPr/>
          <p:nvPr/>
        </p:nvSpPr>
        <p:spPr>
          <a:xfrm>
            <a:off x="685800" y="4315968"/>
            <a:ext cx="3332074" cy="1883664"/>
          </a:xfrm>
          <a:prstGeom prst="roundRect">
            <a:avLst>
              <a:gd name="adj" fmla="val 4854"/>
            </a:avLst>
          </a:prstGeom>
          <a:solidFill>
            <a:srgbClr val="2B331F"/>
          </a:solidFill>
          <a:ln w="12700">
            <a:solidFill>
              <a:srgbClr val="4A5138"/>
            </a:solidFill>
            <a:prstDash val="solid"/>
          </a:ln>
        </p:spPr>
      </p:sp>
      <p:sp>
        <p:nvSpPr>
          <p:cNvPr id="6" name="Shape 4"/>
          <p:cNvSpPr/>
          <p:nvPr/>
        </p:nvSpPr>
        <p:spPr>
          <a:xfrm>
            <a:off x="941832" y="4553712"/>
            <a:ext cx="329184" cy="329184"/>
          </a:xfrm>
          <a:prstGeom prst="ellipse">
            <a:avLst/>
          </a:prstGeom>
          <a:solidFill>
            <a:srgbClr val="A68A64"/>
          </a:solidFill>
          <a:ln w="12700">
            <a:solidFill>
              <a:srgbClr val="A68A64"/>
            </a:solidFill>
            <a:prstDash val="solid"/>
          </a:ln>
        </p:spPr>
      </p:sp>
      <p:sp>
        <p:nvSpPr>
          <p:cNvPr id="7" name="Text 5"/>
          <p:cNvSpPr/>
          <p:nvPr/>
        </p:nvSpPr>
        <p:spPr>
          <a:xfrm>
            <a:off x="941832" y="4553712"/>
            <a:ext cx="329184" cy="329184"/>
          </a:xfrm>
          <a:prstGeom prst="rect">
            <a:avLst/>
          </a:prstGeom>
          <a:noFill/>
          <a:ln/>
        </p:spPr>
        <p:txBody>
          <a:bodyPr wrap="square" lIns="0" tIns="0" rIns="0" bIns="0" rtlCol="0" anchor="ctr"/>
          <a:lstStyle/>
          <a:p>
            <a:pPr algn="ctr" indent="0" marL="0">
              <a:buNone/>
            </a:pPr>
            <a:r>
              <a:rPr lang="en-US" sz="1200" b="1" dirty="0">
                <a:solidFill>
                  <a:srgbClr val="333D29"/>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44168" y="4480560"/>
            <a:ext cx="2417674" cy="475488"/>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Curated over blank</a:t>
            </a:r>
            <a:endParaRPr lang="en-US" sz="1300" dirty="0"/>
          </a:p>
        </p:txBody>
      </p:sp>
      <p:sp>
        <p:nvSpPr>
          <p:cNvPr id="9" name="Text 7"/>
          <p:cNvSpPr/>
          <p:nvPr/>
        </p:nvSpPr>
        <p:spPr>
          <a:xfrm>
            <a:off x="941832" y="5029200"/>
            <a:ext cx="2820010" cy="1005840"/>
          </a:xfrm>
          <a:prstGeom prst="rect">
            <a:avLst/>
          </a:prstGeom>
          <a:noFill/>
          <a:ln/>
        </p:spPr>
        <p:txBody>
          <a:bodyPr wrap="square" lIns="0" tIns="0" rIns="0" bIns="0" rtlCol="0" anchor="ctr"/>
          <a:lstStyle/>
          <a:p>
            <a:pPr indent="0" marL="0">
              <a:lnSpc>
                <a:spcPct val="106000"/>
              </a:lnSpc>
              <a:buNone/>
            </a:pPr>
            <a:r>
              <a:rPr lang="en-US" sz="1100" dirty="0">
                <a:solidFill>
                  <a:srgbClr val="BFC2AC"/>
                </a:solidFill>
                <a:latin typeface="Calibri" pitchFamily="34" charset="0"/>
                <a:ea typeface="Calibri" pitchFamily="34" charset="-122"/>
                <a:cs typeface="Calibri" pitchFamily="34" charset="-120"/>
              </a:rPr>
              <a:t>Event types, time blocks and requirement categories are presets. The user recognises, they don't recall.</a:t>
            </a:r>
            <a:endParaRPr lang="en-US" sz="1100" dirty="0"/>
          </a:p>
        </p:txBody>
      </p:sp>
      <p:sp>
        <p:nvSpPr>
          <p:cNvPr id="10" name="Shape 8"/>
          <p:cNvSpPr/>
          <p:nvPr/>
        </p:nvSpPr>
        <p:spPr>
          <a:xfrm>
            <a:off x="4429354" y="4315968"/>
            <a:ext cx="3332074" cy="1883664"/>
          </a:xfrm>
          <a:prstGeom prst="roundRect">
            <a:avLst>
              <a:gd name="adj" fmla="val 4854"/>
            </a:avLst>
          </a:prstGeom>
          <a:solidFill>
            <a:srgbClr val="2B331F"/>
          </a:solidFill>
          <a:ln w="12700">
            <a:solidFill>
              <a:srgbClr val="4A5138"/>
            </a:solidFill>
            <a:prstDash val="solid"/>
          </a:ln>
        </p:spPr>
      </p:sp>
      <p:sp>
        <p:nvSpPr>
          <p:cNvPr id="11" name="Shape 9"/>
          <p:cNvSpPr/>
          <p:nvPr/>
        </p:nvSpPr>
        <p:spPr>
          <a:xfrm>
            <a:off x="4685386" y="4553712"/>
            <a:ext cx="329184" cy="329184"/>
          </a:xfrm>
          <a:prstGeom prst="ellipse">
            <a:avLst/>
          </a:prstGeom>
          <a:solidFill>
            <a:srgbClr val="A68A64"/>
          </a:solidFill>
          <a:ln w="12700">
            <a:solidFill>
              <a:srgbClr val="A68A64"/>
            </a:solidFill>
            <a:prstDash val="solid"/>
          </a:ln>
        </p:spPr>
      </p:sp>
      <p:sp>
        <p:nvSpPr>
          <p:cNvPr id="12" name="Text 10"/>
          <p:cNvSpPr/>
          <p:nvPr/>
        </p:nvSpPr>
        <p:spPr>
          <a:xfrm>
            <a:off x="4685386" y="4553712"/>
            <a:ext cx="329184" cy="329184"/>
          </a:xfrm>
          <a:prstGeom prst="rect">
            <a:avLst/>
          </a:prstGeom>
          <a:noFill/>
          <a:ln/>
        </p:spPr>
        <p:txBody>
          <a:bodyPr wrap="square" lIns="0" tIns="0" rIns="0" bIns="0" rtlCol="0" anchor="ctr"/>
          <a:lstStyle/>
          <a:p>
            <a:pPr algn="ctr" indent="0" marL="0">
              <a:buNone/>
            </a:pPr>
            <a:r>
              <a:rPr lang="en-US" sz="1200" b="1" dirty="0">
                <a:solidFill>
                  <a:srgbClr val="333D29"/>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5087722" y="4480560"/>
            <a:ext cx="2417674" cy="475488"/>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Vendors are chosen, never typed</a:t>
            </a:r>
            <a:endParaRPr lang="en-US" sz="1300" dirty="0"/>
          </a:p>
        </p:txBody>
      </p:sp>
      <p:sp>
        <p:nvSpPr>
          <p:cNvPr id="14" name="Text 12"/>
          <p:cNvSpPr/>
          <p:nvPr/>
        </p:nvSpPr>
        <p:spPr>
          <a:xfrm>
            <a:off x="4685386" y="5029200"/>
            <a:ext cx="2820010" cy="1005840"/>
          </a:xfrm>
          <a:prstGeom prst="rect">
            <a:avLst/>
          </a:prstGeom>
          <a:noFill/>
          <a:ln/>
        </p:spPr>
        <p:txBody>
          <a:bodyPr wrap="square" lIns="0" tIns="0" rIns="0" bIns="0" rtlCol="0" anchor="ctr"/>
          <a:lstStyle/>
          <a:p>
            <a:pPr indent="0" marL="0">
              <a:lnSpc>
                <a:spcPct val="106000"/>
              </a:lnSpc>
              <a:buNone/>
            </a:pPr>
            <a:r>
              <a:rPr lang="en-US" sz="1100" dirty="0">
                <a:solidFill>
                  <a:srgbClr val="BFC2AC"/>
                </a:solidFill>
                <a:latin typeface="Calibri" pitchFamily="34" charset="0"/>
                <a:ea typeface="Calibri" pitchFamily="34" charset="-122"/>
                <a:cs typeface="Calibri" pitchFamily="34" charset="-120"/>
              </a:rPr>
              <a:t>Selection happens inside the need it belongs to, from a real catalogue of what that vendor actually offers.</a:t>
            </a:r>
            <a:endParaRPr lang="en-US" sz="1100" dirty="0"/>
          </a:p>
        </p:txBody>
      </p:sp>
      <p:sp>
        <p:nvSpPr>
          <p:cNvPr id="15" name="Shape 13"/>
          <p:cNvSpPr/>
          <p:nvPr/>
        </p:nvSpPr>
        <p:spPr>
          <a:xfrm>
            <a:off x="8172907" y="4315968"/>
            <a:ext cx="3332074" cy="1883664"/>
          </a:xfrm>
          <a:prstGeom prst="roundRect">
            <a:avLst>
              <a:gd name="adj" fmla="val 4854"/>
            </a:avLst>
          </a:prstGeom>
          <a:solidFill>
            <a:srgbClr val="2B331F"/>
          </a:solidFill>
          <a:ln w="12700">
            <a:solidFill>
              <a:srgbClr val="4A5138"/>
            </a:solidFill>
            <a:prstDash val="solid"/>
          </a:ln>
        </p:spPr>
      </p:sp>
      <p:sp>
        <p:nvSpPr>
          <p:cNvPr id="16" name="Shape 14"/>
          <p:cNvSpPr/>
          <p:nvPr/>
        </p:nvSpPr>
        <p:spPr>
          <a:xfrm>
            <a:off x="8428939" y="4553712"/>
            <a:ext cx="329184" cy="329184"/>
          </a:xfrm>
          <a:prstGeom prst="ellipse">
            <a:avLst/>
          </a:prstGeom>
          <a:solidFill>
            <a:srgbClr val="A68A64"/>
          </a:solidFill>
          <a:ln w="12700">
            <a:solidFill>
              <a:srgbClr val="A68A64"/>
            </a:solidFill>
            <a:prstDash val="solid"/>
          </a:ln>
        </p:spPr>
      </p:sp>
      <p:sp>
        <p:nvSpPr>
          <p:cNvPr id="17" name="Text 15"/>
          <p:cNvSpPr/>
          <p:nvPr/>
        </p:nvSpPr>
        <p:spPr>
          <a:xfrm>
            <a:off x="8428939" y="4553712"/>
            <a:ext cx="329184" cy="329184"/>
          </a:xfrm>
          <a:prstGeom prst="rect">
            <a:avLst/>
          </a:prstGeom>
          <a:noFill/>
          <a:ln/>
        </p:spPr>
        <p:txBody>
          <a:bodyPr wrap="square" lIns="0" tIns="0" rIns="0" bIns="0" rtlCol="0" anchor="ctr"/>
          <a:lstStyle/>
          <a:p>
            <a:pPr algn="ctr" indent="0" marL="0">
              <a:buNone/>
            </a:pPr>
            <a:r>
              <a:rPr lang="en-US" sz="1200" b="1" dirty="0">
                <a:solidFill>
                  <a:srgbClr val="333D29"/>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8831275" y="4480560"/>
            <a:ext cx="2417674" cy="475488"/>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Estimates admit uncertainty</a:t>
            </a:r>
            <a:endParaRPr lang="en-US" sz="1300" dirty="0"/>
          </a:p>
        </p:txBody>
      </p:sp>
      <p:sp>
        <p:nvSpPr>
          <p:cNvPr id="19" name="Text 17"/>
          <p:cNvSpPr/>
          <p:nvPr/>
        </p:nvSpPr>
        <p:spPr>
          <a:xfrm>
            <a:off x="8428939" y="5029200"/>
            <a:ext cx="2820010" cy="1005840"/>
          </a:xfrm>
          <a:prstGeom prst="rect">
            <a:avLst/>
          </a:prstGeom>
          <a:noFill/>
          <a:ln/>
        </p:spPr>
        <p:txBody>
          <a:bodyPr wrap="square" lIns="0" tIns="0" rIns="0" bIns="0" rtlCol="0" anchor="ctr"/>
          <a:lstStyle/>
          <a:p>
            <a:pPr indent="0" marL="0">
              <a:lnSpc>
                <a:spcPct val="106000"/>
              </a:lnSpc>
              <a:buNone/>
            </a:pPr>
            <a:r>
              <a:rPr lang="en-US" sz="1100" dirty="0">
                <a:solidFill>
                  <a:srgbClr val="BFC2AC"/>
                </a:solidFill>
                <a:latin typeface="Calibri" pitchFamily="34" charset="0"/>
                <a:ea typeface="Calibri" pitchFamily="34" charset="-122"/>
                <a:cs typeface="Calibri" pitchFamily="34" charset="-120"/>
              </a:rPr>
              <a:t>Custom requests are quarantined as “manual pricing needed” instead of being silently guessed.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04 · THE MODEL</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One flow, three layers: define, map, finalize.</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Each layer only asks for what the previous one has already made knowable.</a:t>
            </a:r>
            <a:endParaRPr lang="en-US" sz="1350" dirty="0"/>
          </a:p>
        </p:txBody>
      </p:sp>
      <p:sp>
        <p:nvSpPr>
          <p:cNvPr id="5" name="Shape 3"/>
          <p:cNvSpPr/>
          <p:nvPr/>
        </p:nvSpPr>
        <p:spPr>
          <a:xfrm>
            <a:off x="685800" y="2139696"/>
            <a:ext cx="3332074" cy="3840480"/>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Shape 4"/>
          <p:cNvSpPr/>
          <p:nvPr/>
        </p:nvSpPr>
        <p:spPr>
          <a:xfrm>
            <a:off x="960120" y="2377440"/>
            <a:ext cx="402336" cy="402336"/>
          </a:xfrm>
          <a:prstGeom prst="ellipse">
            <a:avLst/>
          </a:prstGeom>
          <a:solidFill>
            <a:srgbClr val="7F4F24"/>
          </a:solidFill>
          <a:ln w="12700">
            <a:solidFill>
              <a:srgbClr val="7F4F24"/>
            </a:solidFill>
            <a:prstDash val="solid"/>
          </a:ln>
        </p:spPr>
      </p:sp>
      <p:sp>
        <p:nvSpPr>
          <p:cNvPr id="7" name="Text 5"/>
          <p:cNvSpPr/>
          <p:nvPr/>
        </p:nvSpPr>
        <p:spPr>
          <a:xfrm>
            <a:off x="960120" y="2377440"/>
            <a:ext cx="402336" cy="402336"/>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1472184" y="2432304"/>
            <a:ext cx="2271370" cy="292608"/>
          </a:xfrm>
          <a:prstGeom prst="rect">
            <a:avLst/>
          </a:prstGeom>
          <a:noFill/>
          <a:ln/>
        </p:spPr>
        <p:txBody>
          <a:bodyPr wrap="square" lIns="0" tIns="0" rIns="0" bIns="0" rtlCol="0" anchor="ctr"/>
          <a:lstStyle/>
          <a:p>
            <a:pPr indent="0" marL="0">
              <a:buNone/>
            </a:pPr>
            <a:r>
              <a:rPr lang="en-US" sz="1200" b="1" spc="200" kern="0" dirty="0">
                <a:solidFill>
                  <a:srgbClr val="7F4F24"/>
                </a:solidFill>
                <a:latin typeface="Calibri" pitchFamily="34" charset="0"/>
                <a:ea typeface="Calibri" pitchFamily="34" charset="-122"/>
                <a:cs typeface="Calibri" pitchFamily="34" charset="-120"/>
              </a:rPr>
              <a:t>DEFINITION</a:t>
            </a:r>
            <a:endParaRPr lang="en-US" sz="1200" dirty="0"/>
          </a:p>
        </p:txBody>
      </p:sp>
      <p:sp>
        <p:nvSpPr>
          <p:cNvPr id="9" name="Text 7"/>
          <p:cNvSpPr/>
          <p:nvPr/>
        </p:nvSpPr>
        <p:spPr>
          <a:xfrm>
            <a:off x="960120" y="2926080"/>
            <a:ext cx="2783434" cy="603504"/>
          </a:xfrm>
          <a:prstGeom prst="rect">
            <a:avLst/>
          </a:prstGeom>
          <a:noFill/>
          <a:ln/>
        </p:spPr>
        <p:txBody>
          <a:bodyPr wrap="square" lIns="0" tIns="0" rIns="0" bIns="0" rtlCol="0" anchor="ctr"/>
          <a:lstStyle/>
          <a:p>
            <a:pPr indent="0" marL="0">
              <a:lnSpc>
                <a:spcPct val="100000"/>
              </a:lnSpc>
              <a:buNone/>
            </a:pPr>
            <a:r>
              <a:rPr lang="en-US" sz="1600" b="1" dirty="0">
                <a:solidFill>
                  <a:srgbClr val="333D29"/>
                </a:solidFill>
                <a:latin typeface="Cambria" pitchFamily="34" charset="0"/>
                <a:ea typeface="Cambria" pitchFamily="34" charset="-122"/>
                <a:cs typeface="Cambria" pitchFamily="34" charset="-120"/>
              </a:rPr>
              <a:t>Shape the event before any form appears.</a:t>
            </a:r>
            <a:endParaRPr lang="en-US" sz="1600" dirty="0"/>
          </a:p>
        </p:txBody>
      </p:sp>
      <p:sp>
        <p:nvSpPr>
          <p:cNvPr id="10" name="Text 8"/>
          <p:cNvSpPr/>
          <p:nvPr/>
        </p:nvSpPr>
        <p:spPr>
          <a:xfrm>
            <a:off x="996696" y="3602736"/>
            <a:ext cx="2728570" cy="118872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Event type, number of days, dates</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Morning / afternoon / evening blocks</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Requirement needs per function</a:t>
            </a:r>
            <a:endParaRPr lang="en-US" sz="1100" dirty="0"/>
          </a:p>
        </p:txBody>
      </p:sp>
      <p:sp>
        <p:nvSpPr>
          <p:cNvPr id="11" name="Shape 9"/>
          <p:cNvSpPr/>
          <p:nvPr/>
        </p:nvSpPr>
        <p:spPr>
          <a:xfrm>
            <a:off x="960120" y="4974336"/>
            <a:ext cx="2783434" cy="822960"/>
          </a:xfrm>
          <a:prstGeom prst="roundRect">
            <a:avLst>
              <a:gd name="adj" fmla="val 7778"/>
            </a:avLst>
          </a:prstGeom>
          <a:solidFill>
            <a:srgbClr val="EBE3CE"/>
          </a:solidFill>
          <a:ln w="9525">
            <a:solidFill>
              <a:srgbClr val="EBE3CE"/>
            </a:solidFill>
            <a:prstDash val="solid"/>
          </a:ln>
        </p:spPr>
      </p:sp>
      <p:sp>
        <p:nvSpPr>
          <p:cNvPr id="12" name="Text 10"/>
          <p:cNvSpPr/>
          <p:nvPr/>
        </p:nvSpPr>
        <p:spPr>
          <a:xfrm>
            <a:off x="1088136" y="5029200"/>
            <a:ext cx="2527402" cy="713232"/>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No budget field here — Elysian estimates cost after the plan exists, not before.</a:t>
            </a:r>
            <a:endParaRPr lang="en-US" sz="1050" dirty="0"/>
          </a:p>
        </p:txBody>
      </p:sp>
      <p:sp>
        <p:nvSpPr>
          <p:cNvPr id="13" name="Shape 11"/>
          <p:cNvSpPr/>
          <p:nvPr/>
        </p:nvSpPr>
        <p:spPr>
          <a:xfrm rot="5400000">
            <a:off x="4136746" y="3913632"/>
            <a:ext cx="182880" cy="219456"/>
          </a:xfrm>
          <a:prstGeom prst="triangle">
            <a:avLst/>
          </a:prstGeom>
          <a:solidFill>
            <a:srgbClr val="A68A64"/>
          </a:solidFill>
          <a:ln w="12700">
            <a:solidFill>
              <a:srgbClr val="A68A64"/>
            </a:solidFill>
            <a:prstDash val="solid"/>
          </a:ln>
        </p:spPr>
      </p:sp>
      <p:sp>
        <p:nvSpPr>
          <p:cNvPr id="14" name="Shape 12"/>
          <p:cNvSpPr/>
          <p:nvPr/>
        </p:nvSpPr>
        <p:spPr>
          <a:xfrm>
            <a:off x="4429354" y="2139696"/>
            <a:ext cx="3332074" cy="3840480"/>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5" name="Shape 13"/>
          <p:cNvSpPr/>
          <p:nvPr/>
        </p:nvSpPr>
        <p:spPr>
          <a:xfrm>
            <a:off x="4703674" y="2377440"/>
            <a:ext cx="402336" cy="402336"/>
          </a:xfrm>
          <a:prstGeom prst="ellipse">
            <a:avLst/>
          </a:prstGeom>
          <a:solidFill>
            <a:srgbClr val="7F4F24"/>
          </a:solidFill>
          <a:ln w="12700">
            <a:solidFill>
              <a:srgbClr val="7F4F24"/>
            </a:solidFill>
            <a:prstDash val="solid"/>
          </a:ln>
        </p:spPr>
      </p:sp>
      <p:sp>
        <p:nvSpPr>
          <p:cNvPr id="16" name="Text 14"/>
          <p:cNvSpPr/>
          <p:nvPr/>
        </p:nvSpPr>
        <p:spPr>
          <a:xfrm>
            <a:off x="4703674" y="2377440"/>
            <a:ext cx="402336" cy="402336"/>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02</a:t>
            </a:r>
            <a:endParaRPr lang="en-US" sz="1300" dirty="0"/>
          </a:p>
        </p:txBody>
      </p:sp>
      <p:sp>
        <p:nvSpPr>
          <p:cNvPr id="17" name="Text 15"/>
          <p:cNvSpPr/>
          <p:nvPr/>
        </p:nvSpPr>
        <p:spPr>
          <a:xfrm>
            <a:off x="5215738" y="2432304"/>
            <a:ext cx="2271370" cy="292608"/>
          </a:xfrm>
          <a:prstGeom prst="rect">
            <a:avLst/>
          </a:prstGeom>
          <a:noFill/>
          <a:ln/>
        </p:spPr>
        <p:txBody>
          <a:bodyPr wrap="square" lIns="0" tIns="0" rIns="0" bIns="0" rtlCol="0" anchor="ctr"/>
          <a:lstStyle/>
          <a:p>
            <a:pPr indent="0" marL="0">
              <a:buNone/>
            </a:pPr>
            <a:r>
              <a:rPr lang="en-US" sz="1200" b="1" spc="200" kern="0" dirty="0">
                <a:solidFill>
                  <a:srgbClr val="7F4F24"/>
                </a:solidFill>
                <a:latin typeface="Calibri" pitchFamily="34" charset="0"/>
                <a:ea typeface="Calibri" pitchFamily="34" charset="-122"/>
                <a:cs typeface="Calibri" pitchFamily="34" charset="-120"/>
              </a:rPr>
              <a:t>FLOW MAP</a:t>
            </a:r>
            <a:endParaRPr lang="en-US" sz="1200" dirty="0"/>
          </a:p>
        </p:txBody>
      </p:sp>
      <p:sp>
        <p:nvSpPr>
          <p:cNvPr id="18" name="Text 16"/>
          <p:cNvSpPr/>
          <p:nvPr/>
        </p:nvSpPr>
        <p:spPr>
          <a:xfrm>
            <a:off x="4703674" y="2926080"/>
            <a:ext cx="2783434" cy="603504"/>
          </a:xfrm>
          <a:prstGeom prst="rect">
            <a:avLst/>
          </a:prstGeom>
          <a:noFill/>
          <a:ln/>
        </p:spPr>
        <p:txBody>
          <a:bodyPr wrap="square" lIns="0" tIns="0" rIns="0" bIns="0" rtlCol="0" anchor="ctr"/>
          <a:lstStyle/>
          <a:p>
            <a:pPr indent="0" marL="0">
              <a:lnSpc>
                <a:spcPct val="100000"/>
              </a:lnSpc>
              <a:buNone/>
            </a:pPr>
            <a:r>
              <a:rPr lang="en-US" sz="1600" b="1" dirty="0">
                <a:solidFill>
                  <a:srgbClr val="333D29"/>
                </a:solidFill>
                <a:latin typeface="Cambria" pitchFamily="34" charset="0"/>
                <a:ea typeface="Cambria" pitchFamily="34" charset="-122"/>
                <a:cs typeface="Cambria" pitchFamily="34" charset="-120"/>
              </a:rPr>
              <a:t>Edit one scoped part of the event at a time.</a:t>
            </a:r>
            <a:endParaRPr lang="en-US" sz="1600" dirty="0"/>
          </a:p>
        </p:txBody>
      </p:sp>
      <p:sp>
        <p:nvSpPr>
          <p:cNvPr id="19" name="Text 17"/>
          <p:cNvSpPr/>
          <p:nvPr/>
        </p:nvSpPr>
        <p:spPr>
          <a:xfrm>
            <a:off x="4740250" y="3602736"/>
            <a:ext cx="2728570" cy="118872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Event hub → days → functions → steps</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Venue and vendor pickers per need</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Six nodes per page, so 14 days stay legible</a:t>
            </a:r>
            <a:endParaRPr lang="en-US" sz="1100" dirty="0"/>
          </a:p>
        </p:txBody>
      </p:sp>
      <p:sp>
        <p:nvSpPr>
          <p:cNvPr id="20" name="Shape 18"/>
          <p:cNvSpPr/>
          <p:nvPr/>
        </p:nvSpPr>
        <p:spPr>
          <a:xfrm>
            <a:off x="4703674" y="4974336"/>
            <a:ext cx="2783434" cy="822960"/>
          </a:xfrm>
          <a:prstGeom prst="roundRect">
            <a:avLst>
              <a:gd name="adj" fmla="val 7778"/>
            </a:avLst>
          </a:prstGeom>
          <a:solidFill>
            <a:srgbClr val="EBE3CE"/>
          </a:solidFill>
          <a:ln w="9525">
            <a:solidFill>
              <a:srgbClr val="EBE3CE"/>
            </a:solidFill>
            <a:prstDash val="solid"/>
          </a:ln>
        </p:spPr>
      </p:sp>
      <p:sp>
        <p:nvSpPr>
          <p:cNvPr id="21" name="Text 19"/>
          <p:cNvSpPr/>
          <p:nvPr/>
        </p:nvSpPr>
        <p:spPr>
          <a:xfrm>
            <a:off x="4831690" y="5029200"/>
            <a:ext cx="2527402" cy="713232"/>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The board is the product. Open a step, and exactly one editor mounts.</a:t>
            </a:r>
            <a:endParaRPr lang="en-US" sz="1050" dirty="0"/>
          </a:p>
        </p:txBody>
      </p:sp>
      <p:sp>
        <p:nvSpPr>
          <p:cNvPr id="22" name="Shape 20"/>
          <p:cNvSpPr/>
          <p:nvPr/>
        </p:nvSpPr>
        <p:spPr>
          <a:xfrm rot="5400000">
            <a:off x="7880299" y="3913632"/>
            <a:ext cx="182880" cy="219456"/>
          </a:xfrm>
          <a:prstGeom prst="triangle">
            <a:avLst/>
          </a:prstGeom>
          <a:solidFill>
            <a:srgbClr val="A68A64"/>
          </a:solidFill>
          <a:ln w="12700">
            <a:solidFill>
              <a:srgbClr val="A68A64"/>
            </a:solidFill>
            <a:prstDash val="solid"/>
          </a:ln>
        </p:spPr>
      </p:sp>
      <p:sp>
        <p:nvSpPr>
          <p:cNvPr id="23" name="Shape 21"/>
          <p:cNvSpPr/>
          <p:nvPr/>
        </p:nvSpPr>
        <p:spPr>
          <a:xfrm>
            <a:off x="8172907" y="2139696"/>
            <a:ext cx="3332074" cy="3840480"/>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4" name="Shape 22"/>
          <p:cNvSpPr/>
          <p:nvPr/>
        </p:nvSpPr>
        <p:spPr>
          <a:xfrm>
            <a:off x="8447227" y="2377440"/>
            <a:ext cx="402336" cy="402336"/>
          </a:xfrm>
          <a:prstGeom prst="ellipse">
            <a:avLst/>
          </a:prstGeom>
          <a:solidFill>
            <a:srgbClr val="7F4F24"/>
          </a:solidFill>
          <a:ln w="12700">
            <a:solidFill>
              <a:srgbClr val="7F4F24"/>
            </a:solidFill>
            <a:prstDash val="solid"/>
          </a:ln>
        </p:spPr>
      </p:sp>
      <p:sp>
        <p:nvSpPr>
          <p:cNvPr id="25" name="Text 23"/>
          <p:cNvSpPr/>
          <p:nvPr/>
        </p:nvSpPr>
        <p:spPr>
          <a:xfrm>
            <a:off x="8447227" y="2377440"/>
            <a:ext cx="402336" cy="402336"/>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03</a:t>
            </a:r>
            <a:endParaRPr lang="en-US" sz="1300" dirty="0"/>
          </a:p>
        </p:txBody>
      </p:sp>
      <p:sp>
        <p:nvSpPr>
          <p:cNvPr id="26" name="Text 24"/>
          <p:cNvSpPr/>
          <p:nvPr/>
        </p:nvSpPr>
        <p:spPr>
          <a:xfrm>
            <a:off x="8959291" y="2432304"/>
            <a:ext cx="2271370" cy="292608"/>
          </a:xfrm>
          <a:prstGeom prst="rect">
            <a:avLst/>
          </a:prstGeom>
          <a:noFill/>
          <a:ln/>
        </p:spPr>
        <p:txBody>
          <a:bodyPr wrap="square" lIns="0" tIns="0" rIns="0" bIns="0" rtlCol="0" anchor="ctr"/>
          <a:lstStyle/>
          <a:p>
            <a:pPr indent="0" marL="0">
              <a:buNone/>
            </a:pPr>
            <a:r>
              <a:rPr lang="en-US" sz="1200" b="1" spc="200" kern="0" dirty="0">
                <a:solidFill>
                  <a:srgbClr val="7F4F24"/>
                </a:solidFill>
                <a:latin typeface="Calibri" pitchFamily="34" charset="0"/>
                <a:ea typeface="Calibri" pitchFamily="34" charset="-122"/>
                <a:cs typeface="Calibri" pitchFamily="34" charset="-120"/>
              </a:rPr>
              <a:t>FINALIZATION</a:t>
            </a:r>
            <a:endParaRPr lang="en-US" sz="1200" dirty="0"/>
          </a:p>
        </p:txBody>
      </p:sp>
      <p:sp>
        <p:nvSpPr>
          <p:cNvPr id="27" name="Text 25"/>
          <p:cNvSpPr/>
          <p:nvPr/>
        </p:nvSpPr>
        <p:spPr>
          <a:xfrm>
            <a:off x="8447227" y="2926080"/>
            <a:ext cx="2783434" cy="603504"/>
          </a:xfrm>
          <a:prstGeom prst="rect">
            <a:avLst/>
          </a:prstGeom>
          <a:noFill/>
          <a:ln/>
        </p:spPr>
        <p:txBody>
          <a:bodyPr wrap="square" lIns="0" tIns="0" rIns="0" bIns="0" rtlCol="0" anchor="ctr"/>
          <a:lstStyle/>
          <a:p>
            <a:pPr indent="0" marL="0">
              <a:lnSpc>
                <a:spcPct val="100000"/>
              </a:lnSpc>
              <a:buNone/>
            </a:pPr>
            <a:r>
              <a:rPr lang="en-US" sz="1600" b="1" dirty="0">
                <a:solidFill>
                  <a:srgbClr val="333D29"/>
                </a:solidFill>
                <a:latin typeface="Cambria" pitchFamily="34" charset="0"/>
                <a:ea typeface="Cambria" pitchFamily="34" charset="-122"/>
                <a:cs typeface="Cambria" pitchFamily="34" charset="-120"/>
              </a:rPr>
              <a:t>Expose the gaps instead of summarising them.</a:t>
            </a:r>
            <a:endParaRPr lang="en-US" sz="1600" dirty="0"/>
          </a:p>
        </p:txBody>
      </p:sp>
      <p:sp>
        <p:nvSpPr>
          <p:cNvPr id="28" name="Text 26"/>
          <p:cNvSpPr/>
          <p:nvPr/>
        </p:nvSpPr>
        <p:spPr>
          <a:xfrm>
            <a:off x="8483803" y="3602736"/>
            <a:ext cx="2728570" cy="1188720"/>
          </a:xfrm>
          <a:prstGeom prst="rect">
            <a:avLst/>
          </a:prstGeom>
          <a:noFill/>
          <a:ln/>
        </p:spPr>
        <p:txBody>
          <a:bodyPr wrap="square" lIns="0" tIns="0" rIns="0" bIns="0" rtlCol="0" anchor="ctr"/>
          <a:lstStyle/>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Definition, requirements, vendors</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Budget, guests, hotels</a:t>
            </a:r>
            <a:endParaRPr lang="en-US" sz="1100" dirty="0"/>
          </a:p>
          <a:p>
            <a:pPr marL="342900" indent="-342900">
              <a:lnSpc>
                <a:spcPct val="102000"/>
              </a:lnSpc>
              <a:spcAft>
                <a:spcPts val="600"/>
              </a:spcAft>
              <a:buSzPct val="100000"/>
              <a:buChar char="•"/>
            </a:pPr>
            <a:r>
              <a:rPr lang="en-US" sz="1100" dirty="0">
                <a:solidFill>
                  <a:srgbClr val="656D4A"/>
                </a:solidFill>
                <a:latin typeface="Calibri" pitchFamily="34" charset="0"/>
                <a:ea typeface="Calibri" pitchFamily="34" charset="-122"/>
                <a:cs typeface="Calibri" pitchFamily="34" charset="-120"/>
              </a:rPr>
              <a:t>Run-of-show readiness</a:t>
            </a:r>
            <a:endParaRPr lang="en-US" sz="1100" dirty="0"/>
          </a:p>
        </p:txBody>
      </p:sp>
      <p:sp>
        <p:nvSpPr>
          <p:cNvPr id="29" name="Shape 27"/>
          <p:cNvSpPr/>
          <p:nvPr/>
        </p:nvSpPr>
        <p:spPr>
          <a:xfrm>
            <a:off x="8447227" y="4974336"/>
            <a:ext cx="2783434" cy="822960"/>
          </a:xfrm>
          <a:prstGeom prst="roundRect">
            <a:avLst>
              <a:gd name="adj" fmla="val 7778"/>
            </a:avLst>
          </a:prstGeom>
          <a:solidFill>
            <a:srgbClr val="EBE3CE"/>
          </a:solidFill>
          <a:ln w="9525">
            <a:solidFill>
              <a:srgbClr val="EBE3CE"/>
            </a:solidFill>
            <a:prstDash val="solid"/>
          </a:ln>
        </p:spPr>
      </p:sp>
      <p:sp>
        <p:nvSpPr>
          <p:cNvPr id="30" name="Text 28"/>
          <p:cNvSpPr/>
          <p:nvPr/>
        </p:nvSpPr>
        <p:spPr>
          <a:xfrm>
            <a:off x="8575243" y="5029200"/>
            <a:ext cx="2527402" cy="713232"/>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Every gap links back to the exact function that caused it.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05 · LAYER 2 IN DETAIL</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The flow map replaced the form.</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Drilling down narrows the scope — so the editor that finally opens is small enough to finish.</a:t>
            </a:r>
            <a:endParaRPr lang="en-US" sz="1350" dirty="0"/>
          </a:p>
        </p:txBody>
      </p:sp>
      <p:sp>
        <p:nvSpPr>
          <p:cNvPr id="5" name="Shape 3"/>
          <p:cNvSpPr/>
          <p:nvPr/>
        </p:nvSpPr>
        <p:spPr>
          <a:xfrm>
            <a:off x="685800" y="3346704"/>
            <a:ext cx="1755648" cy="1060704"/>
          </a:xfrm>
          <a:prstGeom prst="roundRect">
            <a:avLst>
              <a:gd name="adj" fmla="val 7759"/>
            </a:avLst>
          </a:prstGeom>
          <a:solidFill>
            <a:srgbClr val="7F4F24"/>
          </a:solidFill>
          <a:ln w="9525">
            <a:solidFill>
              <a:srgbClr val="7F4F24"/>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685800" y="3529584"/>
            <a:ext cx="1755648" cy="219456"/>
          </a:xfrm>
          <a:prstGeom prst="rect">
            <a:avLst/>
          </a:prstGeom>
          <a:noFill/>
          <a:ln/>
        </p:spPr>
        <p:txBody>
          <a:bodyPr wrap="square" lIns="0" tIns="0" rIns="0" bIns="0" rtlCol="0" anchor="ctr"/>
          <a:lstStyle/>
          <a:p>
            <a:pPr algn="ctr" indent="0" marL="0">
              <a:buNone/>
            </a:pPr>
            <a:r>
              <a:rPr lang="en-US" sz="900" b="1" spc="160" kern="0" dirty="0">
                <a:solidFill>
                  <a:srgbClr val="B6AD90"/>
                </a:solidFill>
                <a:latin typeface="Calibri" pitchFamily="34" charset="0"/>
                <a:ea typeface="Calibri" pitchFamily="34" charset="-122"/>
                <a:cs typeface="Calibri" pitchFamily="34" charset="-120"/>
              </a:rPr>
              <a:t>EVENT HUB</a:t>
            </a:r>
            <a:endParaRPr lang="en-US" sz="900" dirty="0"/>
          </a:p>
        </p:txBody>
      </p:sp>
      <p:sp>
        <p:nvSpPr>
          <p:cNvPr id="7" name="Text 5"/>
          <p:cNvSpPr/>
          <p:nvPr/>
        </p:nvSpPr>
        <p:spPr>
          <a:xfrm>
            <a:off x="685800" y="3749040"/>
            <a:ext cx="1755648" cy="512064"/>
          </a:xfrm>
          <a:prstGeom prst="rect">
            <a:avLst/>
          </a:prstGeom>
          <a:noFill/>
          <a:ln/>
        </p:spPr>
        <p:txBody>
          <a:bodyPr wrap="square" lIns="0" tIns="0" rIns="0" bIns="0" rtlCol="0" anchor="ctr"/>
          <a:lstStyle/>
          <a:p>
            <a:pPr algn="ctr" indent="0" marL="0">
              <a:lnSpc>
                <a:spcPct val="95000"/>
              </a:lnSpc>
              <a:buNone/>
            </a:pPr>
            <a:r>
              <a:rPr lang="en-US" sz="1250" b="1" dirty="0">
                <a:solidFill>
                  <a:srgbClr val="F5F0E2"/>
                </a:solidFill>
                <a:latin typeface="Calibri" pitchFamily="34" charset="0"/>
                <a:ea typeface="Calibri" pitchFamily="34" charset="-122"/>
                <a:cs typeface="Calibri" pitchFamily="34" charset="-120"/>
              </a:rPr>
              <a:t>Reception</a:t>
            </a:r>
            <a:endParaRPr lang="en-US" sz="1250" dirty="0"/>
          </a:p>
          <a:p>
            <a:pPr algn="ctr" indent="0" marL="0">
              <a:lnSpc>
                <a:spcPct val="95000"/>
              </a:lnSpc>
              <a:buNone/>
            </a:pPr>
            <a:r>
              <a:rPr lang="en-US" sz="1250" b="1" dirty="0">
                <a:solidFill>
                  <a:srgbClr val="F5F0E2"/>
                </a:solidFill>
                <a:latin typeface="Calibri" pitchFamily="34" charset="0"/>
                <a:ea typeface="Calibri" pitchFamily="34" charset="-122"/>
                <a:cs typeface="Calibri" pitchFamily="34" charset="-120"/>
              </a:rPr>
              <a:t>&amp; Sangeet</a:t>
            </a:r>
            <a:endParaRPr lang="en-US" sz="1250" dirty="0"/>
          </a:p>
        </p:txBody>
      </p:sp>
      <p:sp>
        <p:nvSpPr>
          <p:cNvPr id="8" name="Shape 6"/>
          <p:cNvSpPr/>
          <p:nvPr/>
        </p:nvSpPr>
        <p:spPr>
          <a:xfrm flipV="1">
            <a:off x="2441448" y="2633472"/>
            <a:ext cx="466344" cy="1243584"/>
          </a:xfrm>
          <a:prstGeom prst="line">
            <a:avLst/>
          </a:prstGeom>
          <a:noFill/>
          <a:ln w="12700">
            <a:solidFill>
              <a:srgbClr val="B6AD90"/>
            </a:solidFill>
            <a:prstDash val="solid"/>
            <a:tailEnd type="none"/>
          </a:ln>
        </p:spPr>
      </p:sp>
      <p:sp>
        <p:nvSpPr>
          <p:cNvPr id="9" name="Shape 7"/>
          <p:cNvSpPr/>
          <p:nvPr/>
        </p:nvSpPr>
        <p:spPr>
          <a:xfrm>
            <a:off x="2907792" y="2231136"/>
            <a:ext cx="2011680" cy="804672"/>
          </a:xfrm>
          <a:prstGeom prst="roundRect">
            <a:avLst>
              <a:gd name="adj" fmla="val 909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0" name="Text 8"/>
          <p:cNvSpPr/>
          <p:nvPr/>
        </p:nvSpPr>
        <p:spPr>
          <a:xfrm>
            <a:off x="3072384" y="2359152"/>
            <a:ext cx="1682496" cy="256032"/>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Day 1</a:t>
            </a:r>
            <a:endParaRPr lang="en-US" sz="1250" dirty="0"/>
          </a:p>
        </p:txBody>
      </p:sp>
      <p:sp>
        <p:nvSpPr>
          <p:cNvPr id="11" name="Text 9"/>
          <p:cNvSpPr/>
          <p:nvPr/>
        </p:nvSpPr>
        <p:spPr>
          <a:xfrm>
            <a:off x="3072384" y="2633472"/>
            <a:ext cx="1682496" cy="237744"/>
          </a:xfrm>
          <a:prstGeom prst="rect">
            <a:avLst/>
          </a:prstGeom>
          <a:noFill/>
          <a:ln/>
        </p:spPr>
        <p:txBody>
          <a:bodyPr wrap="square" lIns="0" tIns="0" rIns="0" bIns="0" rtlCol="0" anchor="ctr"/>
          <a:lstStyle/>
          <a:p>
            <a:pPr indent="0" marL="0">
              <a:buNone/>
            </a:pPr>
            <a:r>
              <a:rPr lang="en-US" sz="1000" dirty="0">
                <a:solidFill>
                  <a:srgbClr val="656D4A"/>
                </a:solidFill>
                <a:latin typeface="Calibri" pitchFamily="34" charset="0"/>
                <a:ea typeface="Calibri" pitchFamily="34" charset="-122"/>
                <a:cs typeface="Calibri" pitchFamily="34" charset="-120"/>
              </a:rPr>
              <a:t>14 Mar · Fri</a:t>
            </a:r>
            <a:endParaRPr lang="en-US" sz="1000" dirty="0"/>
          </a:p>
        </p:txBody>
      </p:sp>
      <p:sp>
        <p:nvSpPr>
          <p:cNvPr id="12" name="Shape 10"/>
          <p:cNvSpPr/>
          <p:nvPr/>
        </p:nvSpPr>
        <p:spPr>
          <a:xfrm flipV="1">
            <a:off x="2441448" y="3867912"/>
            <a:ext cx="466344" cy="9144"/>
          </a:xfrm>
          <a:prstGeom prst="line">
            <a:avLst/>
          </a:prstGeom>
          <a:noFill/>
          <a:ln w="25400">
            <a:solidFill>
              <a:srgbClr val="7F4F24"/>
            </a:solidFill>
            <a:prstDash val="solid"/>
            <a:tailEnd type="none"/>
          </a:ln>
        </p:spPr>
      </p:sp>
      <p:sp>
        <p:nvSpPr>
          <p:cNvPr id="13" name="Shape 11"/>
          <p:cNvSpPr/>
          <p:nvPr/>
        </p:nvSpPr>
        <p:spPr>
          <a:xfrm>
            <a:off x="2907792" y="3465576"/>
            <a:ext cx="2011680" cy="804672"/>
          </a:xfrm>
          <a:prstGeom prst="roundRect">
            <a:avLst>
              <a:gd name="adj" fmla="val 9091"/>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14" name="Text 12"/>
          <p:cNvSpPr/>
          <p:nvPr/>
        </p:nvSpPr>
        <p:spPr>
          <a:xfrm>
            <a:off x="3072384" y="3593592"/>
            <a:ext cx="1682496" cy="256032"/>
          </a:xfrm>
          <a:prstGeom prst="rect">
            <a:avLst/>
          </a:prstGeom>
          <a:noFill/>
          <a:ln/>
        </p:spPr>
        <p:txBody>
          <a:bodyPr wrap="square" lIns="0" tIns="0" rIns="0" bIns="0" rtlCol="0" anchor="ctr"/>
          <a:lstStyle/>
          <a:p>
            <a:pPr indent="0" marL="0">
              <a:buNone/>
            </a:pPr>
            <a:r>
              <a:rPr lang="en-US" sz="1250" b="1" dirty="0">
                <a:solidFill>
                  <a:srgbClr val="F5F0E2"/>
                </a:solidFill>
                <a:latin typeface="Calibri" pitchFamily="34" charset="0"/>
                <a:ea typeface="Calibri" pitchFamily="34" charset="-122"/>
                <a:cs typeface="Calibri" pitchFamily="34" charset="-120"/>
              </a:rPr>
              <a:t>Day 2</a:t>
            </a:r>
            <a:endParaRPr lang="en-US" sz="1250" dirty="0"/>
          </a:p>
        </p:txBody>
      </p:sp>
      <p:sp>
        <p:nvSpPr>
          <p:cNvPr id="15" name="Text 13"/>
          <p:cNvSpPr/>
          <p:nvPr/>
        </p:nvSpPr>
        <p:spPr>
          <a:xfrm>
            <a:off x="3072384" y="3867912"/>
            <a:ext cx="1682496" cy="237744"/>
          </a:xfrm>
          <a:prstGeom prst="rect">
            <a:avLst/>
          </a:prstGeom>
          <a:noFill/>
          <a:ln/>
        </p:spPr>
        <p:txBody>
          <a:bodyPr wrap="square" lIns="0" tIns="0" rIns="0" bIns="0" rtlCol="0" anchor="ctr"/>
          <a:lstStyle/>
          <a:p>
            <a:pPr indent="0" marL="0">
              <a:buNone/>
            </a:pPr>
            <a:r>
              <a:rPr lang="en-US" sz="1000" dirty="0">
                <a:solidFill>
                  <a:srgbClr val="B6AD90"/>
                </a:solidFill>
                <a:latin typeface="Calibri" pitchFamily="34" charset="0"/>
                <a:ea typeface="Calibri" pitchFamily="34" charset="-122"/>
                <a:cs typeface="Calibri" pitchFamily="34" charset="-120"/>
              </a:rPr>
              <a:t>15 Mar · Sat</a:t>
            </a:r>
            <a:endParaRPr lang="en-US" sz="1000" dirty="0"/>
          </a:p>
        </p:txBody>
      </p:sp>
      <p:sp>
        <p:nvSpPr>
          <p:cNvPr id="16" name="Shape 14"/>
          <p:cNvSpPr/>
          <p:nvPr/>
        </p:nvSpPr>
        <p:spPr>
          <a:xfrm>
            <a:off x="2441448" y="3877056"/>
            <a:ext cx="466344" cy="1225296"/>
          </a:xfrm>
          <a:prstGeom prst="line">
            <a:avLst/>
          </a:prstGeom>
          <a:noFill/>
          <a:ln w="12700">
            <a:solidFill>
              <a:srgbClr val="B6AD90"/>
            </a:solidFill>
            <a:prstDash val="solid"/>
            <a:tailEnd type="none"/>
          </a:ln>
        </p:spPr>
      </p:sp>
      <p:sp>
        <p:nvSpPr>
          <p:cNvPr id="17" name="Shape 15"/>
          <p:cNvSpPr/>
          <p:nvPr/>
        </p:nvSpPr>
        <p:spPr>
          <a:xfrm>
            <a:off x="2907792" y="4700016"/>
            <a:ext cx="2011680" cy="804672"/>
          </a:xfrm>
          <a:prstGeom prst="roundRect">
            <a:avLst>
              <a:gd name="adj" fmla="val 909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8" name="Text 16"/>
          <p:cNvSpPr/>
          <p:nvPr/>
        </p:nvSpPr>
        <p:spPr>
          <a:xfrm>
            <a:off x="3072384" y="4828032"/>
            <a:ext cx="1682496" cy="256032"/>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Day 3</a:t>
            </a:r>
            <a:endParaRPr lang="en-US" sz="1250" dirty="0"/>
          </a:p>
        </p:txBody>
      </p:sp>
      <p:sp>
        <p:nvSpPr>
          <p:cNvPr id="19" name="Text 17"/>
          <p:cNvSpPr/>
          <p:nvPr/>
        </p:nvSpPr>
        <p:spPr>
          <a:xfrm>
            <a:off x="3072384" y="5102352"/>
            <a:ext cx="1682496" cy="237744"/>
          </a:xfrm>
          <a:prstGeom prst="rect">
            <a:avLst/>
          </a:prstGeom>
          <a:noFill/>
          <a:ln/>
        </p:spPr>
        <p:txBody>
          <a:bodyPr wrap="square" lIns="0" tIns="0" rIns="0" bIns="0" rtlCol="0" anchor="ctr"/>
          <a:lstStyle/>
          <a:p>
            <a:pPr indent="0" marL="0">
              <a:buNone/>
            </a:pPr>
            <a:r>
              <a:rPr lang="en-US" sz="1000" dirty="0">
                <a:solidFill>
                  <a:srgbClr val="656D4A"/>
                </a:solidFill>
                <a:latin typeface="Calibri" pitchFamily="34" charset="0"/>
                <a:ea typeface="Calibri" pitchFamily="34" charset="-122"/>
                <a:cs typeface="Calibri" pitchFamily="34" charset="-120"/>
              </a:rPr>
              <a:t>16 Mar · Sun</a:t>
            </a:r>
            <a:endParaRPr lang="en-US" sz="1000" dirty="0"/>
          </a:p>
        </p:txBody>
      </p:sp>
      <p:sp>
        <p:nvSpPr>
          <p:cNvPr id="20" name="Shape 18"/>
          <p:cNvSpPr/>
          <p:nvPr/>
        </p:nvSpPr>
        <p:spPr>
          <a:xfrm flipV="1">
            <a:off x="4919472" y="2633472"/>
            <a:ext cx="512064" cy="1234440"/>
          </a:xfrm>
          <a:prstGeom prst="line">
            <a:avLst/>
          </a:prstGeom>
          <a:noFill/>
          <a:ln w="12700">
            <a:solidFill>
              <a:srgbClr val="B6AD90"/>
            </a:solidFill>
            <a:prstDash val="solid"/>
            <a:tailEnd type="none"/>
          </a:ln>
        </p:spPr>
      </p:sp>
      <p:sp>
        <p:nvSpPr>
          <p:cNvPr id="21" name="Shape 19"/>
          <p:cNvSpPr/>
          <p:nvPr/>
        </p:nvSpPr>
        <p:spPr>
          <a:xfrm>
            <a:off x="5431536" y="2231136"/>
            <a:ext cx="2487168" cy="804672"/>
          </a:xfrm>
          <a:prstGeom prst="roundRect">
            <a:avLst>
              <a:gd name="adj" fmla="val 909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2" name="Text 20"/>
          <p:cNvSpPr/>
          <p:nvPr/>
        </p:nvSpPr>
        <p:spPr>
          <a:xfrm>
            <a:off x="5614416" y="2350008"/>
            <a:ext cx="2121408" cy="256032"/>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Haldi</a:t>
            </a:r>
            <a:endParaRPr lang="en-US" sz="1250" dirty="0"/>
          </a:p>
        </p:txBody>
      </p:sp>
      <p:sp>
        <p:nvSpPr>
          <p:cNvPr id="23" name="Text 21"/>
          <p:cNvSpPr/>
          <p:nvPr/>
        </p:nvSpPr>
        <p:spPr>
          <a:xfrm>
            <a:off x="5614416" y="2633472"/>
            <a:ext cx="2157984" cy="237744"/>
          </a:xfrm>
          <a:prstGeom prst="rect">
            <a:avLst/>
          </a:prstGeom>
          <a:noFill/>
          <a:ln/>
        </p:spPr>
        <p:txBody>
          <a:bodyPr wrap="square" lIns="0" tIns="0" rIns="0" bIns="0" rtlCol="0" anchor="ctr"/>
          <a:lstStyle/>
          <a:p>
            <a:pPr indent="0" marL="0">
              <a:buNone/>
            </a:pPr>
            <a:r>
              <a:rPr lang="en-US" sz="950" dirty="0">
                <a:solidFill>
                  <a:srgbClr val="656D4A"/>
                </a:solidFill>
                <a:latin typeface="Calibri" pitchFamily="34" charset="0"/>
                <a:ea typeface="Calibri" pitchFamily="34" charset="-122"/>
                <a:cs typeface="Calibri" pitchFamily="34" charset="-120"/>
              </a:rPr>
              <a:t>10:00 · Garden Lawn · 120</a:t>
            </a:r>
            <a:endParaRPr lang="en-US" sz="950" dirty="0"/>
          </a:p>
        </p:txBody>
      </p:sp>
      <p:sp>
        <p:nvSpPr>
          <p:cNvPr id="24" name="Shape 22"/>
          <p:cNvSpPr/>
          <p:nvPr/>
        </p:nvSpPr>
        <p:spPr>
          <a:xfrm>
            <a:off x="4919472" y="3867912"/>
            <a:ext cx="512064" cy="0"/>
          </a:xfrm>
          <a:prstGeom prst="line">
            <a:avLst/>
          </a:prstGeom>
          <a:noFill/>
          <a:ln w="12700">
            <a:solidFill>
              <a:srgbClr val="B6AD90"/>
            </a:solidFill>
            <a:prstDash val="solid"/>
            <a:tailEnd type="none"/>
          </a:ln>
        </p:spPr>
      </p:sp>
      <p:sp>
        <p:nvSpPr>
          <p:cNvPr id="25" name="Shape 23"/>
          <p:cNvSpPr/>
          <p:nvPr/>
        </p:nvSpPr>
        <p:spPr>
          <a:xfrm>
            <a:off x="5431536" y="3465576"/>
            <a:ext cx="2487168" cy="804672"/>
          </a:xfrm>
          <a:prstGeom prst="roundRect">
            <a:avLst>
              <a:gd name="adj" fmla="val 909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6" name="Text 24"/>
          <p:cNvSpPr/>
          <p:nvPr/>
        </p:nvSpPr>
        <p:spPr>
          <a:xfrm>
            <a:off x="5614416" y="3584448"/>
            <a:ext cx="2121408" cy="256032"/>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Lunch</a:t>
            </a:r>
            <a:endParaRPr lang="en-US" sz="1250" dirty="0"/>
          </a:p>
        </p:txBody>
      </p:sp>
      <p:sp>
        <p:nvSpPr>
          <p:cNvPr id="27" name="Text 25"/>
          <p:cNvSpPr/>
          <p:nvPr/>
        </p:nvSpPr>
        <p:spPr>
          <a:xfrm>
            <a:off x="5614416" y="3867912"/>
            <a:ext cx="2157984" cy="237744"/>
          </a:xfrm>
          <a:prstGeom prst="rect">
            <a:avLst/>
          </a:prstGeom>
          <a:noFill/>
          <a:ln/>
        </p:spPr>
        <p:txBody>
          <a:bodyPr wrap="square" lIns="0" tIns="0" rIns="0" bIns="0" rtlCol="0" anchor="ctr"/>
          <a:lstStyle/>
          <a:p>
            <a:pPr indent="0" marL="0">
              <a:buNone/>
            </a:pPr>
            <a:r>
              <a:rPr lang="en-US" sz="950" dirty="0">
                <a:solidFill>
                  <a:srgbClr val="656D4A"/>
                </a:solidFill>
                <a:latin typeface="Calibri" pitchFamily="34" charset="0"/>
                <a:ea typeface="Calibri" pitchFamily="34" charset="-122"/>
                <a:cs typeface="Calibri" pitchFamily="34" charset="-120"/>
              </a:rPr>
              <a:t>13:00 · Banquet · 240</a:t>
            </a:r>
            <a:endParaRPr lang="en-US" sz="950" dirty="0"/>
          </a:p>
        </p:txBody>
      </p:sp>
      <p:sp>
        <p:nvSpPr>
          <p:cNvPr id="28" name="Shape 26"/>
          <p:cNvSpPr/>
          <p:nvPr/>
        </p:nvSpPr>
        <p:spPr>
          <a:xfrm>
            <a:off x="4919472" y="3867912"/>
            <a:ext cx="512064" cy="1234440"/>
          </a:xfrm>
          <a:prstGeom prst="line">
            <a:avLst/>
          </a:prstGeom>
          <a:noFill/>
          <a:ln w="25400">
            <a:solidFill>
              <a:srgbClr val="7F4F24"/>
            </a:solidFill>
            <a:prstDash val="solid"/>
            <a:tailEnd type="none"/>
          </a:ln>
        </p:spPr>
      </p:sp>
      <p:sp>
        <p:nvSpPr>
          <p:cNvPr id="29" name="Shape 27"/>
          <p:cNvSpPr/>
          <p:nvPr/>
        </p:nvSpPr>
        <p:spPr>
          <a:xfrm>
            <a:off x="5431536" y="4700016"/>
            <a:ext cx="2487168" cy="804672"/>
          </a:xfrm>
          <a:prstGeom prst="roundRect">
            <a:avLst>
              <a:gd name="adj" fmla="val 9091"/>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30" name="Text 28"/>
          <p:cNvSpPr/>
          <p:nvPr/>
        </p:nvSpPr>
        <p:spPr>
          <a:xfrm>
            <a:off x="5614416" y="4818888"/>
            <a:ext cx="2121408" cy="256032"/>
          </a:xfrm>
          <a:prstGeom prst="rect">
            <a:avLst/>
          </a:prstGeom>
          <a:noFill/>
          <a:ln/>
        </p:spPr>
        <p:txBody>
          <a:bodyPr wrap="square" lIns="0" tIns="0" rIns="0" bIns="0" rtlCol="0" anchor="ctr"/>
          <a:lstStyle/>
          <a:p>
            <a:pPr indent="0" marL="0">
              <a:buNone/>
            </a:pPr>
            <a:r>
              <a:rPr lang="en-US" sz="1250" b="1" dirty="0">
                <a:solidFill>
                  <a:srgbClr val="F5F0E2"/>
                </a:solidFill>
                <a:latin typeface="Calibri" pitchFamily="34" charset="0"/>
                <a:ea typeface="Calibri" pitchFamily="34" charset="-122"/>
                <a:cs typeface="Calibri" pitchFamily="34" charset="-120"/>
              </a:rPr>
              <a:t>Sangeet</a:t>
            </a:r>
            <a:endParaRPr lang="en-US" sz="1250" dirty="0"/>
          </a:p>
        </p:txBody>
      </p:sp>
      <p:sp>
        <p:nvSpPr>
          <p:cNvPr id="31" name="Text 29"/>
          <p:cNvSpPr/>
          <p:nvPr/>
        </p:nvSpPr>
        <p:spPr>
          <a:xfrm>
            <a:off x="5614416" y="5102352"/>
            <a:ext cx="2157984" cy="237744"/>
          </a:xfrm>
          <a:prstGeom prst="rect">
            <a:avLst/>
          </a:prstGeom>
          <a:noFill/>
          <a:ln/>
        </p:spPr>
        <p:txBody>
          <a:bodyPr wrap="square" lIns="0" tIns="0" rIns="0" bIns="0" rtlCol="0" anchor="ctr"/>
          <a:lstStyle/>
          <a:p>
            <a:pPr indent="0" marL="0">
              <a:buNone/>
            </a:pPr>
            <a:r>
              <a:rPr lang="en-US" sz="950" dirty="0">
                <a:solidFill>
                  <a:srgbClr val="B6AD90"/>
                </a:solidFill>
                <a:latin typeface="Calibri" pitchFamily="34" charset="0"/>
                <a:ea typeface="Calibri" pitchFamily="34" charset="-122"/>
                <a:cs typeface="Calibri" pitchFamily="34" charset="-120"/>
              </a:rPr>
              <a:t>19:30 · Ballroom · 300</a:t>
            </a:r>
            <a:endParaRPr lang="en-US" sz="950" dirty="0"/>
          </a:p>
        </p:txBody>
      </p:sp>
      <p:sp>
        <p:nvSpPr>
          <p:cNvPr id="32" name="Text 30"/>
          <p:cNvSpPr/>
          <p:nvPr/>
        </p:nvSpPr>
        <p:spPr>
          <a:xfrm>
            <a:off x="8247888" y="1975104"/>
            <a:ext cx="3017520" cy="219456"/>
          </a:xfrm>
          <a:prstGeom prst="rect">
            <a:avLst/>
          </a:prstGeom>
          <a:noFill/>
          <a:ln/>
        </p:spPr>
        <p:txBody>
          <a:bodyPr wrap="square" lIns="0" tIns="0" rIns="0" bIns="0" rtlCol="0" anchor="ctr"/>
          <a:lstStyle/>
          <a:p>
            <a:pPr indent="0" marL="0">
              <a:buNone/>
            </a:pPr>
            <a:r>
              <a:rPr lang="en-US" sz="900" b="1" spc="160" kern="0" dirty="0">
                <a:solidFill>
                  <a:srgbClr val="7F4F24"/>
                </a:solidFill>
                <a:latin typeface="Calibri" pitchFamily="34" charset="0"/>
                <a:ea typeface="Calibri" pitchFamily="34" charset="-122"/>
                <a:cs typeface="Calibri" pitchFamily="34" charset="-120"/>
              </a:rPr>
              <a:t>STEPS OF THIS FUNCTION</a:t>
            </a:r>
            <a:endParaRPr lang="en-US" sz="900" dirty="0"/>
          </a:p>
        </p:txBody>
      </p:sp>
      <p:sp>
        <p:nvSpPr>
          <p:cNvPr id="33" name="Shape 31"/>
          <p:cNvSpPr/>
          <p:nvPr/>
        </p:nvSpPr>
        <p:spPr>
          <a:xfrm flipV="1">
            <a:off x="7918704" y="3840480"/>
            <a:ext cx="329184" cy="1261872"/>
          </a:xfrm>
          <a:prstGeom prst="line">
            <a:avLst/>
          </a:prstGeom>
          <a:noFill/>
          <a:ln w="25400">
            <a:solidFill>
              <a:srgbClr val="7F4F24"/>
            </a:solidFill>
            <a:prstDash val="solid"/>
            <a:tailEnd type="none"/>
          </a:ln>
        </p:spPr>
      </p:sp>
      <p:sp>
        <p:nvSpPr>
          <p:cNvPr id="34" name="Shape 32"/>
          <p:cNvSpPr/>
          <p:nvPr/>
        </p:nvSpPr>
        <p:spPr>
          <a:xfrm>
            <a:off x="8247888" y="2286000"/>
            <a:ext cx="1426464" cy="512064"/>
          </a:xfrm>
          <a:prstGeom prst="roundRect">
            <a:avLst>
              <a:gd name="adj" fmla="val 50000"/>
            </a:avLst>
          </a:prstGeom>
          <a:solidFill>
            <a:srgbClr val="FFFFFF"/>
          </a:solidFill>
          <a:ln w="19050">
            <a:solidFill>
              <a:srgbClr val="A4AC86"/>
            </a:solidFill>
            <a:prstDash val="solid"/>
          </a:ln>
        </p:spPr>
      </p:sp>
      <p:sp>
        <p:nvSpPr>
          <p:cNvPr id="35" name="Shape 33"/>
          <p:cNvSpPr/>
          <p:nvPr/>
        </p:nvSpPr>
        <p:spPr>
          <a:xfrm>
            <a:off x="8394192" y="2468880"/>
            <a:ext cx="146304" cy="146304"/>
          </a:xfrm>
          <a:prstGeom prst="ellipse">
            <a:avLst/>
          </a:prstGeom>
          <a:solidFill>
            <a:srgbClr val="A4AC86"/>
          </a:solidFill>
          <a:ln w="12700">
            <a:solidFill>
              <a:srgbClr val="A4AC86"/>
            </a:solidFill>
            <a:prstDash val="solid"/>
          </a:ln>
        </p:spPr>
      </p:sp>
      <p:sp>
        <p:nvSpPr>
          <p:cNvPr id="36" name="Text 34"/>
          <p:cNvSpPr/>
          <p:nvPr/>
        </p:nvSpPr>
        <p:spPr>
          <a:xfrm>
            <a:off x="8595360" y="2286000"/>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Basics</a:t>
            </a:r>
            <a:endParaRPr lang="en-US" sz="1050" dirty="0"/>
          </a:p>
        </p:txBody>
      </p:sp>
      <p:sp>
        <p:nvSpPr>
          <p:cNvPr id="37" name="Shape 35"/>
          <p:cNvSpPr/>
          <p:nvPr/>
        </p:nvSpPr>
        <p:spPr>
          <a:xfrm>
            <a:off x="9820656" y="2286000"/>
            <a:ext cx="1426464" cy="512064"/>
          </a:xfrm>
          <a:prstGeom prst="roundRect">
            <a:avLst>
              <a:gd name="adj" fmla="val 50000"/>
            </a:avLst>
          </a:prstGeom>
          <a:solidFill>
            <a:srgbClr val="FFFFFF"/>
          </a:solidFill>
          <a:ln w="19050">
            <a:solidFill>
              <a:srgbClr val="A4AC86"/>
            </a:solidFill>
            <a:prstDash val="solid"/>
          </a:ln>
        </p:spPr>
      </p:sp>
      <p:sp>
        <p:nvSpPr>
          <p:cNvPr id="38" name="Shape 36"/>
          <p:cNvSpPr/>
          <p:nvPr/>
        </p:nvSpPr>
        <p:spPr>
          <a:xfrm>
            <a:off x="9966960" y="2468880"/>
            <a:ext cx="146304" cy="146304"/>
          </a:xfrm>
          <a:prstGeom prst="ellipse">
            <a:avLst/>
          </a:prstGeom>
          <a:solidFill>
            <a:srgbClr val="A4AC86"/>
          </a:solidFill>
          <a:ln w="12700">
            <a:solidFill>
              <a:srgbClr val="A4AC86"/>
            </a:solidFill>
            <a:prstDash val="solid"/>
          </a:ln>
        </p:spPr>
      </p:sp>
      <p:sp>
        <p:nvSpPr>
          <p:cNvPr id="39" name="Text 37"/>
          <p:cNvSpPr/>
          <p:nvPr/>
        </p:nvSpPr>
        <p:spPr>
          <a:xfrm>
            <a:off x="10168128" y="2286000"/>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Food</a:t>
            </a:r>
            <a:endParaRPr lang="en-US" sz="1050" dirty="0"/>
          </a:p>
        </p:txBody>
      </p:sp>
      <p:sp>
        <p:nvSpPr>
          <p:cNvPr id="40" name="Shape 38"/>
          <p:cNvSpPr/>
          <p:nvPr/>
        </p:nvSpPr>
        <p:spPr>
          <a:xfrm>
            <a:off x="8247888" y="2944368"/>
            <a:ext cx="1426464" cy="512064"/>
          </a:xfrm>
          <a:prstGeom prst="roundRect">
            <a:avLst>
              <a:gd name="adj" fmla="val 50000"/>
            </a:avLst>
          </a:prstGeom>
          <a:solidFill>
            <a:srgbClr val="FFFFFF"/>
          </a:solidFill>
          <a:ln w="19050">
            <a:solidFill>
              <a:srgbClr val="A68A64"/>
            </a:solidFill>
            <a:prstDash val="solid"/>
          </a:ln>
        </p:spPr>
      </p:sp>
      <p:sp>
        <p:nvSpPr>
          <p:cNvPr id="41" name="Shape 39"/>
          <p:cNvSpPr/>
          <p:nvPr/>
        </p:nvSpPr>
        <p:spPr>
          <a:xfrm>
            <a:off x="8394192" y="3127248"/>
            <a:ext cx="146304" cy="146304"/>
          </a:xfrm>
          <a:prstGeom prst="ellipse">
            <a:avLst/>
          </a:prstGeom>
          <a:solidFill>
            <a:srgbClr val="A68A64"/>
          </a:solidFill>
          <a:ln w="12700">
            <a:solidFill>
              <a:srgbClr val="A68A64"/>
            </a:solidFill>
            <a:prstDash val="solid"/>
          </a:ln>
        </p:spPr>
      </p:sp>
      <p:sp>
        <p:nvSpPr>
          <p:cNvPr id="42" name="Text 40"/>
          <p:cNvSpPr/>
          <p:nvPr/>
        </p:nvSpPr>
        <p:spPr>
          <a:xfrm>
            <a:off x="8595360" y="2944368"/>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Design</a:t>
            </a:r>
            <a:endParaRPr lang="en-US" sz="1050" dirty="0"/>
          </a:p>
        </p:txBody>
      </p:sp>
      <p:sp>
        <p:nvSpPr>
          <p:cNvPr id="43" name="Shape 41"/>
          <p:cNvSpPr/>
          <p:nvPr/>
        </p:nvSpPr>
        <p:spPr>
          <a:xfrm>
            <a:off x="9820656" y="2944368"/>
            <a:ext cx="1426464" cy="512064"/>
          </a:xfrm>
          <a:prstGeom prst="roundRect">
            <a:avLst>
              <a:gd name="adj" fmla="val 50000"/>
            </a:avLst>
          </a:prstGeom>
          <a:solidFill>
            <a:srgbClr val="FFFFFF"/>
          </a:solidFill>
          <a:ln w="19050">
            <a:solidFill>
              <a:srgbClr val="A68A64"/>
            </a:solidFill>
            <a:prstDash val="solid"/>
          </a:ln>
        </p:spPr>
      </p:sp>
      <p:sp>
        <p:nvSpPr>
          <p:cNvPr id="44" name="Shape 42"/>
          <p:cNvSpPr/>
          <p:nvPr/>
        </p:nvSpPr>
        <p:spPr>
          <a:xfrm>
            <a:off x="9966960" y="3127248"/>
            <a:ext cx="146304" cy="146304"/>
          </a:xfrm>
          <a:prstGeom prst="ellipse">
            <a:avLst/>
          </a:prstGeom>
          <a:solidFill>
            <a:srgbClr val="A68A64"/>
          </a:solidFill>
          <a:ln w="12700">
            <a:solidFill>
              <a:srgbClr val="A68A64"/>
            </a:solidFill>
            <a:prstDash val="solid"/>
          </a:ln>
        </p:spPr>
      </p:sp>
      <p:sp>
        <p:nvSpPr>
          <p:cNvPr id="45" name="Text 43"/>
          <p:cNvSpPr/>
          <p:nvPr/>
        </p:nvSpPr>
        <p:spPr>
          <a:xfrm>
            <a:off x="10168128" y="2944368"/>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Vendors</a:t>
            </a:r>
            <a:endParaRPr lang="en-US" sz="1050" dirty="0"/>
          </a:p>
        </p:txBody>
      </p:sp>
      <p:sp>
        <p:nvSpPr>
          <p:cNvPr id="46" name="Shape 44"/>
          <p:cNvSpPr/>
          <p:nvPr/>
        </p:nvSpPr>
        <p:spPr>
          <a:xfrm>
            <a:off x="8247888" y="3602736"/>
            <a:ext cx="1426464" cy="512064"/>
          </a:xfrm>
          <a:prstGeom prst="roundRect">
            <a:avLst>
              <a:gd name="adj" fmla="val 50000"/>
            </a:avLst>
          </a:prstGeom>
          <a:solidFill>
            <a:srgbClr val="FFFFFF"/>
          </a:solidFill>
          <a:ln w="19050">
            <a:solidFill>
              <a:srgbClr val="B6AD90"/>
            </a:solidFill>
            <a:prstDash val="solid"/>
          </a:ln>
        </p:spPr>
      </p:sp>
      <p:sp>
        <p:nvSpPr>
          <p:cNvPr id="47" name="Shape 45"/>
          <p:cNvSpPr/>
          <p:nvPr/>
        </p:nvSpPr>
        <p:spPr>
          <a:xfrm>
            <a:off x="8394192" y="3785616"/>
            <a:ext cx="146304" cy="146304"/>
          </a:xfrm>
          <a:prstGeom prst="ellipse">
            <a:avLst/>
          </a:prstGeom>
          <a:solidFill>
            <a:srgbClr val="B6AD90"/>
          </a:solidFill>
          <a:ln w="12700">
            <a:solidFill>
              <a:srgbClr val="B6AD90"/>
            </a:solidFill>
            <a:prstDash val="solid"/>
          </a:ln>
        </p:spPr>
      </p:sp>
      <p:sp>
        <p:nvSpPr>
          <p:cNvPr id="48" name="Text 46"/>
          <p:cNvSpPr/>
          <p:nvPr/>
        </p:nvSpPr>
        <p:spPr>
          <a:xfrm>
            <a:off x="8595360" y="3602736"/>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Logistics</a:t>
            </a:r>
            <a:endParaRPr lang="en-US" sz="1050" dirty="0"/>
          </a:p>
        </p:txBody>
      </p:sp>
      <p:sp>
        <p:nvSpPr>
          <p:cNvPr id="49" name="Shape 47"/>
          <p:cNvSpPr/>
          <p:nvPr/>
        </p:nvSpPr>
        <p:spPr>
          <a:xfrm>
            <a:off x="9820656" y="3602736"/>
            <a:ext cx="1426464" cy="512064"/>
          </a:xfrm>
          <a:prstGeom prst="roundRect">
            <a:avLst>
              <a:gd name="adj" fmla="val 50000"/>
            </a:avLst>
          </a:prstGeom>
          <a:solidFill>
            <a:srgbClr val="FFFFFF"/>
          </a:solidFill>
          <a:ln w="19050">
            <a:solidFill>
              <a:srgbClr val="B6AD90"/>
            </a:solidFill>
            <a:prstDash val="solid"/>
          </a:ln>
        </p:spPr>
      </p:sp>
      <p:sp>
        <p:nvSpPr>
          <p:cNvPr id="50" name="Shape 48"/>
          <p:cNvSpPr/>
          <p:nvPr/>
        </p:nvSpPr>
        <p:spPr>
          <a:xfrm>
            <a:off x="9966960" y="3785616"/>
            <a:ext cx="146304" cy="146304"/>
          </a:xfrm>
          <a:prstGeom prst="ellipse">
            <a:avLst/>
          </a:prstGeom>
          <a:solidFill>
            <a:srgbClr val="B6AD90"/>
          </a:solidFill>
          <a:ln w="12700">
            <a:solidFill>
              <a:srgbClr val="B6AD90"/>
            </a:solidFill>
            <a:prstDash val="solid"/>
          </a:ln>
        </p:spPr>
      </p:sp>
      <p:sp>
        <p:nvSpPr>
          <p:cNvPr id="51" name="Text 49"/>
          <p:cNvSpPr/>
          <p:nvPr/>
        </p:nvSpPr>
        <p:spPr>
          <a:xfrm>
            <a:off x="10168128" y="3602736"/>
            <a:ext cx="1005840" cy="512064"/>
          </a:xfrm>
          <a:prstGeom prst="rect">
            <a:avLst/>
          </a:prstGeom>
          <a:noFill/>
          <a:ln/>
        </p:spPr>
        <p:txBody>
          <a:bodyPr wrap="square" lIns="0" tIns="0" rIns="0" bIns="0" rtlCol="0" anchor="ctr"/>
          <a:lstStyle/>
          <a:p>
            <a:pPr indent="0" marL="0">
              <a:buNone/>
            </a:pPr>
            <a:r>
              <a:rPr lang="en-US" sz="1050" b="1" dirty="0">
                <a:solidFill>
                  <a:srgbClr val="333D29"/>
                </a:solidFill>
                <a:latin typeface="Calibri" pitchFamily="34" charset="0"/>
                <a:ea typeface="Calibri" pitchFamily="34" charset="-122"/>
                <a:cs typeface="Calibri" pitchFamily="34" charset="-120"/>
              </a:rPr>
              <a:t>Notes</a:t>
            </a:r>
            <a:endParaRPr lang="en-US" sz="1050" dirty="0"/>
          </a:p>
        </p:txBody>
      </p:sp>
      <p:sp>
        <p:nvSpPr>
          <p:cNvPr id="52" name="Shape 50"/>
          <p:cNvSpPr/>
          <p:nvPr/>
        </p:nvSpPr>
        <p:spPr>
          <a:xfrm>
            <a:off x="8247888" y="4315968"/>
            <a:ext cx="2999232" cy="1481328"/>
          </a:xfrm>
          <a:prstGeom prst="roundRect">
            <a:avLst>
              <a:gd name="adj" fmla="val 4938"/>
            </a:avLst>
          </a:prstGeom>
          <a:solidFill>
            <a:srgbClr val="EBE3CE"/>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53" name="Text 51"/>
          <p:cNvSpPr/>
          <p:nvPr/>
        </p:nvSpPr>
        <p:spPr>
          <a:xfrm>
            <a:off x="8449056" y="4462272"/>
            <a:ext cx="2651760" cy="256032"/>
          </a:xfrm>
          <a:prstGeom prst="rect">
            <a:avLst/>
          </a:prstGeom>
          <a:noFill/>
          <a:ln/>
        </p:spPr>
        <p:txBody>
          <a:bodyPr wrap="square" lIns="0" tIns="0" rIns="0" bIns="0" rtlCol="0" anchor="ctr"/>
          <a:lstStyle/>
          <a:p>
            <a:pPr indent="0" marL="0">
              <a:buNone/>
            </a:pPr>
            <a:r>
              <a:rPr lang="en-US" sz="1150" b="1" dirty="0">
                <a:solidFill>
                  <a:srgbClr val="333D29"/>
                </a:solidFill>
                <a:latin typeface="Calibri" pitchFamily="34" charset="0"/>
                <a:ea typeface="Calibri" pitchFamily="34" charset="-122"/>
                <a:cs typeface="Calibri" pitchFamily="34" charset="-120"/>
              </a:rPr>
              <a:t>Readiness is scored server-side</a:t>
            </a:r>
            <a:endParaRPr lang="en-US" sz="1150" dirty="0"/>
          </a:p>
        </p:txBody>
      </p:sp>
      <p:sp>
        <p:nvSpPr>
          <p:cNvPr id="54" name="Text 52"/>
          <p:cNvSpPr/>
          <p:nvPr/>
        </p:nvSpPr>
        <p:spPr>
          <a:xfrm>
            <a:off x="8449056" y="4773168"/>
            <a:ext cx="2651760" cy="914400"/>
          </a:xfrm>
          <a:prstGeom prst="rect">
            <a:avLst/>
          </a:prstGeom>
          <a:noFill/>
          <a:ln/>
        </p:spPr>
        <p:txBody>
          <a:bodyPr wrap="square" lIns="0" tIns="0" rIns="0" bIns="0" rtlCol="0" anchor="ctr"/>
          <a:lstStyle/>
          <a:p>
            <a:pPr indent="0" marL="0">
              <a:lnSpc>
                <a:spcPct val="104000"/>
              </a:lnSpc>
              <a:buNone/>
            </a:pPr>
            <a:r>
              <a:rPr lang="en-US" sz="1050" dirty="0">
                <a:solidFill>
                  <a:srgbClr val="656D4A"/>
                </a:solidFill>
                <a:latin typeface="Calibri" pitchFamily="34" charset="0"/>
                <a:ea typeface="Calibri" pitchFamily="34" charset="-122"/>
                <a:cs typeface="Calibri" pitchFamily="34" charset="-120"/>
              </a:rPr>
              <a:t>One contract scores every function and decides whether a price may be shown at all — the UI never gets its own opinion.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06 · SYSTEM SHAPE</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Four audiences, one source of truth.</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Same event, four different questions — and four different sets of facts each role is allowed to see.</a:t>
            </a:r>
            <a:endParaRPr lang="en-US" sz="1350" dirty="0"/>
          </a:p>
        </p:txBody>
      </p:sp>
      <p:sp>
        <p:nvSpPr>
          <p:cNvPr id="5" name="Shape 3"/>
          <p:cNvSpPr/>
          <p:nvPr/>
        </p:nvSpPr>
        <p:spPr>
          <a:xfrm>
            <a:off x="685800" y="2048256"/>
            <a:ext cx="3291840" cy="1353312"/>
          </a:xfrm>
          <a:prstGeom prst="roundRect">
            <a:avLst>
              <a:gd name="adj" fmla="val 6757"/>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923544" y="2212848"/>
            <a:ext cx="1920240" cy="274320"/>
          </a:xfrm>
          <a:prstGeom prst="rect">
            <a:avLst/>
          </a:prstGeom>
          <a:noFill/>
          <a:ln/>
        </p:spPr>
        <p:txBody>
          <a:bodyPr wrap="square" lIns="0" tIns="0" rIns="0" bIns="0" rtlCol="0" anchor="ctr"/>
          <a:lstStyle/>
          <a:p>
            <a:pPr indent="0" marL="0">
              <a:buNone/>
            </a:pPr>
            <a:r>
              <a:rPr lang="en-US" sz="1250" b="1" spc="200" kern="0" dirty="0">
                <a:solidFill>
                  <a:srgbClr val="7F4F24"/>
                </a:solidFill>
                <a:latin typeface="Calibri" pitchFamily="34" charset="0"/>
                <a:ea typeface="Calibri" pitchFamily="34" charset="-122"/>
                <a:cs typeface="Calibri" pitchFamily="34" charset="-120"/>
              </a:rPr>
              <a:t>CLIENT</a:t>
            </a:r>
            <a:endParaRPr lang="en-US" sz="1250" dirty="0"/>
          </a:p>
        </p:txBody>
      </p:sp>
      <p:sp>
        <p:nvSpPr>
          <p:cNvPr id="7" name="Text 5"/>
          <p:cNvSpPr/>
          <p:nvPr/>
        </p:nvSpPr>
        <p:spPr>
          <a:xfrm>
            <a:off x="2423160" y="2212848"/>
            <a:ext cx="1335024" cy="274320"/>
          </a:xfrm>
          <a:prstGeom prst="rect">
            <a:avLst/>
          </a:prstGeom>
          <a:noFill/>
          <a:ln/>
        </p:spPr>
        <p:txBody>
          <a:bodyPr wrap="square" lIns="0" tIns="0" rIns="0" bIns="0" rtlCol="0" anchor="ctr"/>
          <a:lstStyle/>
          <a:p>
            <a:pPr algn="r" indent="0" marL="0">
              <a:buNone/>
            </a:pPr>
            <a:r>
              <a:rPr lang="en-US" sz="1050" b="1" dirty="0">
                <a:solidFill>
                  <a:srgbClr val="656D4A"/>
                </a:solidFill>
                <a:latin typeface="Calibri" pitchFamily="34" charset="0"/>
                <a:ea typeface="Calibri" pitchFamily="34" charset="-122"/>
                <a:cs typeface="Calibri" pitchFamily="34" charset="-120"/>
              </a:rPr>
              <a:t>11 routes</a:t>
            </a:r>
            <a:endParaRPr lang="en-US" sz="1050" dirty="0"/>
          </a:p>
        </p:txBody>
      </p:sp>
      <p:sp>
        <p:nvSpPr>
          <p:cNvPr id="8" name="Text 6"/>
          <p:cNvSpPr/>
          <p:nvPr/>
        </p:nvSpPr>
        <p:spPr>
          <a:xfrm>
            <a:off x="923544" y="2560320"/>
            <a:ext cx="2834640" cy="749808"/>
          </a:xfrm>
          <a:prstGeom prst="rect">
            <a:avLst/>
          </a:prstGeom>
          <a:noFill/>
          <a:ln/>
        </p:spPr>
        <p:txBody>
          <a:bodyPr wrap="square" lIns="0" tIns="0" rIns="0" bIns="0" rtlCol="0" anchor="ctr"/>
          <a:lstStyle/>
          <a:p>
            <a:pPr indent="0" marL="0">
              <a:lnSpc>
                <a:spcPct val="104000"/>
              </a:lnSpc>
              <a:buNone/>
            </a:pPr>
            <a:r>
              <a:rPr lang="en-US" sz="1100" dirty="0">
                <a:solidFill>
                  <a:srgbClr val="333D29"/>
                </a:solidFill>
                <a:latin typeface="Calibri" pitchFamily="34" charset="0"/>
                <a:ea typeface="Calibri" pitchFamily="34" charset="-122"/>
                <a:cs typeface="Calibri" pitchFamily="34" charset="-120"/>
              </a:rPr>
              <a:t>Define the event, map functions, choose venues and vendors, track spend and guests.</a:t>
            </a:r>
            <a:endParaRPr lang="en-US" sz="1100" dirty="0"/>
          </a:p>
        </p:txBody>
      </p:sp>
      <p:sp>
        <p:nvSpPr>
          <p:cNvPr id="9" name="Shape 7"/>
          <p:cNvSpPr/>
          <p:nvPr/>
        </p:nvSpPr>
        <p:spPr>
          <a:xfrm>
            <a:off x="3977640" y="2724912"/>
            <a:ext cx="475488" cy="1417320"/>
          </a:xfrm>
          <a:prstGeom prst="line">
            <a:avLst/>
          </a:prstGeom>
          <a:noFill/>
          <a:ln w="15875">
            <a:solidFill>
              <a:srgbClr val="B6AD90"/>
            </a:solidFill>
            <a:prstDash val="solid"/>
            <a:tailEnd type="none"/>
          </a:ln>
        </p:spPr>
      </p:sp>
      <p:sp>
        <p:nvSpPr>
          <p:cNvPr id="10" name="Shape 8"/>
          <p:cNvSpPr/>
          <p:nvPr/>
        </p:nvSpPr>
        <p:spPr>
          <a:xfrm>
            <a:off x="8211312" y="2048256"/>
            <a:ext cx="3291840" cy="1353312"/>
          </a:xfrm>
          <a:prstGeom prst="roundRect">
            <a:avLst>
              <a:gd name="adj" fmla="val 6757"/>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1" name="Text 9"/>
          <p:cNvSpPr/>
          <p:nvPr/>
        </p:nvSpPr>
        <p:spPr>
          <a:xfrm>
            <a:off x="8449056" y="2212848"/>
            <a:ext cx="1920240" cy="274320"/>
          </a:xfrm>
          <a:prstGeom prst="rect">
            <a:avLst/>
          </a:prstGeom>
          <a:noFill/>
          <a:ln/>
        </p:spPr>
        <p:txBody>
          <a:bodyPr wrap="square" lIns="0" tIns="0" rIns="0" bIns="0" rtlCol="0" anchor="ctr"/>
          <a:lstStyle/>
          <a:p>
            <a:pPr indent="0" marL="0">
              <a:buNone/>
            </a:pPr>
            <a:r>
              <a:rPr lang="en-US" sz="1250" b="1" spc="200" kern="0" dirty="0">
                <a:solidFill>
                  <a:srgbClr val="7F4F24"/>
                </a:solidFill>
                <a:latin typeface="Calibri" pitchFamily="34" charset="0"/>
                <a:ea typeface="Calibri" pitchFamily="34" charset="-122"/>
                <a:cs typeface="Calibri" pitchFamily="34" charset="-120"/>
              </a:rPr>
              <a:t>VENDOR</a:t>
            </a:r>
            <a:endParaRPr lang="en-US" sz="1250" dirty="0"/>
          </a:p>
        </p:txBody>
      </p:sp>
      <p:sp>
        <p:nvSpPr>
          <p:cNvPr id="12" name="Text 10"/>
          <p:cNvSpPr/>
          <p:nvPr/>
        </p:nvSpPr>
        <p:spPr>
          <a:xfrm>
            <a:off x="9948672" y="2212848"/>
            <a:ext cx="1335024" cy="274320"/>
          </a:xfrm>
          <a:prstGeom prst="rect">
            <a:avLst/>
          </a:prstGeom>
          <a:noFill/>
          <a:ln/>
        </p:spPr>
        <p:txBody>
          <a:bodyPr wrap="square" lIns="0" tIns="0" rIns="0" bIns="0" rtlCol="0" anchor="ctr"/>
          <a:lstStyle/>
          <a:p>
            <a:pPr algn="r" indent="0" marL="0">
              <a:buNone/>
            </a:pPr>
            <a:r>
              <a:rPr lang="en-US" sz="1050" b="1" dirty="0">
                <a:solidFill>
                  <a:srgbClr val="656D4A"/>
                </a:solidFill>
                <a:latin typeface="Calibri" pitchFamily="34" charset="0"/>
                <a:ea typeface="Calibri" pitchFamily="34" charset="-122"/>
                <a:cs typeface="Calibri" pitchFamily="34" charset="-120"/>
              </a:rPr>
              <a:t>11 routes</a:t>
            </a:r>
            <a:endParaRPr lang="en-US" sz="1050" dirty="0"/>
          </a:p>
        </p:txBody>
      </p:sp>
      <p:sp>
        <p:nvSpPr>
          <p:cNvPr id="13" name="Text 11"/>
          <p:cNvSpPr/>
          <p:nvPr/>
        </p:nvSpPr>
        <p:spPr>
          <a:xfrm>
            <a:off x="8449056" y="2560320"/>
            <a:ext cx="2834640" cy="749808"/>
          </a:xfrm>
          <a:prstGeom prst="rect">
            <a:avLst/>
          </a:prstGeom>
          <a:noFill/>
          <a:ln/>
        </p:spPr>
        <p:txBody>
          <a:bodyPr wrap="square" lIns="0" tIns="0" rIns="0" bIns="0" rtlCol="0" anchor="ctr"/>
          <a:lstStyle/>
          <a:p>
            <a:pPr indent="0" marL="0">
              <a:lnSpc>
                <a:spcPct val="104000"/>
              </a:lnSpc>
              <a:buNone/>
            </a:pPr>
            <a:r>
              <a:rPr lang="en-US" sz="1100" dirty="0">
                <a:solidFill>
                  <a:srgbClr val="333D29"/>
                </a:solidFill>
                <a:latin typeface="Calibri" pitchFamily="34" charset="0"/>
                <a:ea typeface="Calibri" pitchFamily="34" charset="-122"/>
                <a:cs typeface="Calibri" pitchFamily="34" charset="-120"/>
              </a:rPr>
              <a:t>Build real catalogue offerings with media, manage bookings, calendar and reviews.</a:t>
            </a:r>
            <a:endParaRPr lang="en-US" sz="1100" dirty="0"/>
          </a:p>
        </p:txBody>
      </p:sp>
      <p:sp>
        <p:nvSpPr>
          <p:cNvPr id="14" name="Shape 12"/>
          <p:cNvSpPr/>
          <p:nvPr/>
        </p:nvSpPr>
        <p:spPr>
          <a:xfrm flipH="1">
            <a:off x="7744968" y="2724912"/>
            <a:ext cx="466344" cy="1417320"/>
          </a:xfrm>
          <a:prstGeom prst="line">
            <a:avLst/>
          </a:prstGeom>
          <a:noFill/>
          <a:ln w="15875">
            <a:solidFill>
              <a:srgbClr val="B6AD90"/>
            </a:solidFill>
            <a:prstDash val="solid"/>
            <a:tailEnd type="none"/>
          </a:ln>
        </p:spPr>
      </p:sp>
      <p:sp>
        <p:nvSpPr>
          <p:cNvPr id="15" name="Shape 13"/>
          <p:cNvSpPr/>
          <p:nvPr/>
        </p:nvSpPr>
        <p:spPr>
          <a:xfrm>
            <a:off x="685800" y="4828032"/>
            <a:ext cx="3291840" cy="1353312"/>
          </a:xfrm>
          <a:prstGeom prst="roundRect">
            <a:avLst>
              <a:gd name="adj" fmla="val 6757"/>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6" name="Text 14"/>
          <p:cNvSpPr/>
          <p:nvPr/>
        </p:nvSpPr>
        <p:spPr>
          <a:xfrm>
            <a:off x="923544" y="4992624"/>
            <a:ext cx="1920240" cy="274320"/>
          </a:xfrm>
          <a:prstGeom prst="rect">
            <a:avLst/>
          </a:prstGeom>
          <a:noFill/>
          <a:ln/>
        </p:spPr>
        <p:txBody>
          <a:bodyPr wrap="square" lIns="0" tIns="0" rIns="0" bIns="0" rtlCol="0" anchor="ctr"/>
          <a:lstStyle/>
          <a:p>
            <a:pPr indent="0" marL="0">
              <a:buNone/>
            </a:pPr>
            <a:r>
              <a:rPr lang="en-US" sz="1250" b="1" spc="200" kern="0" dirty="0">
                <a:solidFill>
                  <a:srgbClr val="7F4F24"/>
                </a:solidFill>
                <a:latin typeface="Calibri" pitchFamily="34" charset="0"/>
                <a:ea typeface="Calibri" pitchFamily="34" charset="-122"/>
                <a:cs typeface="Calibri" pitchFamily="34" charset="-120"/>
              </a:rPr>
              <a:t>MANAGER</a:t>
            </a:r>
            <a:endParaRPr lang="en-US" sz="1250" dirty="0"/>
          </a:p>
        </p:txBody>
      </p:sp>
      <p:sp>
        <p:nvSpPr>
          <p:cNvPr id="17" name="Text 15"/>
          <p:cNvSpPr/>
          <p:nvPr/>
        </p:nvSpPr>
        <p:spPr>
          <a:xfrm>
            <a:off x="2423160" y="4992624"/>
            <a:ext cx="1335024" cy="274320"/>
          </a:xfrm>
          <a:prstGeom prst="rect">
            <a:avLst/>
          </a:prstGeom>
          <a:noFill/>
          <a:ln/>
        </p:spPr>
        <p:txBody>
          <a:bodyPr wrap="square" lIns="0" tIns="0" rIns="0" bIns="0" rtlCol="0" anchor="ctr"/>
          <a:lstStyle/>
          <a:p>
            <a:pPr algn="r" indent="0" marL="0">
              <a:buNone/>
            </a:pPr>
            <a:r>
              <a:rPr lang="en-US" sz="1050" b="1" dirty="0">
                <a:solidFill>
                  <a:srgbClr val="656D4A"/>
                </a:solidFill>
                <a:latin typeface="Calibri" pitchFamily="34" charset="0"/>
                <a:ea typeface="Calibri" pitchFamily="34" charset="-122"/>
                <a:cs typeface="Calibri" pitchFamily="34" charset="-120"/>
              </a:rPr>
              <a:t>10 routes</a:t>
            </a:r>
            <a:endParaRPr lang="en-US" sz="1050" dirty="0"/>
          </a:p>
        </p:txBody>
      </p:sp>
      <p:sp>
        <p:nvSpPr>
          <p:cNvPr id="18" name="Text 16"/>
          <p:cNvSpPr/>
          <p:nvPr/>
        </p:nvSpPr>
        <p:spPr>
          <a:xfrm>
            <a:off x="923544" y="5340096"/>
            <a:ext cx="2834640" cy="749808"/>
          </a:xfrm>
          <a:prstGeom prst="rect">
            <a:avLst/>
          </a:prstGeom>
          <a:noFill/>
          <a:ln/>
        </p:spPr>
        <p:txBody>
          <a:bodyPr wrap="square" lIns="0" tIns="0" rIns="0" bIns="0" rtlCol="0" anchor="ctr"/>
          <a:lstStyle/>
          <a:p>
            <a:pPr indent="0" marL="0">
              <a:lnSpc>
                <a:spcPct val="104000"/>
              </a:lnSpc>
              <a:buNone/>
            </a:pPr>
            <a:r>
              <a:rPr lang="en-US" sz="1100" dirty="0">
                <a:solidFill>
                  <a:srgbClr val="333D29"/>
                </a:solidFill>
                <a:latin typeface="Calibri" pitchFamily="34" charset="0"/>
                <a:ea typeface="Calibri" pitchFamily="34" charset="-122"/>
                <a:cs typeface="Calibri" pitchFamily="34" charset="-120"/>
              </a:rPr>
              <a:t>Operate live events across clients — bookings, inquiries, destinations, configurator.</a:t>
            </a:r>
            <a:endParaRPr lang="en-US" sz="1100" dirty="0"/>
          </a:p>
        </p:txBody>
      </p:sp>
      <p:sp>
        <p:nvSpPr>
          <p:cNvPr id="19" name="Shape 17"/>
          <p:cNvSpPr/>
          <p:nvPr/>
        </p:nvSpPr>
        <p:spPr>
          <a:xfrm flipV="1">
            <a:off x="3977640" y="4142232"/>
            <a:ext cx="475488" cy="1362456"/>
          </a:xfrm>
          <a:prstGeom prst="line">
            <a:avLst/>
          </a:prstGeom>
          <a:noFill/>
          <a:ln w="15875">
            <a:solidFill>
              <a:srgbClr val="B6AD90"/>
            </a:solidFill>
            <a:prstDash val="solid"/>
            <a:tailEnd type="none"/>
          </a:ln>
        </p:spPr>
      </p:sp>
      <p:sp>
        <p:nvSpPr>
          <p:cNvPr id="20" name="Shape 18"/>
          <p:cNvSpPr/>
          <p:nvPr/>
        </p:nvSpPr>
        <p:spPr>
          <a:xfrm>
            <a:off x="8211312" y="4828032"/>
            <a:ext cx="3291840" cy="1353312"/>
          </a:xfrm>
          <a:prstGeom prst="roundRect">
            <a:avLst>
              <a:gd name="adj" fmla="val 6757"/>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1" name="Text 19"/>
          <p:cNvSpPr/>
          <p:nvPr/>
        </p:nvSpPr>
        <p:spPr>
          <a:xfrm>
            <a:off x="8449056" y="4992624"/>
            <a:ext cx="1920240" cy="274320"/>
          </a:xfrm>
          <a:prstGeom prst="rect">
            <a:avLst/>
          </a:prstGeom>
          <a:noFill/>
          <a:ln/>
        </p:spPr>
        <p:txBody>
          <a:bodyPr wrap="square" lIns="0" tIns="0" rIns="0" bIns="0" rtlCol="0" anchor="ctr"/>
          <a:lstStyle/>
          <a:p>
            <a:pPr indent="0" marL="0">
              <a:buNone/>
            </a:pPr>
            <a:r>
              <a:rPr lang="en-US" sz="1250" b="1" spc="200" kern="0" dirty="0">
                <a:solidFill>
                  <a:srgbClr val="7F4F24"/>
                </a:solidFill>
                <a:latin typeface="Calibri" pitchFamily="34" charset="0"/>
                <a:ea typeface="Calibri" pitchFamily="34" charset="-122"/>
                <a:cs typeface="Calibri" pitchFamily="34" charset="-120"/>
              </a:rPr>
              <a:t>ADMIN</a:t>
            </a:r>
            <a:endParaRPr lang="en-US" sz="1250" dirty="0"/>
          </a:p>
        </p:txBody>
      </p:sp>
      <p:sp>
        <p:nvSpPr>
          <p:cNvPr id="22" name="Text 20"/>
          <p:cNvSpPr/>
          <p:nvPr/>
        </p:nvSpPr>
        <p:spPr>
          <a:xfrm>
            <a:off x="9948672" y="4992624"/>
            <a:ext cx="1335024" cy="274320"/>
          </a:xfrm>
          <a:prstGeom prst="rect">
            <a:avLst/>
          </a:prstGeom>
          <a:noFill/>
          <a:ln/>
        </p:spPr>
        <p:txBody>
          <a:bodyPr wrap="square" lIns="0" tIns="0" rIns="0" bIns="0" rtlCol="0" anchor="ctr"/>
          <a:lstStyle/>
          <a:p>
            <a:pPr algn="r" indent="0" marL="0">
              <a:buNone/>
            </a:pPr>
            <a:r>
              <a:rPr lang="en-US" sz="1050" b="1" dirty="0">
                <a:solidFill>
                  <a:srgbClr val="656D4A"/>
                </a:solidFill>
                <a:latin typeface="Calibri" pitchFamily="34" charset="0"/>
                <a:ea typeface="Calibri" pitchFamily="34" charset="-122"/>
                <a:cs typeface="Calibri" pitchFamily="34" charset="-120"/>
              </a:rPr>
              <a:t>15 routes</a:t>
            </a:r>
            <a:endParaRPr lang="en-US" sz="1050" dirty="0"/>
          </a:p>
        </p:txBody>
      </p:sp>
      <p:sp>
        <p:nvSpPr>
          <p:cNvPr id="23" name="Text 21"/>
          <p:cNvSpPr/>
          <p:nvPr/>
        </p:nvSpPr>
        <p:spPr>
          <a:xfrm>
            <a:off x="8449056" y="5340096"/>
            <a:ext cx="2834640" cy="749808"/>
          </a:xfrm>
          <a:prstGeom prst="rect">
            <a:avLst/>
          </a:prstGeom>
          <a:noFill/>
          <a:ln/>
        </p:spPr>
        <p:txBody>
          <a:bodyPr wrap="square" lIns="0" tIns="0" rIns="0" bIns="0" rtlCol="0" anchor="ctr"/>
          <a:lstStyle/>
          <a:p>
            <a:pPr indent="0" marL="0">
              <a:lnSpc>
                <a:spcPct val="104000"/>
              </a:lnSpc>
              <a:buNone/>
            </a:pPr>
            <a:r>
              <a:rPr lang="en-US" sz="1100" dirty="0">
                <a:solidFill>
                  <a:srgbClr val="333D29"/>
                </a:solidFill>
                <a:latin typeface="Calibri" pitchFamily="34" charset="0"/>
                <a:ea typeface="Calibri" pitchFamily="34" charset="-122"/>
                <a:cs typeface="Calibri" pitchFamily="34" charset="-120"/>
              </a:rPr>
              <a:t>Own pricing, venues, vendors, packages, revenue and every published commercial total.</a:t>
            </a:r>
            <a:endParaRPr lang="en-US" sz="1100" dirty="0"/>
          </a:p>
        </p:txBody>
      </p:sp>
      <p:sp>
        <p:nvSpPr>
          <p:cNvPr id="24" name="Shape 22"/>
          <p:cNvSpPr/>
          <p:nvPr/>
        </p:nvSpPr>
        <p:spPr>
          <a:xfrm flipH="1" flipV="1">
            <a:off x="7744968" y="4142232"/>
            <a:ext cx="466344" cy="1362456"/>
          </a:xfrm>
          <a:prstGeom prst="line">
            <a:avLst/>
          </a:prstGeom>
          <a:noFill/>
          <a:ln w="15875">
            <a:solidFill>
              <a:srgbClr val="B6AD90"/>
            </a:solidFill>
            <a:prstDash val="solid"/>
            <a:tailEnd type="none"/>
          </a:ln>
        </p:spPr>
      </p:sp>
      <p:sp>
        <p:nvSpPr>
          <p:cNvPr id="25" name="Shape 23"/>
          <p:cNvSpPr/>
          <p:nvPr/>
        </p:nvSpPr>
        <p:spPr>
          <a:xfrm>
            <a:off x="4453128" y="3401568"/>
            <a:ext cx="3291840" cy="1481328"/>
          </a:xfrm>
          <a:prstGeom prst="roundRect">
            <a:avLst>
              <a:gd name="adj" fmla="val 5556"/>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26" name="Text 24"/>
          <p:cNvSpPr/>
          <p:nvPr/>
        </p:nvSpPr>
        <p:spPr>
          <a:xfrm>
            <a:off x="4453128" y="3602736"/>
            <a:ext cx="3291840" cy="237744"/>
          </a:xfrm>
          <a:prstGeom prst="rect">
            <a:avLst/>
          </a:prstGeom>
          <a:noFill/>
          <a:ln/>
        </p:spPr>
        <p:txBody>
          <a:bodyPr wrap="square" lIns="0" tIns="0" rIns="0" bIns="0" rtlCol="0" anchor="ctr"/>
          <a:lstStyle/>
          <a:p>
            <a:pPr algn="ctr" indent="0" marL="0">
              <a:buNone/>
            </a:pPr>
            <a:r>
              <a:rPr lang="en-US" sz="950" b="1" spc="220" kern="0" dirty="0">
                <a:solidFill>
                  <a:srgbClr val="A68A64"/>
                </a:solidFill>
                <a:latin typeface="Calibri" pitchFamily="34" charset="0"/>
                <a:ea typeface="Calibri" pitchFamily="34" charset="-122"/>
                <a:cs typeface="Calibri" pitchFamily="34" charset="-120"/>
              </a:rPr>
              <a:t>ONE EVENT SPINE</a:t>
            </a:r>
            <a:endParaRPr lang="en-US" sz="950" dirty="0"/>
          </a:p>
        </p:txBody>
      </p:sp>
      <p:sp>
        <p:nvSpPr>
          <p:cNvPr id="27" name="Text 25"/>
          <p:cNvSpPr/>
          <p:nvPr/>
        </p:nvSpPr>
        <p:spPr>
          <a:xfrm>
            <a:off x="4453128" y="3895344"/>
            <a:ext cx="3291840" cy="329184"/>
          </a:xfrm>
          <a:prstGeom prst="rect">
            <a:avLst/>
          </a:prstGeom>
          <a:noFill/>
          <a:ln/>
        </p:spPr>
        <p:txBody>
          <a:bodyPr wrap="square" lIns="0" tIns="0" rIns="0" bIns="0" rtlCol="0" anchor="ctr"/>
          <a:lstStyle/>
          <a:p>
            <a:pPr algn="ctr" indent="0" marL="0">
              <a:buNone/>
            </a:pPr>
            <a:r>
              <a:rPr lang="en-US" sz="1700" b="1" dirty="0">
                <a:solidFill>
                  <a:srgbClr val="F5F0E2"/>
                </a:solidFill>
                <a:latin typeface="Cambria" pitchFamily="34" charset="0"/>
                <a:ea typeface="Cambria" pitchFamily="34" charset="-122"/>
                <a:cs typeface="Cambria" pitchFamily="34" charset="-120"/>
              </a:rPr>
              <a:t>27 tables · 59 endpoints</a:t>
            </a:r>
            <a:endParaRPr lang="en-US" sz="1700" dirty="0"/>
          </a:p>
        </p:txBody>
      </p:sp>
      <p:sp>
        <p:nvSpPr>
          <p:cNvPr id="28" name="Text 26"/>
          <p:cNvSpPr/>
          <p:nvPr/>
        </p:nvSpPr>
        <p:spPr>
          <a:xfrm>
            <a:off x="4636008" y="4279392"/>
            <a:ext cx="2926080" cy="402336"/>
          </a:xfrm>
          <a:prstGeom prst="rect">
            <a:avLst/>
          </a:prstGeom>
          <a:noFill/>
          <a:ln/>
        </p:spPr>
        <p:txBody>
          <a:bodyPr wrap="square" lIns="0" tIns="0" rIns="0" bIns="0" rtlCol="0" anchor="ctr"/>
          <a:lstStyle/>
          <a:p>
            <a:pPr algn="ctr" indent="0" marL="0">
              <a:buNone/>
            </a:pPr>
            <a:r>
              <a:rPr lang="en-US" sz="1000" i="1" dirty="0">
                <a:solidFill>
                  <a:srgbClr val="B6AD90"/>
                </a:solidFill>
                <a:latin typeface="Calibri" pitchFamily="34" charset="0"/>
                <a:ea typeface="Calibri" pitchFamily="34" charset="-122"/>
                <a:cs typeface="Calibri" pitchFamily="34" charset="-120"/>
              </a:rPr>
              <a:t>Roles are enforced server-side, not in the UI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07 · ARCHITECTURE</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Every API route is the security boundary — on purpose.</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The browser can never reach Postgres. That is a deliberate trade, and it comes with a cost I had to own.</a:t>
            </a:r>
            <a:endParaRPr lang="en-US" sz="1350" dirty="0"/>
          </a:p>
        </p:txBody>
      </p:sp>
      <p:sp>
        <p:nvSpPr>
          <p:cNvPr id="5" name="Shape 3"/>
          <p:cNvSpPr/>
          <p:nvPr/>
        </p:nvSpPr>
        <p:spPr>
          <a:xfrm>
            <a:off x="685800" y="2212848"/>
            <a:ext cx="6784848" cy="896112"/>
          </a:xfrm>
          <a:prstGeom prst="roundRect">
            <a:avLst>
              <a:gd name="adj" fmla="val 8163"/>
            </a:avLst>
          </a:prstGeom>
          <a:solidFill>
            <a:srgbClr val="F5F0E2"/>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896112" y="2340864"/>
            <a:ext cx="1371600" cy="237744"/>
          </a:xfrm>
          <a:prstGeom prst="rect">
            <a:avLst/>
          </a:prstGeom>
          <a:noFill/>
          <a:ln/>
        </p:spPr>
        <p:txBody>
          <a:bodyPr wrap="square" lIns="0" tIns="0" rIns="0" bIns="0" rtlCol="0" anchor="ctr"/>
          <a:lstStyle/>
          <a:p>
            <a:pPr indent="0" marL="0">
              <a:buNone/>
            </a:pPr>
            <a:r>
              <a:rPr lang="en-US" sz="900" b="1" spc="180" kern="0" dirty="0">
                <a:solidFill>
                  <a:srgbClr val="7F4F24"/>
                </a:solidFill>
                <a:latin typeface="Calibri" pitchFamily="34" charset="0"/>
                <a:ea typeface="Calibri" pitchFamily="34" charset="-122"/>
                <a:cs typeface="Calibri" pitchFamily="34" charset="-120"/>
              </a:rPr>
              <a:t>CLIENT</a:t>
            </a:r>
            <a:endParaRPr lang="en-US" sz="900" dirty="0"/>
          </a:p>
        </p:txBody>
      </p:sp>
      <p:sp>
        <p:nvSpPr>
          <p:cNvPr id="7" name="Text 5"/>
          <p:cNvSpPr/>
          <p:nvPr/>
        </p:nvSpPr>
        <p:spPr>
          <a:xfrm>
            <a:off x="896112" y="2560320"/>
            <a:ext cx="5577840" cy="256032"/>
          </a:xfrm>
          <a:prstGeom prst="rect">
            <a:avLst/>
          </a:prstGeom>
          <a:noFill/>
          <a:ln/>
        </p:spPr>
        <p:txBody>
          <a:bodyPr wrap="square" lIns="0" tIns="0" rIns="0" bIns="0" rtlCol="0" anchor="ctr"/>
          <a:lstStyle/>
          <a:p>
            <a:pPr indent="0" marL="0">
              <a:buNone/>
            </a:pPr>
            <a:r>
              <a:rPr lang="en-US" sz="1300" b="1" dirty="0">
                <a:solidFill>
                  <a:srgbClr val="333D29"/>
                </a:solidFill>
                <a:latin typeface="Calibri" pitchFamily="34" charset="0"/>
                <a:ea typeface="Calibri" pitchFamily="34" charset="-122"/>
                <a:cs typeface="Calibri" pitchFamily="34" charset="-120"/>
              </a:rPr>
              <a:t>Next.js 16 App Router · React 19 · Tailwind v4</a:t>
            </a:r>
            <a:endParaRPr lang="en-US" sz="1300" dirty="0"/>
          </a:p>
        </p:txBody>
      </p:sp>
      <p:sp>
        <p:nvSpPr>
          <p:cNvPr id="8" name="Text 6"/>
          <p:cNvSpPr/>
          <p:nvPr/>
        </p:nvSpPr>
        <p:spPr>
          <a:xfrm>
            <a:off x="896112" y="2816352"/>
            <a:ext cx="5943600" cy="237744"/>
          </a:xfrm>
          <a:prstGeom prst="rect">
            <a:avLst/>
          </a:prstGeom>
          <a:noFill/>
          <a:ln/>
        </p:spPr>
        <p:txBody>
          <a:bodyPr wrap="square" lIns="0" tIns="0" rIns="0" bIns="0" rtlCol="0" anchor="ctr"/>
          <a:lstStyle/>
          <a:p>
            <a:pPr indent="0" marL="0">
              <a:buNone/>
            </a:pPr>
            <a:r>
              <a:rPr lang="en-US" sz="1000" dirty="0">
                <a:solidFill>
                  <a:srgbClr val="656D4A"/>
                </a:solidFill>
                <a:latin typeface="Calibri" pitchFamily="34" charset="0"/>
                <a:ea typeface="Calibri" pitchFamily="34" charset="-122"/>
                <a:cs typeface="Calibri" pitchFamily="34" charset="-120"/>
              </a:rPr>
              <a:t>62 pages across marketing, auth and four dashboards</a:t>
            </a:r>
            <a:endParaRPr lang="en-US" sz="1000" dirty="0"/>
          </a:p>
        </p:txBody>
      </p:sp>
      <p:sp>
        <p:nvSpPr>
          <p:cNvPr id="9" name="Shape 7"/>
          <p:cNvSpPr/>
          <p:nvPr/>
        </p:nvSpPr>
        <p:spPr>
          <a:xfrm>
            <a:off x="685800" y="3218688"/>
            <a:ext cx="6784848" cy="896112"/>
          </a:xfrm>
          <a:prstGeom prst="roundRect">
            <a:avLst>
              <a:gd name="adj" fmla="val 816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0" name="Text 8"/>
          <p:cNvSpPr/>
          <p:nvPr/>
        </p:nvSpPr>
        <p:spPr>
          <a:xfrm>
            <a:off x="896112" y="3346704"/>
            <a:ext cx="1371600" cy="237744"/>
          </a:xfrm>
          <a:prstGeom prst="rect">
            <a:avLst/>
          </a:prstGeom>
          <a:noFill/>
          <a:ln/>
        </p:spPr>
        <p:txBody>
          <a:bodyPr wrap="square" lIns="0" tIns="0" rIns="0" bIns="0" rtlCol="0" anchor="ctr"/>
          <a:lstStyle/>
          <a:p>
            <a:pPr indent="0" marL="0">
              <a:buNone/>
            </a:pPr>
            <a:r>
              <a:rPr lang="en-US" sz="900" b="1" spc="180" kern="0" dirty="0">
                <a:solidFill>
                  <a:srgbClr val="7F4F24"/>
                </a:solidFill>
                <a:latin typeface="Calibri" pitchFamily="34" charset="0"/>
                <a:ea typeface="Calibri" pitchFamily="34" charset="-122"/>
                <a:cs typeface="Calibri" pitchFamily="34" charset="-120"/>
              </a:rPr>
              <a:t>IDENTITY</a:t>
            </a:r>
            <a:endParaRPr lang="en-US" sz="900" dirty="0"/>
          </a:p>
        </p:txBody>
      </p:sp>
      <p:sp>
        <p:nvSpPr>
          <p:cNvPr id="11" name="Text 9"/>
          <p:cNvSpPr/>
          <p:nvPr/>
        </p:nvSpPr>
        <p:spPr>
          <a:xfrm>
            <a:off x="896112" y="3566160"/>
            <a:ext cx="5577840" cy="256032"/>
          </a:xfrm>
          <a:prstGeom prst="rect">
            <a:avLst/>
          </a:prstGeom>
          <a:noFill/>
          <a:ln/>
        </p:spPr>
        <p:txBody>
          <a:bodyPr wrap="square" lIns="0" tIns="0" rIns="0" bIns="0" rtlCol="0" anchor="ctr"/>
          <a:lstStyle/>
          <a:p>
            <a:pPr indent="0" marL="0">
              <a:buNone/>
            </a:pPr>
            <a:r>
              <a:rPr lang="en-US" sz="1300" b="1" dirty="0">
                <a:solidFill>
                  <a:srgbClr val="333D29"/>
                </a:solidFill>
                <a:latin typeface="Calibri" pitchFamily="34" charset="0"/>
                <a:ea typeface="Calibri" pitchFamily="34" charset="-122"/>
                <a:cs typeface="Calibri" pitchFamily="34" charset="-120"/>
              </a:rPr>
              <a:t>Clerk authentication + webhook role sync</a:t>
            </a:r>
            <a:endParaRPr lang="en-US" sz="1300" dirty="0"/>
          </a:p>
        </p:txBody>
      </p:sp>
      <p:sp>
        <p:nvSpPr>
          <p:cNvPr id="12" name="Text 10"/>
          <p:cNvSpPr/>
          <p:nvPr/>
        </p:nvSpPr>
        <p:spPr>
          <a:xfrm>
            <a:off x="896112" y="3822192"/>
            <a:ext cx="5943600" cy="237744"/>
          </a:xfrm>
          <a:prstGeom prst="rect">
            <a:avLst/>
          </a:prstGeom>
          <a:noFill/>
          <a:ln/>
        </p:spPr>
        <p:txBody>
          <a:bodyPr wrap="square" lIns="0" tIns="0" rIns="0" bIns="0" rtlCol="0" anchor="ctr"/>
          <a:lstStyle/>
          <a:p>
            <a:pPr indent="0" marL="0">
              <a:buNone/>
            </a:pPr>
            <a:r>
              <a:rPr lang="en-US" sz="1000" dirty="0">
                <a:solidFill>
                  <a:srgbClr val="656D4A"/>
                </a:solidFill>
                <a:latin typeface="Calibri" pitchFamily="34" charset="0"/>
                <a:ea typeface="Calibri" pitchFamily="34" charset="-122"/>
                <a:cs typeface="Calibri" pitchFamily="34" charset="-120"/>
              </a:rPr>
              <a:t>Supabase role state is authoritative; Clerk metadata follows</a:t>
            </a:r>
            <a:endParaRPr lang="en-US" sz="1000" dirty="0"/>
          </a:p>
        </p:txBody>
      </p:sp>
      <p:sp>
        <p:nvSpPr>
          <p:cNvPr id="13" name="Shape 11"/>
          <p:cNvSpPr/>
          <p:nvPr/>
        </p:nvSpPr>
        <p:spPr>
          <a:xfrm>
            <a:off x="685800" y="4224528"/>
            <a:ext cx="6784848" cy="896112"/>
          </a:xfrm>
          <a:prstGeom prst="roundRect">
            <a:avLst>
              <a:gd name="adj" fmla="val 8163"/>
            </a:avLst>
          </a:prstGeom>
          <a:solidFill>
            <a:srgbClr val="7F4F24"/>
          </a:solidFill>
          <a:ln w="9525">
            <a:solidFill>
              <a:srgbClr val="7F4F24"/>
            </a:solidFill>
            <a:prstDash val="solid"/>
          </a:ln>
          <a:effectLst>
            <a:outerShdw sx="100000" sy="100000" kx="0" ky="0" algn="bl" rotWithShape="0" blurRad="177800" dist="38100" dir="5400000">
              <a:srgbClr val="1F2618">
                <a:alpha val="13000"/>
              </a:srgbClr>
            </a:outerShdw>
          </a:effectLst>
        </p:spPr>
      </p:sp>
      <p:sp>
        <p:nvSpPr>
          <p:cNvPr id="14" name="Text 12"/>
          <p:cNvSpPr/>
          <p:nvPr/>
        </p:nvSpPr>
        <p:spPr>
          <a:xfrm>
            <a:off x="896112" y="4352544"/>
            <a:ext cx="1371600" cy="237744"/>
          </a:xfrm>
          <a:prstGeom prst="rect">
            <a:avLst/>
          </a:prstGeom>
          <a:noFill/>
          <a:ln/>
        </p:spPr>
        <p:txBody>
          <a:bodyPr wrap="square" lIns="0" tIns="0" rIns="0" bIns="0" rtlCol="0" anchor="ctr"/>
          <a:lstStyle/>
          <a:p>
            <a:pPr indent="0" marL="0">
              <a:buNone/>
            </a:pPr>
            <a:r>
              <a:rPr lang="en-US" sz="900" b="1" spc="180" kern="0" dirty="0">
                <a:solidFill>
                  <a:srgbClr val="A68A64"/>
                </a:solidFill>
                <a:latin typeface="Calibri" pitchFamily="34" charset="0"/>
                <a:ea typeface="Calibri" pitchFamily="34" charset="-122"/>
                <a:cs typeface="Calibri" pitchFamily="34" charset="-120"/>
              </a:rPr>
              <a:t>BOUNDARY</a:t>
            </a:r>
            <a:endParaRPr lang="en-US" sz="900" dirty="0"/>
          </a:p>
        </p:txBody>
      </p:sp>
      <p:sp>
        <p:nvSpPr>
          <p:cNvPr id="15" name="Text 13"/>
          <p:cNvSpPr/>
          <p:nvPr/>
        </p:nvSpPr>
        <p:spPr>
          <a:xfrm>
            <a:off x="896112" y="4572000"/>
            <a:ext cx="5577840" cy="256032"/>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59 server route handlers</a:t>
            </a:r>
            <a:endParaRPr lang="en-US" sz="1300" dirty="0"/>
          </a:p>
        </p:txBody>
      </p:sp>
      <p:sp>
        <p:nvSpPr>
          <p:cNvPr id="16" name="Text 14"/>
          <p:cNvSpPr/>
          <p:nvPr/>
        </p:nvSpPr>
        <p:spPr>
          <a:xfrm>
            <a:off x="896112" y="4828032"/>
            <a:ext cx="5943600" cy="237744"/>
          </a:xfrm>
          <a:prstGeom prst="rect">
            <a:avLst/>
          </a:prstGeom>
          <a:noFill/>
          <a:ln/>
        </p:spPr>
        <p:txBody>
          <a:bodyPr wrap="square" lIns="0" tIns="0" rIns="0" bIns="0" rtlCol="0" anchor="ctr"/>
          <a:lstStyle/>
          <a:p>
            <a:pPr indent="0" marL="0">
              <a:buNone/>
            </a:pPr>
            <a:r>
              <a:rPr lang="en-US" sz="1000" dirty="0">
                <a:solidFill>
                  <a:srgbClr val="B6AD90"/>
                </a:solidFill>
                <a:latin typeface="Calibri" pitchFamily="34" charset="0"/>
                <a:ea typeface="Calibri" pitchFamily="34" charset="-122"/>
                <a:cs typeface="Calibri" pitchFamily="34" charset="-120"/>
              </a:rPr>
              <a:t>Ownership re-queried server-side — client IDs are never trusted</a:t>
            </a:r>
            <a:endParaRPr lang="en-US" sz="1000" dirty="0"/>
          </a:p>
        </p:txBody>
      </p:sp>
      <p:sp>
        <p:nvSpPr>
          <p:cNvPr id="17" name="Shape 15"/>
          <p:cNvSpPr/>
          <p:nvPr/>
        </p:nvSpPr>
        <p:spPr>
          <a:xfrm>
            <a:off x="685800" y="5230368"/>
            <a:ext cx="6784848" cy="896112"/>
          </a:xfrm>
          <a:prstGeom prst="roundRect">
            <a:avLst>
              <a:gd name="adj" fmla="val 8163"/>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18" name="Text 16"/>
          <p:cNvSpPr/>
          <p:nvPr/>
        </p:nvSpPr>
        <p:spPr>
          <a:xfrm>
            <a:off x="896112" y="5358384"/>
            <a:ext cx="1371600" cy="237744"/>
          </a:xfrm>
          <a:prstGeom prst="rect">
            <a:avLst/>
          </a:prstGeom>
          <a:noFill/>
          <a:ln/>
        </p:spPr>
        <p:txBody>
          <a:bodyPr wrap="square" lIns="0" tIns="0" rIns="0" bIns="0" rtlCol="0" anchor="ctr"/>
          <a:lstStyle/>
          <a:p>
            <a:pPr indent="0" marL="0">
              <a:buNone/>
            </a:pPr>
            <a:r>
              <a:rPr lang="en-US" sz="900" b="1" spc="180" kern="0" dirty="0">
                <a:solidFill>
                  <a:srgbClr val="A68A64"/>
                </a:solidFill>
                <a:latin typeface="Calibri" pitchFamily="34" charset="0"/>
                <a:ea typeface="Calibri" pitchFamily="34" charset="-122"/>
                <a:cs typeface="Calibri" pitchFamily="34" charset="-120"/>
              </a:rPr>
              <a:t>DATA</a:t>
            </a:r>
            <a:endParaRPr lang="en-US" sz="900" dirty="0"/>
          </a:p>
        </p:txBody>
      </p:sp>
      <p:sp>
        <p:nvSpPr>
          <p:cNvPr id="19" name="Text 17"/>
          <p:cNvSpPr/>
          <p:nvPr/>
        </p:nvSpPr>
        <p:spPr>
          <a:xfrm>
            <a:off x="896112" y="5577840"/>
            <a:ext cx="5577840" cy="256032"/>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Supabase Postgres + Storage</a:t>
            </a:r>
            <a:endParaRPr lang="en-US" sz="1300" dirty="0"/>
          </a:p>
        </p:txBody>
      </p:sp>
      <p:sp>
        <p:nvSpPr>
          <p:cNvPr id="20" name="Text 18"/>
          <p:cNvSpPr/>
          <p:nvPr/>
        </p:nvSpPr>
        <p:spPr>
          <a:xfrm>
            <a:off x="896112" y="5833872"/>
            <a:ext cx="5943600" cy="237744"/>
          </a:xfrm>
          <a:prstGeom prst="rect">
            <a:avLst/>
          </a:prstGeom>
          <a:noFill/>
          <a:ln/>
        </p:spPr>
        <p:txBody>
          <a:bodyPr wrap="square" lIns="0" tIns="0" rIns="0" bIns="0" rtlCol="0" anchor="ctr"/>
          <a:lstStyle/>
          <a:p>
            <a:pPr indent="0" marL="0">
              <a:buNone/>
            </a:pPr>
            <a:r>
              <a:rPr lang="en-US" sz="1000" dirty="0">
                <a:solidFill>
                  <a:srgbClr val="B6AD90"/>
                </a:solidFill>
                <a:latin typeface="Calibri" pitchFamily="34" charset="0"/>
                <a:ea typeface="Calibri" pitchFamily="34" charset="-122"/>
                <a:cs typeface="Calibri" pitchFamily="34" charset="-120"/>
              </a:rPr>
              <a:t>RLS enabled with zero policies; all anon/authenticated grants revoked</a:t>
            </a:r>
            <a:endParaRPr lang="en-US" sz="1000" dirty="0"/>
          </a:p>
        </p:txBody>
      </p:sp>
      <p:sp>
        <p:nvSpPr>
          <p:cNvPr id="21" name="Shape 19"/>
          <p:cNvSpPr/>
          <p:nvPr/>
        </p:nvSpPr>
        <p:spPr>
          <a:xfrm>
            <a:off x="7818120" y="2212848"/>
            <a:ext cx="3685032" cy="3712464"/>
          </a:xfrm>
          <a:prstGeom prst="roundRect">
            <a:avLst>
              <a:gd name="adj" fmla="val 2481"/>
            </a:avLst>
          </a:prstGeom>
          <a:solidFill>
            <a:srgbClr val="EBE3CE"/>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2" name="Text 20"/>
          <p:cNvSpPr/>
          <p:nvPr/>
        </p:nvSpPr>
        <p:spPr>
          <a:xfrm>
            <a:off x="8092440" y="2450592"/>
            <a:ext cx="3108960" cy="237744"/>
          </a:xfrm>
          <a:prstGeom prst="rect">
            <a:avLst/>
          </a:prstGeom>
          <a:noFill/>
          <a:ln/>
        </p:spPr>
        <p:txBody>
          <a:bodyPr wrap="square" lIns="0" tIns="0" rIns="0" bIns="0" rtlCol="0" anchor="ctr"/>
          <a:lstStyle/>
          <a:p>
            <a:pPr indent="0" marL="0">
              <a:buNone/>
            </a:pPr>
            <a:r>
              <a:rPr lang="en-US" sz="950" b="1" spc="200" kern="0" dirty="0">
                <a:solidFill>
                  <a:srgbClr val="7F4F24"/>
                </a:solidFill>
                <a:latin typeface="Calibri" pitchFamily="34" charset="0"/>
                <a:ea typeface="Calibri" pitchFamily="34" charset="-122"/>
                <a:cs typeface="Calibri" pitchFamily="34" charset="-120"/>
              </a:rPr>
              <a:t>THE TRADE-OFF</a:t>
            </a:r>
            <a:endParaRPr lang="en-US" sz="950" dirty="0"/>
          </a:p>
        </p:txBody>
      </p:sp>
      <p:sp>
        <p:nvSpPr>
          <p:cNvPr id="23" name="Text 21"/>
          <p:cNvSpPr/>
          <p:nvPr/>
        </p:nvSpPr>
        <p:spPr>
          <a:xfrm>
            <a:off x="8092440" y="2743200"/>
            <a:ext cx="3145536" cy="658368"/>
          </a:xfrm>
          <a:prstGeom prst="rect">
            <a:avLst/>
          </a:prstGeom>
          <a:noFill/>
          <a:ln/>
        </p:spPr>
        <p:txBody>
          <a:bodyPr wrap="square" lIns="0" tIns="0" rIns="0" bIns="0" rtlCol="0" anchor="ctr"/>
          <a:lstStyle/>
          <a:p>
            <a:pPr indent="0" marL="0">
              <a:lnSpc>
                <a:spcPct val="100000"/>
              </a:lnSpc>
              <a:buNone/>
            </a:pPr>
            <a:r>
              <a:rPr lang="en-US" sz="1700" b="1" dirty="0">
                <a:solidFill>
                  <a:srgbClr val="333D29"/>
                </a:solidFill>
                <a:latin typeface="Cambria" pitchFamily="34" charset="0"/>
                <a:ea typeface="Cambria" pitchFamily="34" charset="-122"/>
                <a:cs typeface="Cambria" pitchFamily="34" charset="-120"/>
              </a:rPr>
              <a:t>There is no second line of defence.</a:t>
            </a:r>
            <a:endParaRPr lang="en-US" sz="1700" dirty="0"/>
          </a:p>
        </p:txBody>
      </p:sp>
      <p:sp>
        <p:nvSpPr>
          <p:cNvPr id="24" name="Text 22"/>
          <p:cNvSpPr/>
          <p:nvPr/>
        </p:nvSpPr>
        <p:spPr>
          <a:xfrm>
            <a:off x="8092440" y="3456432"/>
            <a:ext cx="3145536" cy="2194560"/>
          </a:xfrm>
          <a:prstGeom prst="rect">
            <a:avLst/>
          </a:prstGeom>
          <a:noFill/>
          <a:ln/>
        </p:spPr>
        <p:txBody>
          <a:bodyPr wrap="square" lIns="0" tIns="0" rIns="0" bIns="0" rtlCol="0" anchor="ctr"/>
          <a:lstStyle/>
          <a:p>
            <a:pPr indent="0" marL="0">
              <a:lnSpc>
                <a:spcPct val="108000"/>
              </a:lnSpc>
              <a:buNone/>
            </a:pPr>
            <a:r>
              <a:rPr lang="en-US" sz="1100" dirty="0">
                <a:solidFill>
                  <a:srgbClr val="333D29"/>
                </a:solidFill>
                <a:latin typeface="Calibri" pitchFamily="34" charset="0"/>
                <a:ea typeface="Calibri" pitchFamily="34" charset="-122"/>
                <a:cs typeface="Calibri" pitchFamily="34" charset="-120"/>
              </a:rPr>
              <a:t>Because every handler uses the service role, RLS cannot catch a mistake. One missing ownership filter would be a cross-tenant leak.</a:t>
            </a:r>
            <a:endParaRPr lang="en-US" sz="1100" dirty="0"/>
          </a:p>
          <a:p>
            <a:pPr indent="0" marL="0">
              <a:lnSpc>
                <a:spcPct val="108000"/>
              </a:lnSpc>
              <a:buNone/>
            </a:pPr>
            <a:endParaRPr lang="en-US" sz="1100" dirty="0"/>
          </a:p>
          <a:p>
            <a:pPr indent="0" marL="0">
              <a:lnSpc>
                <a:spcPct val="108000"/>
              </a:lnSpc>
              <a:buNone/>
            </a:pPr>
            <a:r>
              <a:rPr lang="en-US" sz="1100" dirty="0">
                <a:solidFill>
                  <a:srgbClr val="333D29"/>
                </a:solidFill>
                <a:latin typeface="Calibri" pitchFamily="34" charset="0"/>
                <a:ea typeface="Calibri" pitchFamily="34" charset="-122"/>
                <a:cs typeface="Calibri" pitchFamily="34" charset="-120"/>
              </a:rPr>
              <a:t>So ownership is re-queried from the database on every scoped read and write, and I audited all 59 handlers specifically for that filter.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08 · DATA MODEL</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The schema changed 25 times — every change reviewed.</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Migrations in version control, applied through a scripted remote workflow. No fixes typed into a dashboard.</a:t>
            </a:r>
            <a:endParaRPr lang="en-US" sz="1350" dirty="0"/>
          </a:p>
        </p:txBody>
      </p:sp>
      <p:sp>
        <p:nvSpPr>
          <p:cNvPr id="5" name="Shape 3"/>
          <p:cNvSpPr/>
          <p:nvPr/>
        </p:nvSpPr>
        <p:spPr>
          <a:xfrm>
            <a:off x="685800" y="2231136"/>
            <a:ext cx="3968496" cy="3712464"/>
          </a:xfrm>
          <a:prstGeom prst="roundRect">
            <a:avLst>
              <a:gd name="adj" fmla="val 2463"/>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960120" y="2432304"/>
            <a:ext cx="3383280" cy="914400"/>
          </a:xfrm>
          <a:prstGeom prst="rect">
            <a:avLst/>
          </a:prstGeom>
          <a:noFill/>
          <a:ln/>
        </p:spPr>
        <p:txBody>
          <a:bodyPr wrap="square" lIns="0" tIns="0" rIns="0" bIns="0" rtlCol="0" anchor="ctr"/>
          <a:lstStyle/>
          <a:p>
            <a:pPr indent="0" marL="0">
              <a:buNone/>
            </a:pPr>
            <a:r>
              <a:rPr lang="en-US" sz="5800" b="1" dirty="0">
                <a:solidFill>
                  <a:srgbClr val="A68A64"/>
                </a:solidFill>
                <a:latin typeface="Cambria" pitchFamily="34" charset="0"/>
                <a:ea typeface="Cambria" pitchFamily="34" charset="-122"/>
                <a:cs typeface="Cambria" pitchFamily="34" charset="-120"/>
              </a:rPr>
              <a:t>25</a:t>
            </a:r>
            <a:endParaRPr lang="en-US" sz="5800" dirty="0"/>
          </a:p>
        </p:txBody>
      </p:sp>
      <p:sp>
        <p:nvSpPr>
          <p:cNvPr id="7" name="Text 5"/>
          <p:cNvSpPr/>
          <p:nvPr/>
        </p:nvSpPr>
        <p:spPr>
          <a:xfrm>
            <a:off x="960120" y="3346704"/>
            <a:ext cx="3383280" cy="274320"/>
          </a:xfrm>
          <a:prstGeom prst="rect">
            <a:avLst/>
          </a:prstGeom>
          <a:noFill/>
          <a:ln/>
        </p:spPr>
        <p:txBody>
          <a:bodyPr wrap="square" lIns="0" tIns="0" rIns="0" bIns="0" rtlCol="0" anchor="ctr"/>
          <a:lstStyle/>
          <a:p>
            <a:pPr indent="0" marL="0">
              <a:buNone/>
            </a:pPr>
            <a:r>
              <a:rPr lang="en-US" sz="1350" b="1" dirty="0">
                <a:solidFill>
                  <a:srgbClr val="F5F0E2"/>
                </a:solidFill>
                <a:latin typeface="Calibri" pitchFamily="34" charset="0"/>
                <a:ea typeface="Calibri" pitchFamily="34" charset="-122"/>
                <a:cs typeface="Calibri" pitchFamily="34" charset="-120"/>
              </a:rPr>
              <a:t>tracked migrations</a:t>
            </a:r>
            <a:endParaRPr lang="en-US" sz="1350" dirty="0"/>
          </a:p>
        </p:txBody>
      </p:sp>
      <p:sp>
        <p:nvSpPr>
          <p:cNvPr id="8" name="Text 6"/>
          <p:cNvSpPr/>
          <p:nvPr/>
        </p:nvSpPr>
        <p:spPr>
          <a:xfrm>
            <a:off x="960120" y="3877056"/>
            <a:ext cx="658368" cy="329184"/>
          </a:xfrm>
          <a:prstGeom prst="rect">
            <a:avLst/>
          </a:prstGeom>
          <a:noFill/>
          <a:ln/>
        </p:spPr>
        <p:txBody>
          <a:bodyPr wrap="square" lIns="0" tIns="0" rIns="0" bIns="0" rtlCol="0" anchor="ctr"/>
          <a:lstStyle/>
          <a:p>
            <a:pPr indent="0" marL="0">
              <a:buNone/>
            </a:pPr>
            <a:r>
              <a:rPr lang="en-US" sz="2200" b="1" dirty="0">
                <a:solidFill>
                  <a:srgbClr val="A4AC86"/>
                </a:solidFill>
                <a:latin typeface="Cambria" pitchFamily="34" charset="0"/>
                <a:ea typeface="Cambria" pitchFamily="34" charset="-122"/>
                <a:cs typeface="Cambria" pitchFamily="34" charset="-120"/>
              </a:rPr>
              <a:t>27</a:t>
            </a:r>
            <a:endParaRPr lang="en-US" sz="2200" dirty="0"/>
          </a:p>
        </p:txBody>
      </p:sp>
      <p:sp>
        <p:nvSpPr>
          <p:cNvPr id="9" name="Text 7"/>
          <p:cNvSpPr/>
          <p:nvPr/>
        </p:nvSpPr>
        <p:spPr>
          <a:xfrm>
            <a:off x="1645920" y="3913632"/>
            <a:ext cx="2724912" cy="402336"/>
          </a:xfrm>
          <a:prstGeom prst="rect">
            <a:avLst/>
          </a:prstGeom>
          <a:noFill/>
          <a:ln/>
        </p:spPr>
        <p:txBody>
          <a:bodyPr wrap="square" lIns="0" tIns="0" rIns="0" bIns="0" rtlCol="0" anchor="ctr"/>
          <a:lstStyle/>
          <a:p>
            <a:pPr indent="0" marL="0">
              <a:lnSpc>
                <a:spcPct val="100000"/>
              </a:lnSpc>
              <a:buNone/>
            </a:pPr>
            <a:r>
              <a:rPr lang="en-US" sz="1100" dirty="0">
                <a:solidFill>
                  <a:srgbClr val="B6AD90"/>
                </a:solidFill>
                <a:latin typeface="Calibri" pitchFamily="34" charset="0"/>
                <a:ea typeface="Calibri" pitchFamily="34" charset="-122"/>
                <a:cs typeface="Calibri" pitchFamily="34" charset="-120"/>
              </a:rPr>
              <a:t>tables under version control</a:t>
            </a:r>
            <a:endParaRPr lang="en-US" sz="1100" dirty="0"/>
          </a:p>
        </p:txBody>
      </p:sp>
      <p:sp>
        <p:nvSpPr>
          <p:cNvPr id="10" name="Text 8"/>
          <p:cNvSpPr/>
          <p:nvPr/>
        </p:nvSpPr>
        <p:spPr>
          <a:xfrm>
            <a:off x="960120" y="4535424"/>
            <a:ext cx="658368" cy="329184"/>
          </a:xfrm>
          <a:prstGeom prst="rect">
            <a:avLst/>
          </a:prstGeom>
          <a:noFill/>
          <a:ln/>
        </p:spPr>
        <p:txBody>
          <a:bodyPr wrap="square" lIns="0" tIns="0" rIns="0" bIns="0" rtlCol="0" anchor="ctr"/>
          <a:lstStyle/>
          <a:p>
            <a:pPr indent="0" marL="0">
              <a:buNone/>
            </a:pPr>
            <a:r>
              <a:rPr lang="en-US" sz="2200" b="1" dirty="0">
                <a:solidFill>
                  <a:srgbClr val="A4AC86"/>
                </a:solidFill>
                <a:latin typeface="Cambria" pitchFamily="34" charset="0"/>
                <a:ea typeface="Cambria" pitchFamily="34" charset="-122"/>
                <a:cs typeface="Cambria" pitchFamily="34" charset="-120"/>
              </a:rPr>
              <a:t>6</a:t>
            </a:r>
            <a:endParaRPr lang="en-US" sz="2200" dirty="0"/>
          </a:p>
        </p:txBody>
      </p:sp>
      <p:sp>
        <p:nvSpPr>
          <p:cNvPr id="11" name="Text 9"/>
          <p:cNvSpPr/>
          <p:nvPr/>
        </p:nvSpPr>
        <p:spPr>
          <a:xfrm>
            <a:off x="1645920" y="4572000"/>
            <a:ext cx="2724912" cy="402336"/>
          </a:xfrm>
          <a:prstGeom prst="rect">
            <a:avLst/>
          </a:prstGeom>
          <a:noFill/>
          <a:ln/>
        </p:spPr>
        <p:txBody>
          <a:bodyPr wrap="square" lIns="0" tIns="0" rIns="0" bIns="0" rtlCol="0" anchor="ctr"/>
          <a:lstStyle/>
          <a:p>
            <a:pPr indent="0" marL="0">
              <a:lnSpc>
                <a:spcPct val="100000"/>
              </a:lnSpc>
              <a:buNone/>
            </a:pPr>
            <a:r>
              <a:rPr lang="en-US" sz="1100" dirty="0">
                <a:solidFill>
                  <a:srgbClr val="B6AD90"/>
                </a:solidFill>
                <a:latin typeface="Calibri" pitchFamily="34" charset="0"/>
                <a:ea typeface="Calibri" pitchFamily="34" charset="-122"/>
                <a:cs typeface="Calibri" pitchFamily="34" charset="-120"/>
              </a:rPr>
              <a:t>months of continuous schema evolution</a:t>
            </a:r>
            <a:endParaRPr lang="en-US" sz="1100" dirty="0"/>
          </a:p>
        </p:txBody>
      </p:sp>
      <p:sp>
        <p:nvSpPr>
          <p:cNvPr id="12" name="Text 10"/>
          <p:cNvSpPr/>
          <p:nvPr/>
        </p:nvSpPr>
        <p:spPr>
          <a:xfrm>
            <a:off x="960120" y="5193792"/>
            <a:ext cx="658368" cy="329184"/>
          </a:xfrm>
          <a:prstGeom prst="rect">
            <a:avLst/>
          </a:prstGeom>
          <a:noFill/>
          <a:ln/>
        </p:spPr>
        <p:txBody>
          <a:bodyPr wrap="square" lIns="0" tIns="0" rIns="0" bIns="0" rtlCol="0" anchor="ctr"/>
          <a:lstStyle/>
          <a:p>
            <a:pPr indent="0" marL="0">
              <a:buNone/>
            </a:pPr>
            <a:r>
              <a:rPr lang="en-US" sz="2200" b="1" dirty="0">
                <a:solidFill>
                  <a:srgbClr val="A4AC86"/>
                </a:solidFill>
                <a:latin typeface="Cambria" pitchFamily="34" charset="0"/>
                <a:ea typeface="Cambria" pitchFamily="34" charset="-122"/>
                <a:cs typeface="Cambria" pitchFamily="34" charset="-120"/>
              </a:rPr>
              <a:t>0</a:t>
            </a:r>
            <a:endParaRPr lang="en-US" sz="2200" dirty="0"/>
          </a:p>
        </p:txBody>
      </p:sp>
      <p:sp>
        <p:nvSpPr>
          <p:cNvPr id="13" name="Text 11"/>
          <p:cNvSpPr/>
          <p:nvPr/>
        </p:nvSpPr>
        <p:spPr>
          <a:xfrm>
            <a:off x="1645920" y="5230368"/>
            <a:ext cx="2724912" cy="402336"/>
          </a:xfrm>
          <a:prstGeom prst="rect">
            <a:avLst/>
          </a:prstGeom>
          <a:noFill/>
          <a:ln/>
        </p:spPr>
        <p:txBody>
          <a:bodyPr wrap="square" lIns="0" tIns="0" rIns="0" bIns="0" rtlCol="0" anchor="ctr"/>
          <a:lstStyle/>
          <a:p>
            <a:pPr indent="0" marL="0">
              <a:lnSpc>
                <a:spcPct val="100000"/>
              </a:lnSpc>
              <a:buNone/>
            </a:pPr>
            <a:r>
              <a:rPr lang="en-US" sz="1100" dirty="0">
                <a:solidFill>
                  <a:srgbClr val="B6AD90"/>
                </a:solidFill>
                <a:latin typeface="Calibri" pitchFamily="34" charset="0"/>
                <a:ea typeface="Calibri" pitchFamily="34" charset="-122"/>
                <a:cs typeface="Calibri" pitchFamily="34" charset="-120"/>
              </a:rPr>
              <a:t>schema changes made outside a migration</a:t>
            </a:r>
            <a:endParaRPr lang="en-US" sz="1100" dirty="0"/>
          </a:p>
        </p:txBody>
      </p:sp>
      <p:sp>
        <p:nvSpPr>
          <p:cNvPr id="14" name="Text 12"/>
          <p:cNvSpPr/>
          <p:nvPr/>
        </p:nvSpPr>
        <p:spPr>
          <a:xfrm>
            <a:off x="5047488" y="2231136"/>
            <a:ext cx="4754880" cy="237744"/>
          </a:xfrm>
          <a:prstGeom prst="rect">
            <a:avLst/>
          </a:prstGeom>
          <a:noFill/>
          <a:ln/>
        </p:spPr>
        <p:txBody>
          <a:bodyPr wrap="square" lIns="0" tIns="0" rIns="0" bIns="0" rtlCol="0" anchor="ctr"/>
          <a:lstStyle/>
          <a:p>
            <a:pPr indent="0" marL="0">
              <a:buNone/>
            </a:pPr>
            <a:r>
              <a:rPr lang="en-US" sz="950" b="1" spc="200" kern="0" dirty="0">
                <a:solidFill>
                  <a:srgbClr val="7F4F24"/>
                </a:solidFill>
                <a:latin typeface="Calibri" pitchFamily="34" charset="0"/>
                <a:ea typeface="Calibri" pitchFamily="34" charset="-122"/>
                <a:cs typeface="Calibri" pitchFamily="34" charset="-120"/>
              </a:rPr>
              <a:t>MIGRATIONS SHIPPED PER MONTH</a:t>
            </a:r>
            <a:endParaRPr lang="en-US" sz="950" dirty="0"/>
          </a:p>
        </p:txBody>
      </p:sp>
      <p:graphicFrame>
        <p:nvGraphicFramePr>
          <p:cNvPr id="15" name="Chart 0" descr=""/>
          <p:cNvGraphicFramePr/>
          <p:nvPr/>
        </p:nvGraphicFramePr>
        <p:xfrm>
          <a:off x="4864608" y="2523744"/>
          <a:ext cx="6638544" cy="1993392"/>
        </p:xfrm>
        <a:graphic xmlns:a="http://schemas.openxmlformats.org/drawingml/2006/main">
          <a:graphicData uri="http://schemas.openxmlformats.org/drawingml/2006/chart">
            <c:chart xmlns:c="http://schemas.openxmlformats.org/drawingml/2006/chart" r:id="rId2"/>
          </a:graphicData>
        </a:graphic>
      </p:graphicFrame>
      <p:sp>
        <p:nvSpPr>
          <p:cNvPr id="16" name="Shape 13"/>
          <p:cNvSpPr/>
          <p:nvPr/>
        </p:nvSpPr>
        <p:spPr>
          <a:xfrm>
            <a:off x="5047488" y="4718304"/>
            <a:ext cx="274320" cy="274320"/>
          </a:xfrm>
          <a:prstGeom prst="ellipse">
            <a:avLst/>
          </a:prstGeom>
          <a:solidFill>
            <a:srgbClr val="7F4F24"/>
          </a:solidFill>
          <a:ln w="12700">
            <a:solidFill>
              <a:srgbClr val="7F4F24"/>
            </a:solidFill>
            <a:prstDash val="solid"/>
          </a:ln>
        </p:spPr>
      </p:sp>
      <p:sp>
        <p:nvSpPr>
          <p:cNvPr id="17" name="Text 14"/>
          <p:cNvSpPr/>
          <p:nvPr/>
        </p:nvSpPr>
        <p:spPr>
          <a:xfrm>
            <a:off x="5047488" y="4718304"/>
            <a:ext cx="274320" cy="274320"/>
          </a:xfrm>
          <a:prstGeom prst="rect">
            <a:avLst/>
          </a:prstGeom>
          <a:noFill/>
          <a:ln/>
        </p:spPr>
        <p:txBody>
          <a:bodyPr wrap="square" lIns="0" tIns="0" rIns="0" bIns="0" rtlCol="0" anchor="ctr"/>
          <a:lstStyle/>
          <a:p>
            <a:pPr algn="ctr" indent="0" marL="0">
              <a:buNone/>
            </a:pPr>
            <a:r>
              <a:rPr lang="en-US" sz="1050" b="1" dirty="0">
                <a:solidFill>
                  <a:srgbClr val="F5F0E2"/>
                </a:solidFill>
                <a:latin typeface="Calibri" pitchFamily="34" charset="0"/>
                <a:ea typeface="Calibri" pitchFamily="34" charset="-122"/>
                <a:cs typeface="Calibri" pitchFamily="34" charset="-120"/>
              </a:rPr>
              <a:t>1</a:t>
            </a:r>
            <a:endParaRPr lang="en-US" sz="1050" dirty="0"/>
          </a:p>
        </p:txBody>
      </p:sp>
      <p:sp>
        <p:nvSpPr>
          <p:cNvPr id="18" name="Text 15"/>
          <p:cNvSpPr/>
          <p:nvPr/>
        </p:nvSpPr>
        <p:spPr>
          <a:xfrm>
            <a:off x="5449824" y="4681728"/>
            <a:ext cx="2286000" cy="256032"/>
          </a:xfrm>
          <a:prstGeom prst="rect">
            <a:avLst/>
          </a:prstGeom>
          <a:noFill/>
          <a:ln/>
        </p:spPr>
        <p:txBody>
          <a:bodyPr wrap="square" lIns="0" tIns="0" rIns="0" bIns="0" rtlCol="0" anchor="ctr"/>
          <a:lstStyle/>
          <a:p>
            <a:pPr indent="0" marL="0">
              <a:buNone/>
            </a:pPr>
            <a:r>
              <a:rPr lang="en-US" sz="1150" b="1" dirty="0">
                <a:solidFill>
                  <a:srgbClr val="333D29"/>
                </a:solidFill>
                <a:latin typeface="Calibri" pitchFamily="34" charset="0"/>
                <a:ea typeface="Calibri" pitchFamily="34" charset="-122"/>
                <a:cs typeface="Calibri" pitchFamily="34" charset="-120"/>
              </a:rPr>
              <a:t>Baseline &amp; roles</a:t>
            </a:r>
            <a:endParaRPr lang="en-US" sz="1150" dirty="0"/>
          </a:p>
        </p:txBody>
      </p:sp>
      <p:sp>
        <p:nvSpPr>
          <p:cNvPr id="19" name="Text 16"/>
          <p:cNvSpPr/>
          <p:nvPr/>
        </p:nvSpPr>
        <p:spPr>
          <a:xfrm>
            <a:off x="7772400" y="4681728"/>
            <a:ext cx="3730752" cy="310896"/>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Core schema, plus a manager role added without a rewrite.</a:t>
            </a:r>
            <a:endParaRPr lang="en-US" sz="1050" dirty="0"/>
          </a:p>
        </p:txBody>
      </p:sp>
      <p:sp>
        <p:nvSpPr>
          <p:cNvPr id="20" name="Shape 17"/>
          <p:cNvSpPr/>
          <p:nvPr/>
        </p:nvSpPr>
        <p:spPr>
          <a:xfrm>
            <a:off x="5047488" y="5138928"/>
            <a:ext cx="274320" cy="274320"/>
          </a:xfrm>
          <a:prstGeom prst="ellipse">
            <a:avLst/>
          </a:prstGeom>
          <a:solidFill>
            <a:srgbClr val="7F4F24"/>
          </a:solidFill>
          <a:ln w="12700">
            <a:solidFill>
              <a:srgbClr val="7F4F24"/>
            </a:solidFill>
            <a:prstDash val="solid"/>
          </a:ln>
        </p:spPr>
      </p:sp>
      <p:sp>
        <p:nvSpPr>
          <p:cNvPr id="21" name="Text 18"/>
          <p:cNvSpPr/>
          <p:nvPr/>
        </p:nvSpPr>
        <p:spPr>
          <a:xfrm>
            <a:off x="5047488" y="5138928"/>
            <a:ext cx="274320" cy="274320"/>
          </a:xfrm>
          <a:prstGeom prst="rect">
            <a:avLst/>
          </a:prstGeom>
          <a:noFill/>
          <a:ln/>
        </p:spPr>
        <p:txBody>
          <a:bodyPr wrap="square" lIns="0" tIns="0" rIns="0" bIns="0" rtlCol="0" anchor="ctr"/>
          <a:lstStyle/>
          <a:p>
            <a:pPr algn="ctr" indent="0" marL="0">
              <a:buNone/>
            </a:pPr>
            <a:r>
              <a:rPr lang="en-US" sz="1050" b="1" dirty="0">
                <a:solidFill>
                  <a:srgbClr val="F5F0E2"/>
                </a:solidFill>
                <a:latin typeface="Calibri" pitchFamily="34" charset="0"/>
                <a:ea typeface="Calibri" pitchFamily="34" charset="-122"/>
                <a:cs typeface="Calibri" pitchFamily="34" charset="-120"/>
              </a:rPr>
              <a:t>2</a:t>
            </a:r>
            <a:endParaRPr lang="en-US" sz="1050" dirty="0"/>
          </a:p>
        </p:txBody>
      </p:sp>
      <p:sp>
        <p:nvSpPr>
          <p:cNvPr id="22" name="Text 19"/>
          <p:cNvSpPr/>
          <p:nvPr/>
        </p:nvSpPr>
        <p:spPr>
          <a:xfrm>
            <a:off x="5449824" y="5102352"/>
            <a:ext cx="2286000" cy="256032"/>
          </a:xfrm>
          <a:prstGeom prst="rect">
            <a:avLst/>
          </a:prstGeom>
          <a:noFill/>
          <a:ln/>
        </p:spPr>
        <p:txBody>
          <a:bodyPr wrap="square" lIns="0" tIns="0" rIns="0" bIns="0" rtlCol="0" anchor="ctr"/>
          <a:lstStyle/>
          <a:p>
            <a:pPr indent="0" marL="0">
              <a:buNone/>
            </a:pPr>
            <a:r>
              <a:rPr lang="en-US" sz="1150" b="1" dirty="0">
                <a:solidFill>
                  <a:srgbClr val="333D29"/>
                </a:solidFill>
                <a:latin typeface="Calibri" pitchFamily="34" charset="0"/>
                <a:ea typeface="Calibri" pitchFamily="34" charset="-122"/>
                <a:cs typeface="Calibri" pitchFamily="34" charset="-120"/>
              </a:rPr>
              <a:t>Event platform layer</a:t>
            </a:r>
            <a:endParaRPr lang="en-US" sz="1150" dirty="0"/>
          </a:p>
        </p:txBody>
      </p:sp>
      <p:sp>
        <p:nvSpPr>
          <p:cNvPr id="23" name="Text 20"/>
          <p:cNvSpPr/>
          <p:nvPr/>
        </p:nvSpPr>
        <p:spPr>
          <a:xfrm>
            <a:off x="7772400" y="5102352"/>
            <a:ext cx="3730752" cy="310896"/>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Days, time blocks and requirement payloads.</a:t>
            </a:r>
            <a:endParaRPr lang="en-US" sz="1050" dirty="0"/>
          </a:p>
        </p:txBody>
      </p:sp>
      <p:sp>
        <p:nvSpPr>
          <p:cNvPr id="24" name="Shape 21"/>
          <p:cNvSpPr/>
          <p:nvPr/>
        </p:nvSpPr>
        <p:spPr>
          <a:xfrm>
            <a:off x="5047488" y="5559552"/>
            <a:ext cx="274320" cy="274320"/>
          </a:xfrm>
          <a:prstGeom prst="ellipse">
            <a:avLst/>
          </a:prstGeom>
          <a:solidFill>
            <a:srgbClr val="7F4F24"/>
          </a:solidFill>
          <a:ln w="12700">
            <a:solidFill>
              <a:srgbClr val="7F4F24"/>
            </a:solidFill>
            <a:prstDash val="solid"/>
          </a:ln>
        </p:spPr>
      </p:sp>
      <p:sp>
        <p:nvSpPr>
          <p:cNvPr id="25" name="Text 22"/>
          <p:cNvSpPr/>
          <p:nvPr/>
        </p:nvSpPr>
        <p:spPr>
          <a:xfrm>
            <a:off x="5047488" y="5559552"/>
            <a:ext cx="274320" cy="274320"/>
          </a:xfrm>
          <a:prstGeom prst="rect">
            <a:avLst/>
          </a:prstGeom>
          <a:noFill/>
          <a:ln/>
        </p:spPr>
        <p:txBody>
          <a:bodyPr wrap="square" lIns="0" tIns="0" rIns="0" bIns="0" rtlCol="0" anchor="ctr"/>
          <a:lstStyle/>
          <a:p>
            <a:pPr algn="ctr" indent="0" marL="0">
              <a:buNone/>
            </a:pPr>
            <a:r>
              <a:rPr lang="en-US" sz="1050" b="1" dirty="0">
                <a:solidFill>
                  <a:srgbClr val="F5F0E2"/>
                </a:solidFill>
                <a:latin typeface="Calibri" pitchFamily="34" charset="0"/>
                <a:ea typeface="Calibri" pitchFamily="34" charset="-122"/>
                <a:cs typeface="Calibri" pitchFamily="34" charset="-120"/>
              </a:rPr>
              <a:t>3</a:t>
            </a:r>
            <a:endParaRPr lang="en-US" sz="1050" dirty="0"/>
          </a:p>
        </p:txBody>
      </p:sp>
      <p:sp>
        <p:nvSpPr>
          <p:cNvPr id="26" name="Text 23"/>
          <p:cNvSpPr/>
          <p:nvPr/>
        </p:nvSpPr>
        <p:spPr>
          <a:xfrm>
            <a:off x="5449824" y="5522976"/>
            <a:ext cx="2286000" cy="256032"/>
          </a:xfrm>
          <a:prstGeom prst="rect">
            <a:avLst/>
          </a:prstGeom>
          <a:noFill/>
          <a:ln/>
        </p:spPr>
        <p:txBody>
          <a:bodyPr wrap="square" lIns="0" tIns="0" rIns="0" bIns="0" rtlCol="0" anchor="ctr"/>
          <a:lstStyle/>
          <a:p>
            <a:pPr indent="0" marL="0">
              <a:buNone/>
            </a:pPr>
            <a:r>
              <a:rPr lang="en-US" sz="1150" b="1" dirty="0">
                <a:solidFill>
                  <a:srgbClr val="333D29"/>
                </a:solidFill>
                <a:latin typeface="Calibri" pitchFamily="34" charset="0"/>
                <a:ea typeface="Calibri" pitchFamily="34" charset="-122"/>
                <a:cs typeface="Calibri" pitchFamily="34" charset="-120"/>
              </a:rPr>
              <a:t>Commercial model</a:t>
            </a:r>
            <a:endParaRPr lang="en-US" sz="1150" dirty="0"/>
          </a:p>
        </p:txBody>
      </p:sp>
      <p:sp>
        <p:nvSpPr>
          <p:cNvPr id="27" name="Text 24"/>
          <p:cNvSpPr/>
          <p:nvPr/>
        </p:nvSpPr>
        <p:spPr>
          <a:xfrm>
            <a:off x="7772400" y="5522976"/>
            <a:ext cx="3730752" cy="310896"/>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Vendor payout, flat fee and a generated final price.</a:t>
            </a:r>
            <a:endParaRPr lang="en-US" sz="1050" dirty="0"/>
          </a:p>
        </p:txBody>
      </p:sp>
      <p:sp>
        <p:nvSpPr>
          <p:cNvPr id="28" name="Shape 25"/>
          <p:cNvSpPr/>
          <p:nvPr/>
        </p:nvSpPr>
        <p:spPr>
          <a:xfrm>
            <a:off x="5047488" y="5980176"/>
            <a:ext cx="274320" cy="274320"/>
          </a:xfrm>
          <a:prstGeom prst="ellipse">
            <a:avLst/>
          </a:prstGeom>
          <a:solidFill>
            <a:srgbClr val="7F4F24"/>
          </a:solidFill>
          <a:ln w="12700">
            <a:solidFill>
              <a:srgbClr val="7F4F24"/>
            </a:solidFill>
            <a:prstDash val="solid"/>
          </a:ln>
        </p:spPr>
      </p:sp>
      <p:sp>
        <p:nvSpPr>
          <p:cNvPr id="29" name="Text 26"/>
          <p:cNvSpPr/>
          <p:nvPr/>
        </p:nvSpPr>
        <p:spPr>
          <a:xfrm>
            <a:off x="5047488" y="5980176"/>
            <a:ext cx="274320" cy="274320"/>
          </a:xfrm>
          <a:prstGeom prst="rect">
            <a:avLst/>
          </a:prstGeom>
          <a:noFill/>
          <a:ln/>
        </p:spPr>
        <p:txBody>
          <a:bodyPr wrap="square" lIns="0" tIns="0" rIns="0" bIns="0" rtlCol="0" anchor="ctr"/>
          <a:lstStyle/>
          <a:p>
            <a:pPr algn="ctr" indent="0" marL="0">
              <a:buNone/>
            </a:pPr>
            <a:r>
              <a:rPr lang="en-US" sz="1050" b="1" dirty="0">
                <a:solidFill>
                  <a:srgbClr val="F5F0E2"/>
                </a:solidFill>
                <a:latin typeface="Calibri" pitchFamily="34" charset="0"/>
                <a:ea typeface="Calibri" pitchFamily="34" charset="-122"/>
                <a:cs typeface="Calibri" pitchFamily="34" charset="-120"/>
              </a:rPr>
              <a:t>4</a:t>
            </a:r>
            <a:endParaRPr lang="en-US" sz="1050" dirty="0"/>
          </a:p>
        </p:txBody>
      </p:sp>
      <p:sp>
        <p:nvSpPr>
          <p:cNvPr id="30" name="Text 27"/>
          <p:cNvSpPr/>
          <p:nvPr/>
        </p:nvSpPr>
        <p:spPr>
          <a:xfrm>
            <a:off x="5449824" y="5943600"/>
            <a:ext cx="2286000" cy="256032"/>
          </a:xfrm>
          <a:prstGeom prst="rect">
            <a:avLst/>
          </a:prstGeom>
          <a:noFill/>
          <a:ln/>
        </p:spPr>
        <p:txBody>
          <a:bodyPr wrap="square" lIns="0" tIns="0" rIns="0" bIns="0" rtlCol="0" anchor="ctr"/>
          <a:lstStyle/>
          <a:p>
            <a:pPr indent="0" marL="0">
              <a:buNone/>
            </a:pPr>
            <a:r>
              <a:rPr lang="en-US" sz="1150" b="1" dirty="0">
                <a:solidFill>
                  <a:srgbClr val="333D29"/>
                </a:solidFill>
                <a:latin typeface="Calibri" pitchFamily="34" charset="0"/>
                <a:ea typeface="Calibri" pitchFamily="34" charset="-122"/>
                <a:cs typeface="Calibri" pitchFamily="34" charset="-120"/>
              </a:rPr>
              <a:t>Hardening wave</a:t>
            </a:r>
            <a:endParaRPr lang="en-US" sz="1150" dirty="0"/>
          </a:p>
        </p:txBody>
      </p:sp>
      <p:sp>
        <p:nvSpPr>
          <p:cNvPr id="31" name="Text 28"/>
          <p:cNvSpPr/>
          <p:nvPr/>
        </p:nvSpPr>
        <p:spPr>
          <a:xfrm>
            <a:off x="7772400" y="5943600"/>
            <a:ext cx="3730752" cy="310896"/>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Query-path indexes, identity history, payment validation.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09 · COMMERCIAL LOGIC</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Three roles, three different truths about one price.</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Vendors never negotiate in-app. The rule is enforced by database constraints, not by hiding a button.</a:t>
            </a:r>
            <a:endParaRPr lang="en-US" sz="1350" dirty="0"/>
          </a:p>
        </p:txBody>
      </p:sp>
      <p:sp>
        <p:nvSpPr>
          <p:cNvPr id="5" name="Shape 3"/>
          <p:cNvSpPr/>
          <p:nvPr/>
        </p:nvSpPr>
        <p:spPr>
          <a:xfrm>
            <a:off x="685800" y="2139696"/>
            <a:ext cx="2465222" cy="1481328"/>
          </a:xfrm>
          <a:prstGeom prst="roundRect">
            <a:avLst>
              <a:gd name="adj" fmla="val 617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Shape 4"/>
          <p:cNvSpPr/>
          <p:nvPr/>
        </p:nvSpPr>
        <p:spPr>
          <a:xfrm>
            <a:off x="905256" y="2340864"/>
            <a:ext cx="310896" cy="310896"/>
          </a:xfrm>
          <a:prstGeom prst="ellipse">
            <a:avLst/>
          </a:prstGeom>
          <a:solidFill>
            <a:srgbClr val="7F4F24"/>
          </a:solidFill>
          <a:ln w="12700">
            <a:solidFill>
              <a:srgbClr val="7F4F24"/>
            </a:solidFill>
            <a:prstDash val="solid"/>
          </a:ln>
        </p:spPr>
      </p:sp>
      <p:sp>
        <p:nvSpPr>
          <p:cNvPr id="7" name="Text 5"/>
          <p:cNvSpPr/>
          <p:nvPr/>
        </p:nvSpPr>
        <p:spPr>
          <a:xfrm>
            <a:off x="905256" y="2340864"/>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1</a:t>
            </a:r>
            <a:endParaRPr lang="en-US" sz="1150" dirty="0"/>
          </a:p>
        </p:txBody>
      </p:sp>
      <p:sp>
        <p:nvSpPr>
          <p:cNvPr id="8" name="Text 6"/>
          <p:cNvSpPr/>
          <p:nvPr/>
        </p:nvSpPr>
        <p:spPr>
          <a:xfrm>
            <a:off x="1289304" y="2359152"/>
            <a:ext cx="1642262" cy="274320"/>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Agreed offline</a:t>
            </a:r>
            <a:endParaRPr lang="en-US" sz="1250" dirty="0"/>
          </a:p>
        </p:txBody>
      </p:sp>
      <p:sp>
        <p:nvSpPr>
          <p:cNvPr id="9" name="Text 7"/>
          <p:cNvSpPr/>
          <p:nvPr/>
        </p:nvSpPr>
        <p:spPr>
          <a:xfrm>
            <a:off x="905256" y="2761488"/>
            <a:ext cx="2026310" cy="749808"/>
          </a:xfrm>
          <a:prstGeom prst="rect">
            <a:avLst/>
          </a:prstGeom>
          <a:noFill/>
          <a:ln/>
        </p:spPr>
        <p:txBody>
          <a:bodyPr wrap="square" lIns="0" tIns="0" rIns="0" bIns="0" rtlCol="0" anchor="ctr"/>
          <a:lstStyle/>
          <a:p>
            <a:pPr indent="0" marL="0">
              <a:lnSpc>
                <a:spcPct val="104000"/>
              </a:lnSpc>
              <a:buNone/>
            </a:pPr>
            <a:r>
              <a:rPr lang="en-US" sz="1050" dirty="0">
                <a:solidFill>
                  <a:srgbClr val="656D4A"/>
                </a:solidFill>
                <a:latin typeface="Calibri" pitchFamily="34" charset="0"/>
                <a:ea typeface="Calibri" pitchFamily="34" charset="-122"/>
                <a:cs typeface="Calibri" pitchFamily="34" charset="-120"/>
              </a:rPr>
              <a:t>Elysian and the vendor settle the event-specific price outside the product.</a:t>
            </a:r>
            <a:endParaRPr lang="en-US" sz="1050" dirty="0"/>
          </a:p>
        </p:txBody>
      </p:sp>
      <p:sp>
        <p:nvSpPr>
          <p:cNvPr id="10" name="Shape 8"/>
          <p:cNvSpPr/>
          <p:nvPr/>
        </p:nvSpPr>
        <p:spPr>
          <a:xfrm rot="5400000">
            <a:off x="3224174" y="2770632"/>
            <a:ext cx="173736" cy="210312"/>
          </a:xfrm>
          <a:prstGeom prst="triangle">
            <a:avLst/>
          </a:prstGeom>
          <a:solidFill>
            <a:srgbClr val="A68A64"/>
          </a:solidFill>
          <a:ln w="12700">
            <a:solidFill>
              <a:srgbClr val="A68A64"/>
            </a:solidFill>
            <a:prstDash val="solid"/>
          </a:ln>
        </p:spPr>
      </p:sp>
      <p:sp>
        <p:nvSpPr>
          <p:cNvPr id="11" name="Shape 9"/>
          <p:cNvSpPr/>
          <p:nvPr/>
        </p:nvSpPr>
        <p:spPr>
          <a:xfrm>
            <a:off x="3471062" y="2139696"/>
            <a:ext cx="2465222" cy="1481328"/>
          </a:xfrm>
          <a:prstGeom prst="roundRect">
            <a:avLst>
              <a:gd name="adj" fmla="val 617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2" name="Shape 10"/>
          <p:cNvSpPr/>
          <p:nvPr/>
        </p:nvSpPr>
        <p:spPr>
          <a:xfrm>
            <a:off x="3690518" y="2340864"/>
            <a:ext cx="310896" cy="310896"/>
          </a:xfrm>
          <a:prstGeom prst="ellipse">
            <a:avLst/>
          </a:prstGeom>
          <a:solidFill>
            <a:srgbClr val="7F4F24"/>
          </a:solidFill>
          <a:ln w="12700">
            <a:solidFill>
              <a:srgbClr val="7F4F24"/>
            </a:solidFill>
            <a:prstDash val="solid"/>
          </a:ln>
        </p:spPr>
      </p:sp>
      <p:sp>
        <p:nvSpPr>
          <p:cNvPr id="13" name="Text 11"/>
          <p:cNvSpPr/>
          <p:nvPr/>
        </p:nvSpPr>
        <p:spPr>
          <a:xfrm>
            <a:off x="3690518" y="2340864"/>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2</a:t>
            </a:r>
            <a:endParaRPr lang="en-US" sz="1150" dirty="0"/>
          </a:p>
        </p:txBody>
      </p:sp>
      <p:sp>
        <p:nvSpPr>
          <p:cNvPr id="14" name="Text 12"/>
          <p:cNvSpPr/>
          <p:nvPr/>
        </p:nvSpPr>
        <p:spPr>
          <a:xfrm>
            <a:off x="4074566" y="2359152"/>
            <a:ext cx="1642262" cy="274320"/>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Admin records it</a:t>
            </a:r>
            <a:endParaRPr lang="en-US" sz="1250" dirty="0"/>
          </a:p>
        </p:txBody>
      </p:sp>
      <p:sp>
        <p:nvSpPr>
          <p:cNvPr id="15" name="Text 13"/>
          <p:cNvSpPr/>
          <p:nvPr/>
        </p:nvSpPr>
        <p:spPr>
          <a:xfrm>
            <a:off x="3690518" y="2761488"/>
            <a:ext cx="2026310" cy="749808"/>
          </a:xfrm>
          <a:prstGeom prst="rect">
            <a:avLst/>
          </a:prstGeom>
          <a:noFill/>
          <a:ln/>
        </p:spPr>
        <p:txBody>
          <a:bodyPr wrap="square" lIns="0" tIns="0" rIns="0" bIns="0" rtlCol="0" anchor="ctr"/>
          <a:lstStyle/>
          <a:p>
            <a:pPr indent="0" marL="0">
              <a:lnSpc>
                <a:spcPct val="104000"/>
              </a:lnSpc>
              <a:buNone/>
            </a:pPr>
            <a:r>
              <a:rPr lang="en-US" sz="1050" dirty="0">
                <a:solidFill>
                  <a:srgbClr val="656D4A"/>
                </a:solidFill>
                <a:latin typeface="Calibri" pitchFamily="34" charset="0"/>
                <a:ea typeface="Calibri" pitchFamily="34" charset="-122"/>
                <a:cs typeface="Calibri" pitchFamily="34" charset="-120"/>
              </a:rPr>
              <a:t>One agreed vendor payout plus one flat Elysian fee, entered in /admin/pricing.</a:t>
            </a:r>
            <a:endParaRPr lang="en-US" sz="1050" dirty="0"/>
          </a:p>
        </p:txBody>
      </p:sp>
      <p:sp>
        <p:nvSpPr>
          <p:cNvPr id="16" name="Shape 14"/>
          <p:cNvSpPr/>
          <p:nvPr/>
        </p:nvSpPr>
        <p:spPr>
          <a:xfrm rot="5400000">
            <a:off x="6009437" y="2770632"/>
            <a:ext cx="173736" cy="210312"/>
          </a:xfrm>
          <a:prstGeom prst="triangle">
            <a:avLst/>
          </a:prstGeom>
          <a:solidFill>
            <a:srgbClr val="A68A64"/>
          </a:solidFill>
          <a:ln w="12700">
            <a:solidFill>
              <a:srgbClr val="A68A64"/>
            </a:solidFill>
            <a:prstDash val="solid"/>
          </a:ln>
        </p:spPr>
      </p:sp>
      <p:sp>
        <p:nvSpPr>
          <p:cNvPr id="17" name="Shape 15"/>
          <p:cNvSpPr/>
          <p:nvPr/>
        </p:nvSpPr>
        <p:spPr>
          <a:xfrm>
            <a:off x="6256325" y="2139696"/>
            <a:ext cx="2465222" cy="1481328"/>
          </a:xfrm>
          <a:prstGeom prst="roundRect">
            <a:avLst>
              <a:gd name="adj" fmla="val 617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8" name="Shape 16"/>
          <p:cNvSpPr/>
          <p:nvPr/>
        </p:nvSpPr>
        <p:spPr>
          <a:xfrm>
            <a:off x="6475781" y="2340864"/>
            <a:ext cx="310896" cy="310896"/>
          </a:xfrm>
          <a:prstGeom prst="ellipse">
            <a:avLst/>
          </a:prstGeom>
          <a:solidFill>
            <a:srgbClr val="7F4F24"/>
          </a:solidFill>
          <a:ln w="12700">
            <a:solidFill>
              <a:srgbClr val="7F4F24"/>
            </a:solidFill>
            <a:prstDash val="solid"/>
          </a:ln>
        </p:spPr>
      </p:sp>
      <p:sp>
        <p:nvSpPr>
          <p:cNvPr id="19" name="Text 17"/>
          <p:cNvSpPr/>
          <p:nvPr/>
        </p:nvSpPr>
        <p:spPr>
          <a:xfrm>
            <a:off x="6475781" y="2340864"/>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3</a:t>
            </a:r>
            <a:endParaRPr lang="en-US" sz="1150" dirty="0"/>
          </a:p>
        </p:txBody>
      </p:sp>
      <p:sp>
        <p:nvSpPr>
          <p:cNvPr id="20" name="Text 18"/>
          <p:cNvSpPr/>
          <p:nvPr/>
        </p:nvSpPr>
        <p:spPr>
          <a:xfrm>
            <a:off x="6859829" y="2359152"/>
            <a:ext cx="1642262" cy="274320"/>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Postgres derives</a:t>
            </a:r>
            <a:endParaRPr lang="en-US" sz="1250" dirty="0"/>
          </a:p>
        </p:txBody>
      </p:sp>
      <p:sp>
        <p:nvSpPr>
          <p:cNvPr id="21" name="Text 19"/>
          <p:cNvSpPr/>
          <p:nvPr/>
        </p:nvSpPr>
        <p:spPr>
          <a:xfrm>
            <a:off x="6475781" y="2761488"/>
            <a:ext cx="2026310" cy="749808"/>
          </a:xfrm>
          <a:prstGeom prst="rect">
            <a:avLst/>
          </a:prstGeom>
          <a:noFill/>
          <a:ln/>
        </p:spPr>
        <p:txBody>
          <a:bodyPr wrap="square" lIns="0" tIns="0" rIns="0" bIns="0" rtlCol="0" anchor="ctr"/>
          <a:lstStyle/>
          <a:p>
            <a:pPr indent="0" marL="0">
              <a:lnSpc>
                <a:spcPct val="104000"/>
              </a:lnSpc>
              <a:buNone/>
            </a:pPr>
            <a:r>
              <a:rPr lang="en-US" sz="1050" dirty="0">
                <a:solidFill>
                  <a:srgbClr val="656D4A"/>
                </a:solidFill>
                <a:latin typeface="Calibri" pitchFamily="34" charset="0"/>
                <a:ea typeface="Calibri" pitchFamily="34" charset="-122"/>
                <a:cs typeface="Calibri" pitchFamily="34" charset="-120"/>
              </a:rPr>
              <a:t>final_price = vendor_amount + service_fee, as a generated column.</a:t>
            </a:r>
            <a:endParaRPr lang="en-US" sz="1050" dirty="0"/>
          </a:p>
        </p:txBody>
      </p:sp>
      <p:sp>
        <p:nvSpPr>
          <p:cNvPr id="22" name="Shape 20"/>
          <p:cNvSpPr/>
          <p:nvPr/>
        </p:nvSpPr>
        <p:spPr>
          <a:xfrm rot="5400000">
            <a:off x="8794699" y="2770632"/>
            <a:ext cx="173736" cy="210312"/>
          </a:xfrm>
          <a:prstGeom prst="triangle">
            <a:avLst/>
          </a:prstGeom>
          <a:solidFill>
            <a:srgbClr val="A68A64"/>
          </a:solidFill>
          <a:ln w="12700">
            <a:solidFill>
              <a:srgbClr val="A68A64"/>
            </a:solidFill>
            <a:prstDash val="solid"/>
          </a:ln>
        </p:spPr>
      </p:sp>
      <p:sp>
        <p:nvSpPr>
          <p:cNvPr id="23" name="Shape 21"/>
          <p:cNvSpPr/>
          <p:nvPr/>
        </p:nvSpPr>
        <p:spPr>
          <a:xfrm>
            <a:off x="9041587" y="2139696"/>
            <a:ext cx="2465222" cy="1481328"/>
          </a:xfrm>
          <a:prstGeom prst="roundRect">
            <a:avLst>
              <a:gd name="adj" fmla="val 617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4" name="Shape 22"/>
          <p:cNvSpPr/>
          <p:nvPr/>
        </p:nvSpPr>
        <p:spPr>
          <a:xfrm>
            <a:off x="9261043" y="2340864"/>
            <a:ext cx="310896" cy="310896"/>
          </a:xfrm>
          <a:prstGeom prst="ellipse">
            <a:avLst/>
          </a:prstGeom>
          <a:solidFill>
            <a:srgbClr val="7F4F24"/>
          </a:solidFill>
          <a:ln w="12700">
            <a:solidFill>
              <a:srgbClr val="7F4F24"/>
            </a:solidFill>
            <a:prstDash val="solid"/>
          </a:ln>
        </p:spPr>
      </p:sp>
      <p:sp>
        <p:nvSpPr>
          <p:cNvPr id="25" name="Text 23"/>
          <p:cNvSpPr/>
          <p:nvPr/>
        </p:nvSpPr>
        <p:spPr>
          <a:xfrm>
            <a:off x="9261043" y="2340864"/>
            <a:ext cx="310896" cy="310896"/>
          </a:xfrm>
          <a:prstGeom prst="rect">
            <a:avLst/>
          </a:prstGeom>
          <a:noFill/>
          <a:ln/>
        </p:spPr>
        <p:txBody>
          <a:bodyPr wrap="square" lIns="0" tIns="0" rIns="0" bIns="0" rtlCol="0" anchor="ctr"/>
          <a:lstStyle/>
          <a:p>
            <a:pPr algn="ctr" indent="0" marL="0">
              <a:buNone/>
            </a:pPr>
            <a:r>
              <a:rPr lang="en-US" sz="1150" b="1" dirty="0">
                <a:solidFill>
                  <a:srgbClr val="F5F0E2"/>
                </a:solidFill>
                <a:latin typeface="Calibri" pitchFamily="34" charset="0"/>
                <a:ea typeface="Calibri" pitchFamily="34" charset="-122"/>
                <a:cs typeface="Calibri" pitchFamily="34" charset="-120"/>
              </a:rPr>
              <a:t>4</a:t>
            </a:r>
            <a:endParaRPr lang="en-US" sz="1150" dirty="0"/>
          </a:p>
        </p:txBody>
      </p:sp>
      <p:sp>
        <p:nvSpPr>
          <p:cNvPr id="26" name="Text 24"/>
          <p:cNvSpPr/>
          <p:nvPr/>
        </p:nvSpPr>
        <p:spPr>
          <a:xfrm>
            <a:off x="9645091" y="2359152"/>
            <a:ext cx="1642262" cy="274320"/>
          </a:xfrm>
          <a:prstGeom prst="rect">
            <a:avLst/>
          </a:prstGeom>
          <a:noFill/>
          <a:ln/>
        </p:spPr>
        <p:txBody>
          <a:bodyPr wrap="square" lIns="0" tIns="0" rIns="0" bIns="0" rtlCol="0" anchor="ctr"/>
          <a:lstStyle/>
          <a:p>
            <a:pPr indent="0" marL="0">
              <a:buNone/>
            </a:pPr>
            <a:r>
              <a:rPr lang="en-US" sz="1250" b="1" dirty="0">
                <a:solidFill>
                  <a:srgbClr val="333D29"/>
                </a:solidFill>
                <a:latin typeface="Calibri" pitchFamily="34" charset="0"/>
                <a:ea typeface="Calibri" pitchFamily="34" charset="-122"/>
                <a:cs typeface="Calibri" pitchFamily="34" charset="-120"/>
              </a:rPr>
              <a:t>Publish gate</a:t>
            </a:r>
            <a:endParaRPr lang="en-US" sz="1250" dirty="0"/>
          </a:p>
        </p:txBody>
      </p:sp>
      <p:sp>
        <p:nvSpPr>
          <p:cNvPr id="27" name="Text 25"/>
          <p:cNvSpPr/>
          <p:nvPr/>
        </p:nvSpPr>
        <p:spPr>
          <a:xfrm>
            <a:off x="9261043" y="2761488"/>
            <a:ext cx="2026310" cy="749808"/>
          </a:xfrm>
          <a:prstGeom prst="rect">
            <a:avLst/>
          </a:prstGeom>
          <a:noFill/>
          <a:ln/>
        </p:spPr>
        <p:txBody>
          <a:bodyPr wrap="square" lIns="0" tIns="0" rIns="0" bIns="0" rtlCol="0" anchor="ctr"/>
          <a:lstStyle/>
          <a:p>
            <a:pPr indent="0" marL="0">
              <a:lnSpc>
                <a:spcPct val="104000"/>
              </a:lnSpc>
              <a:buNone/>
            </a:pPr>
            <a:r>
              <a:rPr lang="en-US" sz="1050" dirty="0">
                <a:solidFill>
                  <a:srgbClr val="656D4A"/>
                </a:solidFill>
                <a:latin typeface="Calibri" pitchFamily="34" charset="0"/>
                <a:ea typeface="Calibri" pitchFamily="34" charset="-122"/>
                <a:cs typeface="Calibri" pitchFamily="34" charset="-120"/>
              </a:rPr>
              <a:t>The client total appears only when the function reaches 100% readiness.</a:t>
            </a:r>
            <a:endParaRPr lang="en-US" sz="1050" dirty="0"/>
          </a:p>
        </p:txBody>
      </p:sp>
      <p:sp>
        <p:nvSpPr>
          <p:cNvPr id="28" name="Text 26"/>
          <p:cNvSpPr/>
          <p:nvPr/>
        </p:nvSpPr>
        <p:spPr>
          <a:xfrm>
            <a:off x="685800" y="3895344"/>
            <a:ext cx="5486400" cy="237744"/>
          </a:xfrm>
          <a:prstGeom prst="rect">
            <a:avLst/>
          </a:prstGeom>
          <a:noFill/>
          <a:ln/>
        </p:spPr>
        <p:txBody>
          <a:bodyPr wrap="square" lIns="0" tIns="0" rIns="0" bIns="0" rtlCol="0" anchor="ctr"/>
          <a:lstStyle/>
          <a:p>
            <a:pPr indent="0" marL="0">
              <a:buNone/>
            </a:pPr>
            <a:r>
              <a:rPr lang="en-US" sz="950" b="1" spc="200" kern="0" dirty="0">
                <a:solidFill>
                  <a:srgbClr val="7F4F24"/>
                </a:solidFill>
                <a:latin typeface="Calibri" pitchFamily="34" charset="0"/>
                <a:ea typeface="Calibri" pitchFamily="34" charset="-122"/>
                <a:cs typeface="Calibri" pitchFamily="34" charset="-120"/>
              </a:rPr>
              <a:t>WHO IS ALLOWED TO SEE WHAT</a:t>
            </a:r>
            <a:endParaRPr lang="en-US" sz="950" dirty="0"/>
          </a:p>
        </p:txBody>
      </p:sp>
      <p:sp>
        <p:nvSpPr>
          <p:cNvPr id="29" name="Shape 27"/>
          <p:cNvSpPr/>
          <p:nvPr/>
        </p:nvSpPr>
        <p:spPr>
          <a:xfrm>
            <a:off x="685800" y="4206240"/>
            <a:ext cx="3363163" cy="1682496"/>
          </a:xfrm>
          <a:prstGeom prst="roundRect">
            <a:avLst>
              <a:gd name="adj" fmla="val 5435"/>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30" name="Shape 28"/>
          <p:cNvSpPr/>
          <p:nvPr/>
        </p:nvSpPr>
        <p:spPr>
          <a:xfrm>
            <a:off x="941832" y="4443984"/>
            <a:ext cx="182880" cy="182880"/>
          </a:xfrm>
          <a:prstGeom prst="ellipse">
            <a:avLst/>
          </a:prstGeom>
          <a:solidFill>
            <a:srgbClr val="A4AC86"/>
          </a:solidFill>
          <a:ln w="12700">
            <a:solidFill>
              <a:srgbClr val="A4AC86"/>
            </a:solidFill>
            <a:prstDash val="solid"/>
          </a:ln>
        </p:spPr>
      </p:sp>
      <p:sp>
        <p:nvSpPr>
          <p:cNvPr id="31" name="Text 29"/>
          <p:cNvSpPr/>
          <p:nvPr/>
        </p:nvSpPr>
        <p:spPr>
          <a:xfrm>
            <a:off x="1234440" y="4370832"/>
            <a:ext cx="2540203" cy="274320"/>
          </a:xfrm>
          <a:prstGeom prst="rect">
            <a:avLst/>
          </a:prstGeom>
          <a:noFill/>
          <a:ln/>
        </p:spPr>
        <p:txBody>
          <a:bodyPr wrap="square" lIns="0" tIns="0" rIns="0" bIns="0" rtlCol="0" anchor="ctr"/>
          <a:lstStyle/>
          <a:p>
            <a:pPr indent="0" marL="0">
              <a:buNone/>
            </a:pPr>
            <a:r>
              <a:rPr lang="en-US" sz="1200" b="1" spc="200" kern="0" dirty="0">
                <a:solidFill>
                  <a:srgbClr val="7F4F24"/>
                </a:solidFill>
                <a:latin typeface="Calibri" pitchFamily="34" charset="0"/>
                <a:ea typeface="Calibri" pitchFamily="34" charset="-122"/>
                <a:cs typeface="Calibri" pitchFamily="34" charset="-120"/>
              </a:rPr>
              <a:t>VENDOR</a:t>
            </a:r>
            <a:endParaRPr lang="en-US" sz="1200" dirty="0"/>
          </a:p>
        </p:txBody>
      </p:sp>
      <p:sp>
        <p:nvSpPr>
          <p:cNvPr id="32" name="Text 30"/>
          <p:cNvSpPr/>
          <p:nvPr/>
        </p:nvSpPr>
        <p:spPr>
          <a:xfrm>
            <a:off x="941832" y="4754880"/>
            <a:ext cx="2851099" cy="493776"/>
          </a:xfrm>
          <a:prstGeom prst="rect">
            <a:avLst/>
          </a:prstGeom>
          <a:noFill/>
          <a:ln/>
        </p:spPr>
        <p:txBody>
          <a:bodyPr wrap="square" lIns="0" tIns="0" rIns="0" bIns="0" rtlCol="0" anchor="ctr"/>
          <a:lstStyle/>
          <a:p>
            <a:pPr indent="0" marL="0">
              <a:lnSpc>
                <a:spcPct val="102000"/>
              </a:lnSpc>
              <a:buNone/>
            </a:pPr>
            <a:r>
              <a:rPr lang="en-US" sz="1250" b="1" dirty="0">
                <a:solidFill>
                  <a:srgbClr val="333D29"/>
                </a:solidFill>
                <a:latin typeface="Calibri" pitchFamily="34" charset="0"/>
                <a:ea typeface="Calibri" pitchFamily="34" charset="-122"/>
                <a:cs typeface="Calibri" pitchFamily="34" charset="-120"/>
              </a:rPr>
              <a:t>Their agreed payout — and nothing else.</a:t>
            </a:r>
            <a:endParaRPr lang="en-US" sz="1250" dirty="0"/>
          </a:p>
        </p:txBody>
      </p:sp>
      <p:sp>
        <p:nvSpPr>
          <p:cNvPr id="33" name="Text 31"/>
          <p:cNvSpPr/>
          <p:nvPr/>
        </p:nvSpPr>
        <p:spPr>
          <a:xfrm>
            <a:off x="941832" y="5285232"/>
            <a:ext cx="2851099" cy="457200"/>
          </a:xfrm>
          <a:prstGeom prst="rect">
            <a:avLst/>
          </a:prstGeom>
          <a:noFill/>
          <a:ln/>
        </p:spPr>
        <p:txBody>
          <a:bodyPr wrap="square" lIns="0" tIns="0" rIns="0" bIns="0" rtlCol="0" anchor="ctr"/>
          <a:lstStyle/>
          <a:p>
            <a:pPr indent="0" marL="0">
              <a:lnSpc>
                <a:spcPct val="102000"/>
              </a:lnSpc>
              <a:buNone/>
            </a:pPr>
            <a:r>
              <a:rPr lang="en-US" sz="1050" i="1" dirty="0">
                <a:solidFill>
                  <a:srgbClr val="656D4A"/>
                </a:solidFill>
                <a:latin typeface="Calibri" pitchFamily="34" charset="0"/>
                <a:ea typeface="Calibri" pitchFamily="34" charset="-122"/>
                <a:cs typeface="Calibri" pitchFamily="34" charset="-120"/>
              </a:rPr>
              <a:t>Never sees the fee or the client total.</a:t>
            </a:r>
            <a:endParaRPr lang="en-US" sz="1050" dirty="0"/>
          </a:p>
        </p:txBody>
      </p:sp>
      <p:sp>
        <p:nvSpPr>
          <p:cNvPr id="34" name="Shape 32"/>
          <p:cNvSpPr/>
          <p:nvPr/>
        </p:nvSpPr>
        <p:spPr>
          <a:xfrm>
            <a:off x="4414723" y="4206240"/>
            <a:ext cx="3363163" cy="1682496"/>
          </a:xfrm>
          <a:prstGeom prst="roundRect">
            <a:avLst>
              <a:gd name="adj" fmla="val 5435"/>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35" name="Shape 33"/>
          <p:cNvSpPr/>
          <p:nvPr/>
        </p:nvSpPr>
        <p:spPr>
          <a:xfrm>
            <a:off x="4670755" y="4443984"/>
            <a:ext cx="182880" cy="182880"/>
          </a:xfrm>
          <a:prstGeom prst="ellipse">
            <a:avLst/>
          </a:prstGeom>
          <a:solidFill>
            <a:srgbClr val="A68A64"/>
          </a:solidFill>
          <a:ln w="12700">
            <a:solidFill>
              <a:srgbClr val="A68A64"/>
            </a:solidFill>
            <a:prstDash val="solid"/>
          </a:ln>
        </p:spPr>
      </p:sp>
      <p:sp>
        <p:nvSpPr>
          <p:cNvPr id="36" name="Text 34"/>
          <p:cNvSpPr/>
          <p:nvPr/>
        </p:nvSpPr>
        <p:spPr>
          <a:xfrm>
            <a:off x="4963363" y="4370832"/>
            <a:ext cx="2540203" cy="274320"/>
          </a:xfrm>
          <a:prstGeom prst="rect">
            <a:avLst/>
          </a:prstGeom>
          <a:noFill/>
          <a:ln/>
        </p:spPr>
        <p:txBody>
          <a:bodyPr wrap="square" lIns="0" tIns="0" rIns="0" bIns="0" rtlCol="0" anchor="ctr"/>
          <a:lstStyle/>
          <a:p>
            <a:pPr indent="0" marL="0">
              <a:buNone/>
            </a:pPr>
            <a:r>
              <a:rPr lang="en-US" sz="1200" b="1" spc="200" kern="0" dirty="0">
                <a:solidFill>
                  <a:srgbClr val="7F4F24"/>
                </a:solidFill>
                <a:latin typeface="Calibri" pitchFamily="34" charset="0"/>
                <a:ea typeface="Calibri" pitchFamily="34" charset="-122"/>
                <a:cs typeface="Calibri" pitchFamily="34" charset="-120"/>
              </a:rPr>
              <a:t>CLIENT</a:t>
            </a:r>
            <a:endParaRPr lang="en-US" sz="1200" dirty="0"/>
          </a:p>
        </p:txBody>
      </p:sp>
      <p:sp>
        <p:nvSpPr>
          <p:cNvPr id="37" name="Text 35"/>
          <p:cNvSpPr/>
          <p:nvPr/>
        </p:nvSpPr>
        <p:spPr>
          <a:xfrm>
            <a:off x="4670755" y="4754880"/>
            <a:ext cx="2851099" cy="493776"/>
          </a:xfrm>
          <a:prstGeom prst="rect">
            <a:avLst/>
          </a:prstGeom>
          <a:noFill/>
          <a:ln/>
        </p:spPr>
        <p:txBody>
          <a:bodyPr wrap="square" lIns="0" tIns="0" rIns="0" bIns="0" rtlCol="0" anchor="ctr"/>
          <a:lstStyle/>
          <a:p>
            <a:pPr indent="0" marL="0">
              <a:lnSpc>
                <a:spcPct val="102000"/>
              </a:lnSpc>
              <a:buNone/>
            </a:pPr>
            <a:r>
              <a:rPr lang="en-US" sz="1250" b="1" dirty="0">
                <a:solidFill>
                  <a:srgbClr val="333D29"/>
                </a:solidFill>
                <a:latin typeface="Calibri" pitchFamily="34" charset="0"/>
                <a:ea typeface="Calibri" pitchFamily="34" charset="-122"/>
                <a:cs typeface="Calibri" pitchFamily="34" charset="-120"/>
              </a:rPr>
              <a:t>The published final price only.</a:t>
            </a:r>
            <a:endParaRPr lang="en-US" sz="1250" dirty="0"/>
          </a:p>
        </p:txBody>
      </p:sp>
      <p:sp>
        <p:nvSpPr>
          <p:cNvPr id="38" name="Text 36"/>
          <p:cNvSpPr/>
          <p:nvPr/>
        </p:nvSpPr>
        <p:spPr>
          <a:xfrm>
            <a:off x="4670755" y="5285232"/>
            <a:ext cx="2851099" cy="457200"/>
          </a:xfrm>
          <a:prstGeom prst="rect">
            <a:avLst/>
          </a:prstGeom>
          <a:noFill/>
          <a:ln/>
        </p:spPr>
        <p:txBody>
          <a:bodyPr wrap="square" lIns="0" tIns="0" rIns="0" bIns="0" rtlCol="0" anchor="ctr"/>
          <a:lstStyle/>
          <a:p>
            <a:pPr indent="0" marL="0">
              <a:lnSpc>
                <a:spcPct val="102000"/>
              </a:lnSpc>
              <a:buNone/>
            </a:pPr>
            <a:r>
              <a:rPr lang="en-US" sz="1050" i="1" dirty="0">
                <a:solidFill>
                  <a:srgbClr val="656D4A"/>
                </a:solidFill>
                <a:latin typeface="Calibri" pitchFamily="34" charset="0"/>
                <a:ea typeface="Calibri" pitchFamily="34" charset="-122"/>
                <a:cs typeface="Calibri" pitchFamily="34" charset="-120"/>
              </a:rPr>
              <a:t>Never sees the payout or the fee split.</a:t>
            </a:r>
            <a:endParaRPr lang="en-US" sz="1050" dirty="0"/>
          </a:p>
        </p:txBody>
      </p:sp>
      <p:sp>
        <p:nvSpPr>
          <p:cNvPr id="39" name="Shape 37"/>
          <p:cNvSpPr/>
          <p:nvPr/>
        </p:nvSpPr>
        <p:spPr>
          <a:xfrm>
            <a:off x="8143646" y="4206240"/>
            <a:ext cx="3363163" cy="1682496"/>
          </a:xfrm>
          <a:prstGeom prst="roundRect">
            <a:avLst>
              <a:gd name="adj" fmla="val 5435"/>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40" name="Shape 38"/>
          <p:cNvSpPr/>
          <p:nvPr/>
        </p:nvSpPr>
        <p:spPr>
          <a:xfrm>
            <a:off x="8399678" y="4443984"/>
            <a:ext cx="182880" cy="182880"/>
          </a:xfrm>
          <a:prstGeom prst="ellipse">
            <a:avLst/>
          </a:prstGeom>
          <a:solidFill>
            <a:srgbClr val="7F4F24"/>
          </a:solidFill>
          <a:ln w="12700">
            <a:solidFill>
              <a:srgbClr val="7F4F24"/>
            </a:solidFill>
            <a:prstDash val="solid"/>
          </a:ln>
        </p:spPr>
      </p:sp>
      <p:sp>
        <p:nvSpPr>
          <p:cNvPr id="41" name="Text 39"/>
          <p:cNvSpPr/>
          <p:nvPr/>
        </p:nvSpPr>
        <p:spPr>
          <a:xfrm>
            <a:off x="8692286" y="4370832"/>
            <a:ext cx="2540203" cy="274320"/>
          </a:xfrm>
          <a:prstGeom prst="rect">
            <a:avLst/>
          </a:prstGeom>
          <a:noFill/>
          <a:ln/>
        </p:spPr>
        <p:txBody>
          <a:bodyPr wrap="square" lIns="0" tIns="0" rIns="0" bIns="0" rtlCol="0" anchor="ctr"/>
          <a:lstStyle/>
          <a:p>
            <a:pPr indent="0" marL="0">
              <a:buNone/>
            </a:pPr>
            <a:r>
              <a:rPr lang="en-US" sz="1200" b="1" spc="200" kern="0" dirty="0">
                <a:solidFill>
                  <a:srgbClr val="A68A64"/>
                </a:solidFill>
                <a:latin typeface="Calibri" pitchFamily="34" charset="0"/>
                <a:ea typeface="Calibri" pitchFamily="34" charset="-122"/>
                <a:cs typeface="Calibri" pitchFamily="34" charset="-120"/>
              </a:rPr>
              <a:t>ELYSIAN</a:t>
            </a:r>
            <a:endParaRPr lang="en-US" sz="1200" dirty="0"/>
          </a:p>
        </p:txBody>
      </p:sp>
      <p:sp>
        <p:nvSpPr>
          <p:cNvPr id="42" name="Text 40"/>
          <p:cNvSpPr/>
          <p:nvPr/>
        </p:nvSpPr>
        <p:spPr>
          <a:xfrm>
            <a:off x="8399678" y="4754880"/>
            <a:ext cx="2851099" cy="493776"/>
          </a:xfrm>
          <a:prstGeom prst="rect">
            <a:avLst/>
          </a:prstGeom>
          <a:noFill/>
          <a:ln/>
        </p:spPr>
        <p:txBody>
          <a:bodyPr wrap="square" lIns="0" tIns="0" rIns="0" bIns="0" rtlCol="0" anchor="ctr"/>
          <a:lstStyle/>
          <a:p>
            <a:pPr indent="0" marL="0">
              <a:lnSpc>
                <a:spcPct val="102000"/>
              </a:lnSpc>
              <a:buNone/>
            </a:pPr>
            <a:r>
              <a:rPr lang="en-US" sz="1250" b="1" dirty="0">
                <a:solidFill>
                  <a:srgbClr val="F5F0E2"/>
                </a:solidFill>
                <a:latin typeface="Calibri" pitchFamily="34" charset="0"/>
                <a:ea typeface="Calibri" pitchFamily="34" charset="-122"/>
                <a:cs typeface="Calibri" pitchFamily="34" charset="-120"/>
              </a:rPr>
              <a:t>Payout, fee and final together.</a:t>
            </a:r>
            <a:endParaRPr lang="en-US" sz="1250" dirty="0"/>
          </a:p>
        </p:txBody>
      </p:sp>
      <p:sp>
        <p:nvSpPr>
          <p:cNvPr id="43" name="Text 41"/>
          <p:cNvSpPr/>
          <p:nvPr/>
        </p:nvSpPr>
        <p:spPr>
          <a:xfrm>
            <a:off x="8399678" y="5285232"/>
            <a:ext cx="2851099" cy="457200"/>
          </a:xfrm>
          <a:prstGeom prst="rect">
            <a:avLst/>
          </a:prstGeom>
          <a:noFill/>
          <a:ln/>
        </p:spPr>
        <p:txBody>
          <a:bodyPr wrap="square" lIns="0" tIns="0" rIns="0" bIns="0" rtlCol="0" anchor="ctr"/>
          <a:lstStyle/>
          <a:p>
            <a:pPr indent="0" marL="0">
              <a:lnSpc>
                <a:spcPct val="102000"/>
              </a:lnSpc>
              <a:buNone/>
            </a:pPr>
            <a:r>
              <a:rPr lang="en-US" sz="1050" i="1" dirty="0">
                <a:solidFill>
                  <a:srgbClr val="B6AD90"/>
                </a:solidFill>
                <a:latin typeface="Calibri" pitchFamily="34" charset="0"/>
                <a:ea typeface="Calibri" pitchFamily="34" charset="-122"/>
                <a:cs typeface="Calibri" pitchFamily="34" charset="-120"/>
              </a:rPr>
              <a:t>The only role with the full breakdown.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10 · ENGINEERING RIGOUR</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I audited my own code, then shipped the fixes.</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Two written audits — security and design — reviewed as evidence, not as a checklist to tick.</a:t>
            </a:r>
            <a:endParaRPr lang="en-US" sz="1350" dirty="0"/>
          </a:p>
        </p:txBody>
      </p:sp>
      <p:sp>
        <p:nvSpPr>
          <p:cNvPr id="5" name="Shape 3"/>
          <p:cNvSpPr/>
          <p:nvPr/>
        </p:nvSpPr>
        <p:spPr>
          <a:xfrm>
            <a:off x="685800" y="2212848"/>
            <a:ext cx="4937760" cy="3712464"/>
          </a:xfrm>
          <a:prstGeom prst="roundRect">
            <a:avLst>
              <a:gd name="adj" fmla="val 2463"/>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Text 4"/>
          <p:cNvSpPr/>
          <p:nvPr/>
        </p:nvSpPr>
        <p:spPr>
          <a:xfrm>
            <a:off x="960120" y="2450592"/>
            <a:ext cx="4389120" cy="237744"/>
          </a:xfrm>
          <a:prstGeom prst="rect">
            <a:avLst/>
          </a:prstGeom>
          <a:noFill/>
          <a:ln/>
        </p:spPr>
        <p:txBody>
          <a:bodyPr wrap="square" lIns="0" tIns="0" rIns="0" bIns="0" rtlCol="0" anchor="ctr"/>
          <a:lstStyle/>
          <a:p>
            <a:pPr indent="0" marL="0">
              <a:buNone/>
            </a:pPr>
            <a:r>
              <a:rPr lang="en-US" sz="950" b="1" spc="200" kern="0" dirty="0">
                <a:solidFill>
                  <a:srgbClr val="7F4F24"/>
                </a:solidFill>
                <a:latin typeface="Calibri" pitchFamily="34" charset="0"/>
                <a:ea typeface="Calibri" pitchFamily="34" charset="-122"/>
                <a:cs typeface="Calibri" pitchFamily="34" charset="-120"/>
              </a:rPr>
              <a:t>WHAT THE AUDIT COVERED</a:t>
            </a:r>
            <a:endParaRPr lang="en-US" sz="950" dirty="0"/>
          </a:p>
        </p:txBody>
      </p:sp>
      <p:sp>
        <p:nvSpPr>
          <p:cNvPr id="7" name="Shape 5"/>
          <p:cNvSpPr/>
          <p:nvPr/>
        </p:nvSpPr>
        <p:spPr>
          <a:xfrm>
            <a:off x="960120" y="2889504"/>
            <a:ext cx="137160" cy="137160"/>
          </a:xfrm>
          <a:prstGeom prst="ellipse">
            <a:avLst/>
          </a:prstGeom>
          <a:solidFill>
            <a:srgbClr val="A68A64"/>
          </a:solidFill>
          <a:ln w="12700">
            <a:solidFill>
              <a:srgbClr val="A68A64"/>
            </a:solidFill>
            <a:prstDash val="solid"/>
          </a:ln>
        </p:spPr>
      </p:sp>
      <p:sp>
        <p:nvSpPr>
          <p:cNvPr id="8" name="Text 6"/>
          <p:cNvSpPr/>
          <p:nvPr/>
        </p:nvSpPr>
        <p:spPr>
          <a:xfrm>
            <a:off x="1225296" y="2798064"/>
            <a:ext cx="4114800" cy="256032"/>
          </a:xfrm>
          <a:prstGeom prst="rect">
            <a:avLst/>
          </a:prstGeom>
          <a:noFill/>
          <a:ln/>
        </p:spPr>
        <p:txBody>
          <a:bodyPr wrap="square" lIns="0" tIns="0" rIns="0" bIns="0" rtlCol="0" anchor="ctr"/>
          <a:lstStyle/>
          <a:p>
            <a:pPr indent="0" marL="0">
              <a:buNone/>
            </a:pPr>
            <a:r>
              <a:rPr lang="en-US" sz="1200" b="1" dirty="0">
                <a:solidFill>
                  <a:srgbClr val="333D29"/>
                </a:solidFill>
                <a:latin typeface="Calibri" pitchFamily="34" charset="0"/>
                <a:ea typeface="Calibri" pitchFamily="34" charset="-122"/>
                <a:cs typeface="Calibri" pitchFamily="34" charset="-120"/>
              </a:rPr>
              <a:t>All 59 route handlers</a:t>
            </a:r>
            <a:endParaRPr lang="en-US" sz="1200" dirty="0"/>
          </a:p>
        </p:txBody>
      </p:sp>
      <p:sp>
        <p:nvSpPr>
          <p:cNvPr id="9" name="Text 7"/>
          <p:cNvSpPr/>
          <p:nvPr/>
        </p:nvSpPr>
        <p:spPr>
          <a:xfrm>
            <a:off x="1225296" y="3054096"/>
            <a:ext cx="4114800" cy="274320"/>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read individually for ownership and authorisation gaps</a:t>
            </a:r>
            <a:endParaRPr lang="en-US" sz="1050" dirty="0"/>
          </a:p>
        </p:txBody>
      </p:sp>
      <p:sp>
        <p:nvSpPr>
          <p:cNvPr id="10" name="Shape 8"/>
          <p:cNvSpPr/>
          <p:nvPr/>
        </p:nvSpPr>
        <p:spPr>
          <a:xfrm>
            <a:off x="960120" y="3493008"/>
            <a:ext cx="137160" cy="137160"/>
          </a:xfrm>
          <a:prstGeom prst="ellipse">
            <a:avLst/>
          </a:prstGeom>
          <a:solidFill>
            <a:srgbClr val="A68A64"/>
          </a:solidFill>
          <a:ln w="12700">
            <a:solidFill>
              <a:srgbClr val="A68A64"/>
            </a:solidFill>
            <a:prstDash val="solid"/>
          </a:ln>
        </p:spPr>
      </p:sp>
      <p:sp>
        <p:nvSpPr>
          <p:cNvPr id="11" name="Text 9"/>
          <p:cNvSpPr/>
          <p:nvPr/>
        </p:nvSpPr>
        <p:spPr>
          <a:xfrm>
            <a:off x="1225296" y="3401568"/>
            <a:ext cx="4114800" cy="256032"/>
          </a:xfrm>
          <a:prstGeom prst="rect">
            <a:avLst/>
          </a:prstGeom>
          <a:noFill/>
          <a:ln/>
        </p:spPr>
        <p:txBody>
          <a:bodyPr wrap="square" lIns="0" tIns="0" rIns="0" bIns="0" rtlCol="0" anchor="ctr"/>
          <a:lstStyle/>
          <a:p>
            <a:pPr indent="0" marL="0">
              <a:buNone/>
            </a:pPr>
            <a:r>
              <a:rPr lang="en-US" sz="1200" b="1" dirty="0">
                <a:solidFill>
                  <a:srgbClr val="333D29"/>
                </a:solidFill>
                <a:latin typeface="Calibri" pitchFamily="34" charset="0"/>
                <a:ea typeface="Calibri" pitchFamily="34" charset="-122"/>
                <a:cs typeface="Calibri" pitchFamily="34" charset="-120"/>
              </a:rPr>
              <a:t>Dependency surface</a:t>
            </a:r>
            <a:endParaRPr lang="en-US" sz="1200" dirty="0"/>
          </a:p>
        </p:txBody>
      </p:sp>
      <p:sp>
        <p:nvSpPr>
          <p:cNvPr id="12" name="Text 10"/>
          <p:cNvSpPr/>
          <p:nvPr/>
        </p:nvSpPr>
        <p:spPr>
          <a:xfrm>
            <a:off x="1225296" y="3657600"/>
            <a:ext cx="4114800" cy="274320"/>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npm audit across the full production tree</a:t>
            </a:r>
            <a:endParaRPr lang="en-US" sz="1050" dirty="0"/>
          </a:p>
        </p:txBody>
      </p:sp>
      <p:sp>
        <p:nvSpPr>
          <p:cNvPr id="13" name="Shape 11"/>
          <p:cNvSpPr/>
          <p:nvPr/>
        </p:nvSpPr>
        <p:spPr>
          <a:xfrm>
            <a:off x="960120" y="4096512"/>
            <a:ext cx="137160" cy="137160"/>
          </a:xfrm>
          <a:prstGeom prst="ellipse">
            <a:avLst/>
          </a:prstGeom>
          <a:solidFill>
            <a:srgbClr val="A68A64"/>
          </a:solidFill>
          <a:ln w="12700">
            <a:solidFill>
              <a:srgbClr val="A68A64"/>
            </a:solidFill>
            <a:prstDash val="solid"/>
          </a:ln>
        </p:spPr>
      </p:sp>
      <p:sp>
        <p:nvSpPr>
          <p:cNvPr id="14" name="Text 12"/>
          <p:cNvSpPr/>
          <p:nvPr/>
        </p:nvSpPr>
        <p:spPr>
          <a:xfrm>
            <a:off x="1225296" y="4005072"/>
            <a:ext cx="4114800" cy="256032"/>
          </a:xfrm>
          <a:prstGeom prst="rect">
            <a:avLst/>
          </a:prstGeom>
          <a:noFill/>
          <a:ln/>
        </p:spPr>
        <p:txBody>
          <a:bodyPr wrap="square" lIns="0" tIns="0" rIns="0" bIns="0" rtlCol="0" anchor="ctr"/>
          <a:lstStyle/>
          <a:p>
            <a:pPr indent="0" marL="0">
              <a:buNone/>
            </a:pPr>
            <a:r>
              <a:rPr lang="en-US" sz="1200" b="1" dirty="0">
                <a:solidFill>
                  <a:srgbClr val="333D29"/>
                </a:solidFill>
                <a:latin typeface="Calibri" pitchFamily="34" charset="0"/>
                <a:ea typeface="Calibri" pitchFamily="34" charset="-122"/>
                <a:cs typeface="Calibri" pitchFamily="34" charset="-120"/>
              </a:rPr>
              <a:t>Schema &amp; RLS migrations</a:t>
            </a:r>
            <a:endParaRPr lang="en-US" sz="1200" dirty="0"/>
          </a:p>
        </p:txBody>
      </p:sp>
      <p:sp>
        <p:nvSpPr>
          <p:cNvPr id="15" name="Text 13"/>
          <p:cNvSpPr/>
          <p:nvPr/>
        </p:nvSpPr>
        <p:spPr>
          <a:xfrm>
            <a:off x="1225296" y="4261104"/>
            <a:ext cx="4114800" cy="274320"/>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grants, policies, constraints and cascade behaviour</a:t>
            </a:r>
            <a:endParaRPr lang="en-US" sz="1050" dirty="0"/>
          </a:p>
        </p:txBody>
      </p:sp>
      <p:sp>
        <p:nvSpPr>
          <p:cNvPr id="16" name="Shape 14"/>
          <p:cNvSpPr/>
          <p:nvPr/>
        </p:nvSpPr>
        <p:spPr>
          <a:xfrm>
            <a:off x="960120" y="4700016"/>
            <a:ext cx="137160" cy="137160"/>
          </a:xfrm>
          <a:prstGeom prst="ellipse">
            <a:avLst/>
          </a:prstGeom>
          <a:solidFill>
            <a:srgbClr val="A68A64"/>
          </a:solidFill>
          <a:ln w="12700">
            <a:solidFill>
              <a:srgbClr val="A68A64"/>
            </a:solidFill>
            <a:prstDash val="solid"/>
          </a:ln>
        </p:spPr>
      </p:sp>
      <p:sp>
        <p:nvSpPr>
          <p:cNvPr id="17" name="Text 15"/>
          <p:cNvSpPr/>
          <p:nvPr/>
        </p:nvSpPr>
        <p:spPr>
          <a:xfrm>
            <a:off x="1225296" y="4608576"/>
            <a:ext cx="4114800" cy="256032"/>
          </a:xfrm>
          <a:prstGeom prst="rect">
            <a:avLst/>
          </a:prstGeom>
          <a:noFill/>
          <a:ln/>
        </p:spPr>
        <p:txBody>
          <a:bodyPr wrap="square" lIns="0" tIns="0" rIns="0" bIns="0" rtlCol="0" anchor="ctr"/>
          <a:lstStyle/>
          <a:p>
            <a:pPr indent="0" marL="0">
              <a:buNone/>
            </a:pPr>
            <a:r>
              <a:rPr lang="en-US" sz="1200" b="1" dirty="0">
                <a:solidFill>
                  <a:srgbClr val="333D29"/>
                </a:solidFill>
                <a:latin typeface="Calibri" pitchFamily="34" charset="0"/>
                <a:ea typeface="Calibri" pitchFamily="34" charset="-122"/>
                <a:cs typeface="Calibri" pitchFamily="34" charset="-120"/>
              </a:rPr>
              <a:t>Secret handling</a:t>
            </a:r>
            <a:endParaRPr lang="en-US" sz="1200" dirty="0"/>
          </a:p>
        </p:txBody>
      </p:sp>
      <p:sp>
        <p:nvSpPr>
          <p:cNvPr id="18" name="Text 16"/>
          <p:cNvSpPr/>
          <p:nvPr/>
        </p:nvSpPr>
        <p:spPr>
          <a:xfrm>
            <a:off x="1225296" y="4864608"/>
            <a:ext cx="4114800" cy="274320"/>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env layout, publishable vs service-role key separation</a:t>
            </a:r>
            <a:endParaRPr lang="en-US" sz="1050" dirty="0"/>
          </a:p>
        </p:txBody>
      </p:sp>
      <p:sp>
        <p:nvSpPr>
          <p:cNvPr id="19" name="Shape 17"/>
          <p:cNvSpPr/>
          <p:nvPr/>
        </p:nvSpPr>
        <p:spPr>
          <a:xfrm>
            <a:off x="960120" y="5303520"/>
            <a:ext cx="137160" cy="137160"/>
          </a:xfrm>
          <a:prstGeom prst="ellipse">
            <a:avLst/>
          </a:prstGeom>
          <a:solidFill>
            <a:srgbClr val="A68A64"/>
          </a:solidFill>
          <a:ln w="12700">
            <a:solidFill>
              <a:srgbClr val="A68A64"/>
            </a:solidFill>
            <a:prstDash val="solid"/>
          </a:ln>
        </p:spPr>
      </p:sp>
      <p:sp>
        <p:nvSpPr>
          <p:cNvPr id="20" name="Text 18"/>
          <p:cNvSpPr/>
          <p:nvPr/>
        </p:nvSpPr>
        <p:spPr>
          <a:xfrm>
            <a:off x="1225296" y="5212080"/>
            <a:ext cx="4114800" cy="256032"/>
          </a:xfrm>
          <a:prstGeom prst="rect">
            <a:avLst/>
          </a:prstGeom>
          <a:noFill/>
          <a:ln/>
        </p:spPr>
        <p:txBody>
          <a:bodyPr wrap="square" lIns="0" tIns="0" rIns="0" bIns="0" rtlCol="0" anchor="ctr"/>
          <a:lstStyle/>
          <a:p>
            <a:pPr indent="0" marL="0">
              <a:buNone/>
            </a:pPr>
            <a:r>
              <a:rPr lang="en-US" sz="1200" b="1" dirty="0">
                <a:solidFill>
                  <a:srgbClr val="333D29"/>
                </a:solidFill>
                <a:latin typeface="Calibri" pitchFamily="34" charset="0"/>
                <a:ea typeface="Calibri" pitchFamily="34" charset="-122"/>
                <a:cs typeface="Calibri" pitchFamily="34" charset="-120"/>
              </a:rPr>
              <a:t>Accessibility</a:t>
            </a:r>
            <a:endParaRPr lang="en-US" sz="1200" dirty="0"/>
          </a:p>
        </p:txBody>
      </p:sp>
      <p:sp>
        <p:nvSpPr>
          <p:cNvPr id="21" name="Text 19"/>
          <p:cNvSpPr/>
          <p:nvPr/>
        </p:nvSpPr>
        <p:spPr>
          <a:xfrm>
            <a:off x="1225296" y="5468112"/>
            <a:ext cx="4114800" cy="274320"/>
          </a:xfrm>
          <a:prstGeom prst="rect">
            <a:avLst/>
          </a:prstGeom>
          <a:noFill/>
          <a:ln/>
        </p:spPr>
        <p:txBody>
          <a:bodyPr wrap="square" lIns="0" tIns="0" rIns="0" bIns="0" rtlCol="0" anchor="ctr"/>
          <a:lstStyle/>
          <a:p>
            <a:pPr indent="0" marL="0">
              <a:buNone/>
            </a:pPr>
            <a:r>
              <a:rPr lang="en-US" sz="1050" dirty="0">
                <a:solidFill>
                  <a:srgbClr val="656D4A"/>
                </a:solidFill>
                <a:latin typeface="Calibri" pitchFamily="34" charset="0"/>
                <a:ea typeface="Calibri" pitchFamily="34" charset="-122"/>
                <a:cs typeface="Calibri" pitchFamily="34" charset="-120"/>
              </a:rPr>
              <a:t>labels, focus management, keyboard paths, contrast</a:t>
            </a:r>
            <a:endParaRPr lang="en-US" sz="1050" dirty="0"/>
          </a:p>
        </p:txBody>
      </p:sp>
      <p:sp>
        <p:nvSpPr>
          <p:cNvPr id="22" name="Shape 20"/>
          <p:cNvSpPr/>
          <p:nvPr/>
        </p:nvSpPr>
        <p:spPr>
          <a:xfrm>
            <a:off x="6035040" y="2212848"/>
            <a:ext cx="2551176" cy="1810512"/>
          </a:xfrm>
          <a:prstGeom prst="roundRect">
            <a:avLst>
              <a:gd name="adj" fmla="val 505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3" name="Text 21"/>
          <p:cNvSpPr/>
          <p:nvPr/>
        </p:nvSpPr>
        <p:spPr>
          <a:xfrm>
            <a:off x="6254496" y="2395728"/>
            <a:ext cx="2112264" cy="548640"/>
          </a:xfrm>
          <a:prstGeom prst="rect">
            <a:avLst/>
          </a:prstGeom>
          <a:noFill/>
          <a:ln/>
        </p:spPr>
        <p:txBody>
          <a:bodyPr wrap="square" lIns="0" tIns="0" rIns="0" bIns="0" rtlCol="0" anchor="ctr"/>
          <a:lstStyle/>
          <a:p>
            <a:pPr indent="0" marL="0">
              <a:buNone/>
            </a:pPr>
            <a:r>
              <a:rPr lang="en-US" sz="3000" b="1" dirty="0">
                <a:solidFill>
                  <a:srgbClr val="7F4F24"/>
                </a:solidFill>
                <a:latin typeface="Cambria" pitchFamily="34" charset="0"/>
                <a:ea typeface="Cambria" pitchFamily="34" charset="-122"/>
                <a:cs typeface="Cambria" pitchFamily="34" charset="-120"/>
              </a:rPr>
              <a:t>3 of 4</a:t>
            </a:r>
            <a:endParaRPr lang="en-US" sz="3000" dirty="0"/>
          </a:p>
        </p:txBody>
      </p:sp>
      <p:sp>
        <p:nvSpPr>
          <p:cNvPr id="24" name="Text 22"/>
          <p:cNvSpPr/>
          <p:nvPr/>
        </p:nvSpPr>
        <p:spPr>
          <a:xfrm>
            <a:off x="6254496" y="2980944"/>
            <a:ext cx="2112264" cy="475488"/>
          </a:xfrm>
          <a:prstGeom prst="rect">
            <a:avLst/>
          </a:prstGeom>
          <a:noFill/>
          <a:ln/>
        </p:spPr>
        <p:txBody>
          <a:bodyPr wrap="square" lIns="0" tIns="0" rIns="0" bIns="0" rtlCol="0" anchor="ctr"/>
          <a:lstStyle/>
          <a:p>
            <a:pPr indent="0" marL="0">
              <a:lnSpc>
                <a:spcPct val="98000"/>
              </a:lnSpc>
              <a:buNone/>
            </a:pPr>
            <a:r>
              <a:rPr lang="en-US" sz="1250" b="1" dirty="0">
                <a:solidFill>
                  <a:srgbClr val="333D29"/>
                </a:solidFill>
                <a:latin typeface="Calibri" pitchFamily="34" charset="0"/>
                <a:ea typeface="Calibri" pitchFamily="34" charset="-122"/>
                <a:cs typeface="Calibri" pitchFamily="34" charset="-120"/>
              </a:rPr>
              <a:t>HIGH findings closed</a:t>
            </a:r>
            <a:endParaRPr lang="en-US" sz="1250" dirty="0"/>
          </a:p>
        </p:txBody>
      </p:sp>
      <p:sp>
        <p:nvSpPr>
          <p:cNvPr id="25" name="Text 23"/>
          <p:cNvSpPr/>
          <p:nvPr/>
        </p:nvSpPr>
        <p:spPr>
          <a:xfrm>
            <a:off x="6254496" y="3474720"/>
            <a:ext cx="2112264" cy="438912"/>
          </a:xfrm>
          <a:prstGeom prst="rect">
            <a:avLst/>
          </a:prstGeom>
          <a:noFill/>
          <a:ln/>
        </p:spPr>
        <p:txBody>
          <a:bodyPr wrap="square" lIns="0" tIns="0" rIns="0" bIns="0" rtlCol="0" anchor="ctr"/>
          <a:lstStyle/>
          <a:p>
            <a:pPr indent="0" marL="0">
              <a:lnSpc>
                <a:spcPct val="102000"/>
              </a:lnSpc>
              <a:buNone/>
            </a:pPr>
            <a:r>
              <a:rPr lang="en-US" sz="1000" i="1" dirty="0">
                <a:solidFill>
                  <a:srgbClr val="656D4A"/>
                </a:solidFill>
                <a:latin typeface="Calibri" pitchFamily="34" charset="0"/>
                <a:ea typeface="Calibri" pitchFamily="34" charset="-122"/>
                <a:cs typeface="Calibri" pitchFamily="34" charset="-120"/>
              </a:rPr>
              <a:t>payout leak, CVE surface, role authority</a:t>
            </a:r>
            <a:endParaRPr lang="en-US" sz="1000" dirty="0"/>
          </a:p>
        </p:txBody>
      </p:sp>
      <p:sp>
        <p:nvSpPr>
          <p:cNvPr id="26" name="Shape 24"/>
          <p:cNvSpPr/>
          <p:nvPr/>
        </p:nvSpPr>
        <p:spPr>
          <a:xfrm>
            <a:off x="8951976" y="2212848"/>
            <a:ext cx="2551176" cy="1810512"/>
          </a:xfrm>
          <a:prstGeom prst="roundRect">
            <a:avLst>
              <a:gd name="adj" fmla="val 505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7" name="Text 25"/>
          <p:cNvSpPr/>
          <p:nvPr/>
        </p:nvSpPr>
        <p:spPr>
          <a:xfrm>
            <a:off x="9171432" y="2395728"/>
            <a:ext cx="2112264" cy="548640"/>
          </a:xfrm>
          <a:prstGeom prst="rect">
            <a:avLst/>
          </a:prstGeom>
          <a:noFill/>
          <a:ln/>
        </p:spPr>
        <p:txBody>
          <a:bodyPr wrap="square" lIns="0" tIns="0" rIns="0" bIns="0" rtlCol="0" anchor="ctr"/>
          <a:lstStyle/>
          <a:p>
            <a:pPr indent="0" marL="0">
              <a:buNone/>
            </a:pPr>
            <a:r>
              <a:rPr lang="en-US" sz="3000" b="1" dirty="0">
                <a:solidFill>
                  <a:srgbClr val="7F4F24"/>
                </a:solidFill>
                <a:latin typeface="Cambria" pitchFamily="34" charset="0"/>
                <a:ea typeface="Cambria" pitchFamily="34" charset="-122"/>
                <a:cs typeface="Cambria" pitchFamily="34" charset="-120"/>
              </a:rPr>
              <a:t>0</a:t>
            </a:r>
            <a:endParaRPr lang="en-US" sz="3000" dirty="0"/>
          </a:p>
        </p:txBody>
      </p:sp>
      <p:sp>
        <p:nvSpPr>
          <p:cNvPr id="28" name="Text 26"/>
          <p:cNvSpPr/>
          <p:nvPr/>
        </p:nvSpPr>
        <p:spPr>
          <a:xfrm>
            <a:off x="9171432" y="2980944"/>
            <a:ext cx="2112264" cy="475488"/>
          </a:xfrm>
          <a:prstGeom prst="rect">
            <a:avLst/>
          </a:prstGeom>
          <a:noFill/>
          <a:ln/>
        </p:spPr>
        <p:txBody>
          <a:bodyPr wrap="square" lIns="0" tIns="0" rIns="0" bIns="0" rtlCol="0" anchor="ctr"/>
          <a:lstStyle/>
          <a:p>
            <a:pPr indent="0" marL="0">
              <a:lnSpc>
                <a:spcPct val="98000"/>
              </a:lnSpc>
              <a:buNone/>
            </a:pPr>
            <a:r>
              <a:rPr lang="en-US" sz="1250" b="1" dirty="0">
                <a:solidFill>
                  <a:srgbClr val="333D29"/>
                </a:solidFill>
                <a:latin typeface="Calibri" pitchFamily="34" charset="0"/>
                <a:ea typeface="Calibri" pitchFamily="34" charset="-122"/>
                <a:cs typeface="Calibri" pitchFamily="34" charset="-120"/>
              </a:rPr>
              <a:t>npm vulnerabilities</a:t>
            </a:r>
            <a:endParaRPr lang="en-US" sz="1250" dirty="0"/>
          </a:p>
        </p:txBody>
      </p:sp>
      <p:sp>
        <p:nvSpPr>
          <p:cNvPr id="29" name="Text 27"/>
          <p:cNvSpPr/>
          <p:nvPr/>
        </p:nvSpPr>
        <p:spPr>
          <a:xfrm>
            <a:off x="9171432" y="3474720"/>
            <a:ext cx="2112264" cy="438912"/>
          </a:xfrm>
          <a:prstGeom prst="rect">
            <a:avLst/>
          </a:prstGeom>
          <a:noFill/>
          <a:ln/>
        </p:spPr>
        <p:txBody>
          <a:bodyPr wrap="square" lIns="0" tIns="0" rIns="0" bIns="0" rtlCol="0" anchor="ctr"/>
          <a:lstStyle/>
          <a:p>
            <a:pPr indent="0" marL="0">
              <a:lnSpc>
                <a:spcPct val="102000"/>
              </a:lnSpc>
              <a:buNone/>
            </a:pPr>
            <a:r>
              <a:rPr lang="en-US" sz="1000" i="1" dirty="0">
                <a:solidFill>
                  <a:srgbClr val="656D4A"/>
                </a:solidFill>
                <a:latin typeface="Calibri" pitchFamily="34" charset="0"/>
                <a:ea typeface="Calibri" pitchFamily="34" charset="-122"/>
                <a:cs typeface="Calibri" pitchFamily="34" charset="-120"/>
              </a:rPr>
              <a:t>after upgrading Next, PostCSS and Sharp</a:t>
            </a:r>
            <a:endParaRPr lang="en-US" sz="1000" dirty="0"/>
          </a:p>
        </p:txBody>
      </p:sp>
      <p:sp>
        <p:nvSpPr>
          <p:cNvPr id="30" name="Shape 28"/>
          <p:cNvSpPr/>
          <p:nvPr/>
        </p:nvSpPr>
        <p:spPr>
          <a:xfrm>
            <a:off x="6035040" y="4114800"/>
            <a:ext cx="2551176" cy="1810512"/>
          </a:xfrm>
          <a:prstGeom prst="roundRect">
            <a:avLst>
              <a:gd name="adj" fmla="val 505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31" name="Text 29"/>
          <p:cNvSpPr/>
          <p:nvPr/>
        </p:nvSpPr>
        <p:spPr>
          <a:xfrm>
            <a:off x="6254496" y="4297680"/>
            <a:ext cx="2112264" cy="548640"/>
          </a:xfrm>
          <a:prstGeom prst="rect">
            <a:avLst/>
          </a:prstGeom>
          <a:noFill/>
          <a:ln/>
        </p:spPr>
        <p:txBody>
          <a:bodyPr wrap="square" lIns="0" tIns="0" rIns="0" bIns="0" rtlCol="0" anchor="ctr"/>
          <a:lstStyle/>
          <a:p>
            <a:pPr indent="0" marL="0">
              <a:buNone/>
            </a:pPr>
            <a:r>
              <a:rPr lang="en-US" sz="3000" b="1" dirty="0">
                <a:solidFill>
                  <a:srgbClr val="A68A64"/>
                </a:solidFill>
                <a:latin typeface="Cambria" pitchFamily="34" charset="0"/>
                <a:ea typeface="Cambria" pitchFamily="34" charset="-122"/>
                <a:cs typeface="Cambria" pitchFamily="34" charset="-120"/>
              </a:rPr>
              <a:t>1</a:t>
            </a:r>
            <a:endParaRPr lang="en-US" sz="3000" dirty="0"/>
          </a:p>
        </p:txBody>
      </p:sp>
      <p:sp>
        <p:nvSpPr>
          <p:cNvPr id="32" name="Text 30"/>
          <p:cNvSpPr/>
          <p:nvPr/>
        </p:nvSpPr>
        <p:spPr>
          <a:xfrm>
            <a:off x="6254496" y="4882896"/>
            <a:ext cx="2112264" cy="475488"/>
          </a:xfrm>
          <a:prstGeom prst="rect">
            <a:avLst/>
          </a:prstGeom>
          <a:noFill/>
          <a:ln/>
        </p:spPr>
        <p:txBody>
          <a:bodyPr wrap="square" lIns="0" tIns="0" rIns="0" bIns="0" rtlCol="0" anchor="ctr"/>
          <a:lstStyle/>
          <a:p>
            <a:pPr indent="0" marL="0">
              <a:lnSpc>
                <a:spcPct val="98000"/>
              </a:lnSpc>
              <a:buNone/>
            </a:pPr>
            <a:r>
              <a:rPr lang="en-US" sz="1250" b="1" dirty="0">
                <a:solidFill>
                  <a:srgbClr val="333D29"/>
                </a:solidFill>
                <a:latin typeface="Calibri" pitchFamily="34" charset="0"/>
                <a:ea typeface="Calibri" pitchFamily="34" charset="-122"/>
                <a:cs typeface="Calibri" pitchFamily="34" charset="-120"/>
              </a:rPr>
              <a:t>HIGH still open</a:t>
            </a:r>
            <a:endParaRPr lang="en-US" sz="1250" dirty="0"/>
          </a:p>
        </p:txBody>
      </p:sp>
      <p:sp>
        <p:nvSpPr>
          <p:cNvPr id="33" name="Text 31"/>
          <p:cNvSpPr/>
          <p:nvPr/>
        </p:nvSpPr>
        <p:spPr>
          <a:xfrm>
            <a:off x="6254496" y="5376672"/>
            <a:ext cx="2112264" cy="438912"/>
          </a:xfrm>
          <a:prstGeom prst="rect">
            <a:avLst/>
          </a:prstGeom>
          <a:noFill/>
          <a:ln/>
        </p:spPr>
        <p:txBody>
          <a:bodyPr wrap="square" lIns="0" tIns="0" rIns="0" bIns="0" rtlCol="0" anchor="ctr"/>
          <a:lstStyle/>
          <a:p>
            <a:pPr indent="0" marL="0">
              <a:lnSpc>
                <a:spcPct val="102000"/>
              </a:lnSpc>
              <a:buNone/>
            </a:pPr>
            <a:r>
              <a:rPr lang="en-US" sz="1000" i="1" dirty="0">
                <a:solidFill>
                  <a:srgbClr val="656D4A"/>
                </a:solidFill>
                <a:latin typeface="Calibri" pitchFamily="34" charset="0"/>
                <a:ea typeface="Calibri" pitchFamily="34" charset="-122"/>
                <a:cs typeface="Calibri" pitchFamily="34" charset="-120"/>
              </a:rPr>
              <a:t>server-rendered role checks on dashboards</a:t>
            </a:r>
            <a:endParaRPr lang="en-US" sz="1000" dirty="0"/>
          </a:p>
        </p:txBody>
      </p:sp>
      <p:sp>
        <p:nvSpPr>
          <p:cNvPr id="34" name="Shape 32"/>
          <p:cNvSpPr/>
          <p:nvPr/>
        </p:nvSpPr>
        <p:spPr>
          <a:xfrm>
            <a:off x="8951976" y="4114800"/>
            <a:ext cx="2551176" cy="1810512"/>
          </a:xfrm>
          <a:prstGeom prst="roundRect">
            <a:avLst>
              <a:gd name="adj" fmla="val 5051"/>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35" name="Text 33"/>
          <p:cNvSpPr/>
          <p:nvPr/>
        </p:nvSpPr>
        <p:spPr>
          <a:xfrm>
            <a:off x="9171432" y="4297680"/>
            <a:ext cx="2112264" cy="548640"/>
          </a:xfrm>
          <a:prstGeom prst="rect">
            <a:avLst/>
          </a:prstGeom>
          <a:noFill/>
          <a:ln/>
        </p:spPr>
        <p:txBody>
          <a:bodyPr wrap="square" lIns="0" tIns="0" rIns="0" bIns="0" rtlCol="0" anchor="ctr"/>
          <a:lstStyle/>
          <a:p>
            <a:pPr indent="0" marL="0">
              <a:buNone/>
            </a:pPr>
            <a:r>
              <a:rPr lang="en-US" sz="3000" b="1" dirty="0">
                <a:solidFill>
                  <a:srgbClr val="7F4F24"/>
                </a:solidFill>
                <a:latin typeface="Cambria" pitchFamily="34" charset="0"/>
                <a:ea typeface="Cambria" pitchFamily="34" charset="-122"/>
                <a:cs typeface="Cambria" pitchFamily="34" charset="-120"/>
              </a:rPr>
              <a:t>6</a:t>
            </a:r>
            <a:endParaRPr lang="en-US" sz="3000" dirty="0"/>
          </a:p>
        </p:txBody>
      </p:sp>
      <p:sp>
        <p:nvSpPr>
          <p:cNvPr id="36" name="Text 34"/>
          <p:cNvSpPr/>
          <p:nvPr/>
        </p:nvSpPr>
        <p:spPr>
          <a:xfrm>
            <a:off x="9171432" y="4882896"/>
            <a:ext cx="2112264" cy="475488"/>
          </a:xfrm>
          <a:prstGeom prst="rect">
            <a:avLst/>
          </a:prstGeom>
          <a:noFill/>
          <a:ln/>
        </p:spPr>
        <p:txBody>
          <a:bodyPr wrap="square" lIns="0" tIns="0" rIns="0" bIns="0" rtlCol="0" anchor="ctr"/>
          <a:lstStyle/>
          <a:p>
            <a:pPr indent="0" marL="0">
              <a:lnSpc>
                <a:spcPct val="98000"/>
              </a:lnSpc>
              <a:buNone/>
            </a:pPr>
            <a:r>
              <a:rPr lang="en-US" sz="1250" b="1" dirty="0">
                <a:solidFill>
                  <a:srgbClr val="333D29"/>
                </a:solidFill>
                <a:latin typeface="Calibri" pitchFamily="34" charset="0"/>
                <a:ea typeface="Calibri" pitchFamily="34" charset="-122"/>
                <a:cs typeface="Calibri" pitchFamily="34" charset="-120"/>
              </a:rPr>
              <a:t>dead dependencies removed</a:t>
            </a:r>
            <a:endParaRPr lang="en-US" sz="1250" dirty="0"/>
          </a:p>
        </p:txBody>
      </p:sp>
      <p:sp>
        <p:nvSpPr>
          <p:cNvPr id="37" name="Text 35"/>
          <p:cNvSpPr/>
          <p:nvPr/>
        </p:nvSpPr>
        <p:spPr>
          <a:xfrm>
            <a:off x="9171432" y="5376672"/>
            <a:ext cx="2112264" cy="438912"/>
          </a:xfrm>
          <a:prstGeom prst="rect">
            <a:avLst/>
          </a:prstGeom>
          <a:noFill/>
          <a:ln/>
        </p:spPr>
        <p:txBody>
          <a:bodyPr wrap="square" lIns="0" tIns="0" rIns="0" bIns="0" rtlCol="0" anchor="ctr"/>
          <a:lstStyle/>
          <a:p>
            <a:pPr indent="0" marL="0">
              <a:lnSpc>
                <a:spcPct val="102000"/>
              </a:lnSpc>
              <a:buNone/>
            </a:pPr>
            <a:r>
              <a:rPr lang="en-US" sz="1000" i="1" dirty="0">
                <a:solidFill>
                  <a:srgbClr val="656D4A"/>
                </a:solidFill>
                <a:latin typeface="Calibri" pitchFamily="34" charset="0"/>
                <a:ea typeface="Calibri" pitchFamily="34" charset="-122"/>
                <a:cs typeface="Calibri" pitchFamily="34" charset="-120"/>
              </a:rPr>
              <a:t>GSAP, Zustand, dnd-kit, CVA and more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11 · THE HARD BUG</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Two readiness rules disagreed — and one of them controlled money.</a:t>
            </a:r>
            <a:endParaRPr lang="en-US" sz="3000" dirty="0"/>
          </a:p>
        </p:txBody>
      </p:sp>
      <p:sp>
        <p:nvSpPr>
          <p:cNvPr id="4" name="Shape 2"/>
          <p:cNvSpPr/>
          <p:nvPr/>
        </p:nvSpPr>
        <p:spPr>
          <a:xfrm>
            <a:off x="685800" y="2103120"/>
            <a:ext cx="4937760" cy="2889504"/>
          </a:xfrm>
          <a:prstGeom prst="roundRect">
            <a:avLst>
              <a:gd name="adj" fmla="val 3165"/>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5" name="Text 3"/>
          <p:cNvSpPr/>
          <p:nvPr/>
        </p:nvSpPr>
        <p:spPr>
          <a:xfrm>
            <a:off x="960120" y="2322576"/>
            <a:ext cx="1828800" cy="237744"/>
          </a:xfrm>
          <a:prstGeom prst="rect">
            <a:avLst/>
          </a:prstGeom>
          <a:noFill/>
          <a:ln/>
        </p:spPr>
        <p:txBody>
          <a:bodyPr wrap="square" lIns="0" tIns="0" rIns="0" bIns="0" rtlCol="0" anchor="ctr"/>
          <a:lstStyle/>
          <a:p>
            <a:pPr indent="0" marL="0">
              <a:buNone/>
            </a:pPr>
            <a:r>
              <a:rPr lang="en-US" sz="950" b="1" spc="220" kern="0" dirty="0">
                <a:solidFill>
                  <a:srgbClr val="7F4F24"/>
                </a:solidFill>
                <a:latin typeface="Calibri" pitchFamily="34" charset="0"/>
                <a:ea typeface="Calibri" pitchFamily="34" charset="-122"/>
                <a:cs typeface="Calibri" pitchFamily="34" charset="-120"/>
              </a:rPr>
              <a:t>BEFORE</a:t>
            </a:r>
            <a:endParaRPr lang="en-US" sz="950" dirty="0"/>
          </a:p>
        </p:txBody>
      </p:sp>
      <p:sp>
        <p:nvSpPr>
          <p:cNvPr id="6" name="Text 4"/>
          <p:cNvSpPr/>
          <p:nvPr/>
        </p:nvSpPr>
        <p:spPr>
          <a:xfrm>
            <a:off x="960120" y="2615184"/>
            <a:ext cx="4389120" cy="512064"/>
          </a:xfrm>
          <a:prstGeom prst="rect">
            <a:avLst/>
          </a:prstGeom>
          <a:noFill/>
          <a:ln/>
        </p:spPr>
        <p:txBody>
          <a:bodyPr wrap="square" lIns="0" tIns="0" rIns="0" bIns="0" rtlCol="0" anchor="ctr"/>
          <a:lstStyle/>
          <a:p>
            <a:pPr indent="0" marL="0">
              <a:lnSpc>
                <a:spcPct val="100000"/>
              </a:lnSpc>
              <a:buNone/>
            </a:pPr>
            <a:r>
              <a:rPr lang="en-US" sz="1800" b="1" dirty="0">
                <a:solidFill>
                  <a:srgbClr val="333D29"/>
                </a:solidFill>
                <a:latin typeface="Cambria" pitchFamily="34" charset="0"/>
                <a:ea typeface="Cambria" pitchFamily="34" charset="-122"/>
                <a:cs typeface="Cambria" pitchFamily="34" charset="-120"/>
              </a:rPr>
              <a:t>Readiness was computed twice.</a:t>
            </a:r>
            <a:endParaRPr lang="en-US" sz="1800" dirty="0"/>
          </a:p>
        </p:txBody>
      </p:sp>
      <p:sp>
        <p:nvSpPr>
          <p:cNvPr id="7" name="Text 5"/>
          <p:cNvSpPr/>
          <p:nvPr/>
        </p:nvSpPr>
        <p:spPr>
          <a:xfrm>
            <a:off x="960120" y="3200400"/>
            <a:ext cx="4389120" cy="1609344"/>
          </a:xfrm>
          <a:prstGeom prst="rect">
            <a:avLst/>
          </a:prstGeom>
          <a:noFill/>
          <a:ln/>
        </p:spPr>
        <p:txBody>
          <a:bodyPr wrap="square" lIns="0" tIns="0" rIns="0" bIns="0" rtlCol="0" anchor="ctr"/>
          <a:lstStyle/>
          <a:p>
            <a:pPr indent="0" marL="0">
              <a:lnSpc>
                <a:spcPct val="108000"/>
              </a:lnSpc>
              <a:buNone/>
            </a:pPr>
            <a:r>
              <a:rPr lang="en-US" sz="1150" dirty="0">
                <a:solidFill>
                  <a:srgbClr val="333D29"/>
                </a:solidFill>
                <a:latin typeface="Calibri" pitchFamily="34" charset="0"/>
                <a:ea typeface="Calibri" pitchFamily="34" charset="-122"/>
                <a:cs typeface="Calibri" pitchFamily="34" charset="-120"/>
              </a:rPr>
              <a:t>The planner scored a function in the browser. The pricing gate scored it again on the server, with different rules.</a:t>
            </a:r>
            <a:endParaRPr lang="en-US" sz="1150" dirty="0"/>
          </a:p>
          <a:p>
            <a:pPr indent="0" marL="0">
              <a:lnSpc>
                <a:spcPct val="108000"/>
              </a:lnSpc>
              <a:buNone/>
            </a:pPr>
            <a:endParaRPr lang="en-US" sz="1150" dirty="0"/>
          </a:p>
          <a:p>
            <a:pPr indent="0" marL="0">
              <a:lnSpc>
                <a:spcPct val="108000"/>
              </a:lnSpc>
              <a:buNone/>
            </a:pPr>
            <a:r>
              <a:rPr lang="en-US" sz="1150" dirty="0">
                <a:solidFill>
                  <a:srgbClr val="333D29"/>
                </a:solidFill>
                <a:latin typeface="Calibri" pitchFamily="34" charset="0"/>
                <a:ea typeface="Calibri" pitchFamily="34" charset="-122"/>
                <a:cs typeface="Calibri" pitchFamily="34" charset="-120"/>
              </a:rPr>
              <a:t>So the progress ring could read 100% while the server disagreed — or worse, agree when it shouldn't have. The gate that decides whether a client may see a final price was resting on a number the UI had computed for itself.</a:t>
            </a:r>
            <a:endParaRPr lang="en-US" sz="1150" dirty="0"/>
          </a:p>
        </p:txBody>
      </p:sp>
      <p:sp>
        <p:nvSpPr>
          <p:cNvPr id="8" name="Shape 6"/>
          <p:cNvSpPr/>
          <p:nvPr/>
        </p:nvSpPr>
        <p:spPr>
          <a:xfrm>
            <a:off x="6035040" y="2103120"/>
            <a:ext cx="5468112" cy="2889504"/>
          </a:xfrm>
          <a:prstGeom prst="roundRect">
            <a:avLst>
              <a:gd name="adj" fmla="val 3165"/>
            </a:avLst>
          </a:prstGeom>
          <a:solidFill>
            <a:srgbClr val="EBE3CE"/>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9" name="Text 7"/>
          <p:cNvSpPr/>
          <p:nvPr/>
        </p:nvSpPr>
        <p:spPr>
          <a:xfrm>
            <a:off x="6309360" y="2322576"/>
            <a:ext cx="1828800" cy="237744"/>
          </a:xfrm>
          <a:prstGeom prst="rect">
            <a:avLst/>
          </a:prstGeom>
          <a:noFill/>
          <a:ln/>
        </p:spPr>
        <p:txBody>
          <a:bodyPr wrap="square" lIns="0" tIns="0" rIns="0" bIns="0" rtlCol="0" anchor="ctr"/>
          <a:lstStyle/>
          <a:p>
            <a:pPr indent="0" marL="0">
              <a:buNone/>
            </a:pPr>
            <a:r>
              <a:rPr lang="en-US" sz="950" b="1" spc="220" kern="0" dirty="0">
                <a:solidFill>
                  <a:srgbClr val="7F4F24"/>
                </a:solidFill>
                <a:latin typeface="Calibri" pitchFamily="34" charset="0"/>
                <a:ea typeface="Calibri" pitchFamily="34" charset="-122"/>
                <a:cs typeface="Calibri" pitchFamily="34" charset="-120"/>
              </a:rPr>
              <a:t>AFTER</a:t>
            </a:r>
            <a:endParaRPr lang="en-US" sz="950" dirty="0"/>
          </a:p>
        </p:txBody>
      </p:sp>
      <p:sp>
        <p:nvSpPr>
          <p:cNvPr id="10" name="Text 8"/>
          <p:cNvSpPr/>
          <p:nvPr/>
        </p:nvSpPr>
        <p:spPr>
          <a:xfrm>
            <a:off x="6309360" y="2615184"/>
            <a:ext cx="4919472" cy="512064"/>
          </a:xfrm>
          <a:prstGeom prst="rect">
            <a:avLst/>
          </a:prstGeom>
          <a:noFill/>
          <a:ln/>
        </p:spPr>
        <p:txBody>
          <a:bodyPr wrap="square" lIns="0" tIns="0" rIns="0" bIns="0" rtlCol="0" anchor="ctr"/>
          <a:lstStyle/>
          <a:p>
            <a:pPr indent="0" marL="0">
              <a:lnSpc>
                <a:spcPct val="100000"/>
              </a:lnSpc>
              <a:buNone/>
            </a:pPr>
            <a:r>
              <a:rPr lang="en-US" sz="1800" b="1" dirty="0">
                <a:solidFill>
                  <a:srgbClr val="333D29"/>
                </a:solidFill>
                <a:latin typeface="Cambria" pitchFamily="34" charset="0"/>
                <a:ea typeface="Cambria" pitchFamily="34" charset="-122"/>
                <a:cs typeface="Cambria" pitchFamily="34" charset="-120"/>
              </a:rPr>
              <a:t>One server-side contract, no UI opinion.</a:t>
            </a:r>
            <a:endParaRPr lang="en-US" sz="1800" dirty="0"/>
          </a:p>
        </p:txBody>
      </p:sp>
      <p:sp>
        <p:nvSpPr>
          <p:cNvPr id="11" name="Text 9"/>
          <p:cNvSpPr/>
          <p:nvPr/>
        </p:nvSpPr>
        <p:spPr>
          <a:xfrm>
            <a:off x="6309360" y="3200400"/>
            <a:ext cx="4919472" cy="1609344"/>
          </a:xfrm>
          <a:prstGeom prst="rect">
            <a:avLst/>
          </a:prstGeom>
          <a:noFill/>
          <a:ln/>
        </p:spPr>
        <p:txBody>
          <a:bodyPr wrap="square" lIns="0" tIns="0" rIns="0" bIns="0" rtlCol="0" anchor="ctr"/>
          <a:lstStyle/>
          <a:p>
            <a:pPr indent="0" marL="0">
              <a:lnSpc>
                <a:spcPct val="108000"/>
              </a:lnSpc>
              <a:buNone/>
            </a:pPr>
            <a:r>
              <a:rPr lang="en-US" sz="1150" dirty="0">
                <a:solidFill>
                  <a:srgbClr val="333D29"/>
                </a:solidFill>
                <a:latin typeface="Calibri" pitchFamily="34" charset="0"/>
                <a:ea typeface="Calibri" pitchFamily="34" charset="-122"/>
                <a:cs typeface="Calibri" pitchFamily="34" charset="-120"/>
              </a:rPr>
              <a:t>Readiness and price visibility now come from a single server contract. The planner renders the score; it never derives it.</a:t>
            </a:r>
            <a:endParaRPr lang="en-US" sz="1150" dirty="0"/>
          </a:p>
          <a:p>
            <a:pPr indent="0" marL="0">
              <a:lnSpc>
                <a:spcPct val="108000"/>
              </a:lnSpc>
              <a:buNone/>
            </a:pPr>
            <a:endParaRPr lang="en-US" sz="1150" dirty="0"/>
          </a:p>
          <a:p>
            <a:pPr indent="0" marL="0">
              <a:lnSpc>
                <a:spcPct val="108000"/>
              </a:lnSpc>
              <a:buNone/>
            </a:pPr>
            <a:r>
              <a:rPr lang="en-US" sz="1150" dirty="0">
                <a:solidFill>
                  <a:srgbClr val="333D29"/>
                </a:solidFill>
                <a:latin typeface="Calibri" pitchFamily="34" charset="0"/>
                <a:ea typeface="Calibri" pitchFamily="34" charset="-122"/>
                <a:cs typeface="Calibri" pitchFamily="34" charset="-120"/>
              </a:rPr>
              <a:t>The same pass removed the divergence in vendor discovery, which had been reading a hardcoded wedding-only list instead of the plan's real requirement rows.</a:t>
            </a:r>
            <a:endParaRPr lang="en-US" sz="1150" dirty="0"/>
          </a:p>
        </p:txBody>
      </p:sp>
      <p:sp>
        <p:nvSpPr>
          <p:cNvPr id="12" name="Shape 10"/>
          <p:cNvSpPr/>
          <p:nvPr/>
        </p:nvSpPr>
        <p:spPr>
          <a:xfrm>
            <a:off x="685800" y="5212080"/>
            <a:ext cx="10820095" cy="1005840"/>
          </a:xfrm>
          <a:prstGeom prst="roundRect">
            <a:avLst>
              <a:gd name="adj" fmla="val 8182"/>
            </a:avLst>
          </a:prstGeom>
          <a:solidFill>
            <a:srgbClr val="333D29"/>
          </a:solidFill>
          <a:ln w="9525">
            <a:solidFill>
              <a:srgbClr val="333D29"/>
            </a:solidFill>
            <a:prstDash val="solid"/>
          </a:ln>
          <a:effectLst>
            <a:outerShdw sx="100000" sy="100000" kx="0" ky="0" algn="bl" rotWithShape="0" blurRad="177800" dist="38100" dir="5400000">
              <a:srgbClr val="1F2618">
                <a:alpha val="13000"/>
              </a:srgbClr>
            </a:outerShdw>
          </a:effectLst>
        </p:spPr>
      </p:sp>
      <p:sp>
        <p:nvSpPr>
          <p:cNvPr id="13" name="Text 11"/>
          <p:cNvSpPr/>
          <p:nvPr/>
        </p:nvSpPr>
        <p:spPr>
          <a:xfrm>
            <a:off x="1051560" y="5413248"/>
            <a:ext cx="1371600" cy="237744"/>
          </a:xfrm>
          <a:prstGeom prst="rect">
            <a:avLst/>
          </a:prstGeom>
          <a:noFill/>
          <a:ln/>
        </p:spPr>
        <p:txBody>
          <a:bodyPr wrap="square" lIns="0" tIns="0" rIns="0" bIns="0" rtlCol="0" anchor="ctr"/>
          <a:lstStyle/>
          <a:p>
            <a:pPr indent="0" marL="0">
              <a:buNone/>
            </a:pPr>
            <a:r>
              <a:rPr lang="en-US" sz="950" b="1" spc="200" kern="0" dirty="0">
                <a:solidFill>
                  <a:srgbClr val="A68A64"/>
                </a:solidFill>
                <a:latin typeface="Calibri" pitchFamily="34" charset="0"/>
                <a:ea typeface="Calibri" pitchFamily="34" charset="-122"/>
                <a:cs typeface="Calibri" pitchFamily="34" charset="-120"/>
              </a:rPr>
              <a:t>THE LESSON</a:t>
            </a:r>
            <a:endParaRPr lang="en-US" sz="950" dirty="0"/>
          </a:p>
        </p:txBody>
      </p:sp>
      <p:sp>
        <p:nvSpPr>
          <p:cNvPr id="14" name="Text 12"/>
          <p:cNvSpPr/>
          <p:nvPr/>
        </p:nvSpPr>
        <p:spPr>
          <a:xfrm>
            <a:off x="2606040" y="5358384"/>
            <a:ext cx="8595360" cy="713232"/>
          </a:xfrm>
          <a:prstGeom prst="rect">
            <a:avLst/>
          </a:prstGeom>
          <a:noFill/>
          <a:ln/>
        </p:spPr>
        <p:txBody>
          <a:bodyPr wrap="square" lIns="0" tIns="0" rIns="0" bIns="0" rtlCol="0" anchor="ctr"/>
          <a:lstStyle/>
          <a:p>
            <a:pPr indent="0" marL="0">
              <a:lnSpc>
                <a:spcPct val="100000"/>
              </a:lnSpc>
              <a:buNone/>
            </a:pPr>
            <a:r>
              <a:rPr lang="en-US" sz="1600" b="1" dirty="0">
                <a:solidFill>
                  <a:srgbClr val="F5F0E2"/>
                </a:solidFill>
                <a:latin typeface="Cambria" pitchFamily="34" charset="0"/>
                <a:ea typeface="Cambria" pitchFamily="34" charset="-122"/>
                <a:cs typeface="Cambria" pitchFamily="34" charset="-120"/>
              </a:rPr>
              <a:t>Duplicated business logic isn't a code smell. When one copy guards money, it's a security bug waiting for a rounding difference.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7F4F24"/>
                </a:solidFill>
                <a:latin typeface="Calibri" pitchFamily="34" charset="0"/>
                <a:ea typeface="Calibri" pitchFamily="34" charset="-122"/>
                <a:cs typeface="Calibri" pitchFamily="34" charset="-120"/>
              </a:rPr>
              <a:t>12 · WHAT'S NEXT</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333D29"/>
                </a:solidFill>
                <a:latin typeface="Cambria" pitchFamily="34" charset="0"/>
                <a:ea typeface="Cambria" pitchFamily="34" charset="-122"/>
                <a:cs typeface="Cambria" pitchFamily="34" charset="-120"/>
              </a:rPr>
              <a:t>The next wave is architecture, not features.</a:t>
            </a:r>
            <a:endParaRPr lang="en-US" sz="3000" dirty="0"/>
          </a:p>
        </p:txBody>
      </p:sp>
      <p:sp>
        <p:nvSpPr>
          <p:cNvPr id="4" name="Text 2"/>
          <p:cNvSpPr/>
          <p:nvPr/>
        </p:nvSpPr>
        <p:spPr>
          <a:xfrm>
            <a:off x="685800" y="1700784"/>
            <a:ext cx="10241280" cy="310896"/>
          </a:xfrm>
          <a:prstGeom prst="rect">
            <a:avLst/>
          </a:prstGeom>
          <a:noFill/>
          <a:ln/>
        </p:spPr>
        <p:txBody>
          <a:bodyPr wrap="square" lIns="0" tIns="0" rIns="0" bIns="0" rtlCol="0" anchor="ctr"/>
          <a:lstStyle/>
          <a:p>
            <a:pPr indent="0" marL="0">
              <a:buNone/>
            </a:pPr>
            <a:r>
              <a:rPr lang="en-US" sz="1350" i="1" dirty="0">
                <a:solidFill>
                  <a:srgbClr val="656D4A"/>
                </a:solidFill>
                <a:latin typeface="Calibri" pitchFamily="34" charset="0"/>
                <a:ea typeface="Calibri" pitchFamily="34" charset="-122"/>
                <a:cs typeface="Calibri" pitchFamily="34" charset="-120"/>
              </a:rPr>
              <a:t>These are deliberately unfinished — each needs a data migration, not a patch. Shipping them as “done” would have been the real failure.</a:t>
            </a:r>
            <a:endParaRPr lang="en-US" sz="1350" dirty="0"/>
          </a:p>
        </p:txBody>
      </p:sp>
      <p:sp>
        <p:nvSpPr>
          <p:cNvPr id="5" name="Shape 3"/>
          <p:cNvSpPr/>
          <p:nvPr/>
        </p:nvSpPr>
        <p:spPr>
          <a:xfrm>
            <a:off x="685800" y="2286000"/>
            <a:ext cx="3332074" cy="3602736"/>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6" name="Shape 4"/>
          <p:cNvSpPr/>
          <p:nvPr/>
        </p:nvSpPr>
        <p:spPr>
          <a:xfrm>
            <a:off x="960120" y="2523744"/>
            <a:ext cx="384048" cy="384048"/>
          </a:xfrm>
          <a:prstGeom prst="ellipse">
            <a:avLst/>
          </a:prstGeom>
          <a:solidFill>
            <a:srgbClr val="7F4F24"/>
          </a:solidFill>
          <a:ln w="12700">
            <a:solidFill>
              <a:srgbClr val="7F4F24"/>
            </a:solidFill>
            <a:prstDash val="solid"/>
          </a:ln>
        </p:spPr>
      </p:sp>
      <p:sp>
        <p:nvSpPr>
          <p:cNvPr id="7" name="Text 5"/>
          <p:cNvSpPr/>
          <p:nvPr/>
        </p:nvSpPr>
        <p:spPr>
          <a:xfrm>
            <a:off x="960120" y="2523744"/>
            <a:ext cx="384048" cy="384048"/>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60120" y="3054096"/>
            <a:ext cx="2783434" cy="548640"/>
          </a:xfrm>
          <a:prstGeom prst="rect">
            <a:avLst/>
          </a:prstGeom>
          <a:noFill/>
          <a:ln/>
        </p:spPr>
        <p:txBody>
          <a:bodyPr wrap="square" lIns="0" tIns="0" rIns="0" bIns="0" rtlCol="0" anchor="ctr"/>
          <a:lstStyle/>
          <a:p>
            <a:pPr indent="0" marL="0">
              <a:lnSpc>
                <a:spcPct val="100000"/>
              </a:lnSpc>
              <a:buNone/>
            </a:pPr>
            <a:r>
              <a:rPr lang="en-US" sz="1700" b="1" dirty="0">
                <a:solidFill>
                  <a:srgbClr val="333D29"/>
                </a:solidFill>
                <a:latin typeface="Cambria" pitchFamily="34" charset="0"/>
                <a:ea typeface="Cambria" pitchFamily="34" charset="-122"/>
                <a:cs typeface="Cambria" pitchFamily="34" charset="-120"/>
              </a:rPr>
              <a:t>Transaction boundaries</a:t>
            </a:r>
            <a:endParaRPr lang="en-US" sz="1700" dirty="0"/>
          </a:p>
        </p:txBody>
      </p:sp>
      <p:sp>
        <p:nvSpPr>
          <p:cNvPr id="9" name="Text 7"/>
          <p:cNvSpPr/>
          <p:nvPr/>
        </p:nvSpPr>
        <p:spPr>
          <a:xfrm>
            <a:off x="960120" y="3657600"/>
            <a:ext cx="2783434" cy="1060704"/>
          </a:xfrm>
          <a:prstGeom prst="rect">
            <a:avLst/>
          </a:prstGeom>
          <a:noFill/>
          <a:ln/>
        </p:spPr>
        <p:txBody>
          <a:bodyPr wrap="square" lIns="0" tIns="0" rIns="0" bIns="0" rtlCol="0" anchor="ctr"/>
          <a:lstStyle/>
          <a:p>
            <a:pPr indent="0" marL="0">
              <a:lnSpc>
                <a:spcPct val="106000"/>
              </a:lnSpc>
              <a:buNone/>
            </a:pPr>
            <a:r>
              <a:rPr lang="en-US" sz="1100" dirty="0">
                <a:solidFill>
                  <a:srgbClr val="656D4A"/>
                </a:solidFill>
                <a:latin typeface="Calibri" pitchFamily="34" charset="0"/>
                <a:ea typeface="Calibri" pitchFamily="34" charset="-122"/>
                <a:cs typeface="Calibri" pitchFamily="34" charset="-120"/>
              </a:rPr>
              <a:t>Event creation writes to several tables with no transaction. A failure halfway through is compensated in application code, not rolled back.</a:t>
            </a:r>
            <a:endParaRPr lang="en-US" sz="1100" dirty="0"/>
          </a:p>
        </p:txBody>
      </p:sp>
      <p:sp>
        <p:nvSpPr>
          <p:cNvPr id="10" name="Shape 8"/>
          <p:cNvSpPr/>
          <p:nvPr/>
        </p:nvSpPr>
        <p:spPr>
          <a:xfrm>
            <a:off x="960120" y="4791456"/>
            <a:ext cx="2783434" cy="877824"/>
          </a:xfrm>
          <a:prstGeom prst="roundRect">
            <a:avLst>
              <a:gd name="adj" fmla="val 7292"/>
            </a:avLst>
          </a:prstGeom>
          <a:solidFill>
            <a:srgbClr val="EBE3CE"/>
          </a:solidFill>
          <a:ln w="9525">
            <a:solidFill>
              <a:srgbClr val="EBE3CE"/>
            </a:solidFill>
            <a:prstDash val="solid"/>
          </a:ln>
        </p:spPr>
      </p:sp>
      <p:sp>
        <p:nvSpPr>
          <p:cNvPr id="11" name="Text 9"/>
          <p:cNvSpPr/>
          <p:nvPr/>
        </p:nvSpPr>
        <p:spPr>
          <a:xfrm>
            <a:off x="1088136" y="4864608"/>
            <a:ext cx="2527402" cy="731520"/>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Move the full save into reviewed Postgres RPCs so rollback is guaranteed.</a:t>
            </a:r>
            <a:endParaRPr lang="en-US" sz="1050" dirty="0"/>
          </a:p>
        </p:txBody>
      </p:sp>
      <p:sp>
        <p:nvSpPr>
          <p:cNvPr id="12" name="Shape 10"/>
          <p:cNvSpPr/>
          <p:nvPr/>
        </p:nvSpPr>
        <p:spPr>
          <a:xfrm>
            <a:off x="4429354" y="2286000"/>
            <a:ext cx="3332074" cy="3602736"/>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13" name="Shape 11"/>
          <p:cNvSpPr/>
          <p:nvPr/>
        </p:nvSpPr>
        <p:spPr>
          <a:xfrm>
            <a:off x="4703674" y="2523744"/>
            <a:ext cx="384048" cy="384048"/>
          </a:xfrm>
          <a:prstGeom prst="ellipse">
            <a:avLst/>
          </a:prstGeom>
          <a:solidFill>
            <a:srgbClr val="7F4F24"/>
          </a:solidFill>
          <a:ln w="12700">
            <a:solidFill>
              <a:srgbClr val="7F4F24"/>
            </a:solidFill>
            <a:prstDash val="solid"/>
          </a:ln>
        </p:spPr>
      </p:sp>
      <p:sp>
        <p:nvSpPr>
          <p:cNvPr id="14" name="Text 12"/>
          <p:cNvSpPr/>
          <p:nvPr/>
        </p:nvSpPr>
        <p:spPr>
          <a:xfrm>
            <a:off x="4703674" y="2523744"/>
            <a:ext cx="384048" cy="384048"/>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4703674" y="3054096"/>
            <a:ext cx="2783434" cy="548640"/>
          </a:xfrm>
          <a:prstGeom prst="rect">
            <a:avLst/>
          </a:prstGeom>
          <a:noFill/>
          <a:ln/>
        </p:spPr>
        <p:txBody>
          <a:bodyPr wrap="square" lIns="0" tIns="0" rIns="0" bIns="0" rtlCol="0" anchor="ctr"/>
          <a:lstStyle/>
          <a:p>
            <a:pPr indent="0" marL="0">
              <a:lnSpc>
                <a:spcPct val="100000"/>
              </a:lnSpc>
              <a:buNone/>
            </a:pPr>
            <a:r>
              <a:rPr lang="en-US" sz="1700" b="1" dirty="0">
                <a:solidFill>
                  <a:srgbClr val="333D29"/>
                </a:solidFill>
                <a:latin typeface="Cambria" pitchFamily="34" charset="0"/>
                <a:ea typeface="Cambria" pitchFamily="34" charset="-122"/>
                <a:cs typeface="Cambria" pitchFamily="34" charset="-120"/>
              </a:rPr>
              <a:t>Split the money ledger</a:t>
            </a:r>
            <a:endParaRPr lang="en-US" sz="1700" dirty="0"/>
          </a:p>
        </p:txBody>
      </p:sp>
      <p:sp>
        <p:nvSpPr>
          <p:cNvPr id="16" name="Text 14"/>
          <p:cNvSpPr/>
          <p:nvPr/>
        </p:nvSpPr>
        <p:spPr>
          <a:xfrm>
            <a:off x="4703674" y="3657600"/>
            <a:ext cx="2783434" cy="1060704"/>
          </a:xfrm>
          <a:prstGeom prst="rect">
            <a:avLst/>
          </a:prstGeom>
          <a:noFill/>
          <a:ln/>
        </p:spPr>
        <p:txBody>
          <a:bodyPr wrap="square" lIns="0" tIns="0" rIns="0" bIns="0" rtlCol="0" anchor="ctr"/>
          <a:lstStyle/>
          <a:p>
            <a:pPr indent="0" marL="0">
              <a:lnSpc>
                <a:spcPct val="106000"/>
              </a:lnSpc>
              <a:buNone/>
            </a:pPr>
            <a:r>
              <a:rPr lang="en-US" sz="1100" dirty="0">
                <a:solidFill>
                  <a:srgbClr val="656D4A"/>
                </a:solidFill>
                <a:latin typeface="Calibri" pitchFamily="34" charset="0"/>
                <a:ea typeface="Calibri" pitchFamily="34" charset="-122"/>
                <a:cs typeface="Calibri" pitchFamily="34" charset="-120"/>
              </a:rPr>
              <a:t>One paid_amount column currently serves two opposite flows — what the client pays in, and what the vendor is paid out.</a:t>
            </a:r>
            <a:endParaRPr lang="en-US" sz="1100" dirty="0"/>
          </a:p>
        </p:txBody>
      </p:sp>
      <p:sp>
        <p:nvSpPr>
          <p:cNvPr id="17" name="Shape 15"/>
          <p:cNvSpPr/>
          <p:nvPr/>
        </p:nvSpPr>
        <p:spPr>
          <a:xfrm>
            <a:off x="4703674" y="4791456"/>
            <a:ext cx="2783434" cy="877824"/>
          </a:xfrm>
          <a:prstGeom prst="roundRect">
            <a:avLst>
              <a:gd name="adj" fmla="val 7292"/>
            </a:avLst>
          </a:prstGeom>
          <a:solidFill>
            <a:srgbClr val="EBE3CE"/>
          </a:solidFill>
          <a:ln w="9525">
            <a:solidFill>
              <a:srgbClr val="EBE3CE"/>
            </a:solidFill>
            <a:prstDash val="solid"/>
          </a:ln>
        </p:spPr>
      </p:sp>
      <p:sp>
        <p:nvSpPr>
          <p:cNvPr id="18" name="Text 16"/>
          <p:cNvSpPr/>
          <p:nvPr/>
        </p:nvSpPr>
        <p:spPr>
          <a:xfrm>
            <a:off x="4831690" y="4864608"/>
            <a:ext cx="2527402" cy="731520"/>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Separate client receipts from vendor payouts before the data gets harder to untangle.</a:t>
            </a:r>
            <a:endParaRPr lang="en-US" sz="1050" dirty="0"/>
          </a:p>
        </p:txBody>
      </p:sp>
      <p:sp>
        <p:nvSpPr>
          <p:cNvPr id="19" name="Shape 17"/>
          <p:cNvSpPr/>
          <p:nvPr/>
        </p:nvSpPr>
        <p:spPr>
          <a:xfrm>
            <a:off x="8172907" y="2286000"/>
            <a:ext cx="3332074" cy="3602736"/>
          </a:xfrm>
          <a:prstGeom prst="roundRect">
            <a:avLst>
              <a:gd name="adj" fmla="val 2744"/>
            </a:avLst>
          </a:prstGeom>
          <a:solidFill>
            <a:srgbClr val="FFFFFF"/>
          </a:solidFill>
          <a:ln w="9525">
            <a:solidFill>
              <a:srgbClr val="B6AD90"/>
            </a:solidFill>
            <a:prstDash val="solid"/>
          </a:ln>
          <a:effectLst>
            <a:outerShdw sx="100000" sy="100000" kx="0" ky="0" algn="bl" rotWithShape="0" blurRad="177800" dist="38100" dir="5400000">
              <a:srgbClr val="1F2618">
                <a:alpha val="13000"/>
              </a:srgbClr>
            </a:outerShdw>
          </a:effectLst>
        </p:spPr>
      </p:sp>
      <p:sp>
        <p:nvSpPr>
          <p:cNvPr id="20" name="Shape 18"/>
          <p:cNvSpPr/>
          <p:nvPr/>
        </p:nvSpPr>
        <p:spPr>
          <a:xfrm>
            <a:off x="8447227" y="2523744"/>
            <a:ext cx="384048" cy="384048"/>
          </a:xfrm>
          <a:prstGeom prst="ellipse">
            <a:avLst/>
          </a:prstGeom>
          <a:solidFill>
            <a:srgbClr val="7F4F24"/>
          </a:solidFill>
          <a:ln w="12700">
            <a:solidFill>
              <a:srgbClr val="7F4F24"/>
            </a:solidFill>
            <a:prstDash val="solid"/>
          </a:ln>
        </p:spPr>
      </p:sp>
      <p:sp>
        <p:nvSpPr>
          <p:cNvPr id="21" name="Text 19"/>
          <p:cNvSpPr/>
          <p:nvPr/>
        </p:nvSpPr>
        <p:spPr>
          <a:xfrm>
            <a:off x="8447227" y="2523744"/>
            <a:ext cx="384048" cy="384048"/>
          </a:xfrm>
          <a:prstGeom prst="rect">
            <a:avLst/>
          </a:prstGeom>
          <a:noFill/>
          <a:ln/>
        </p:spPr>
        <p:txBody>
          <a:bodyPr wrap="square" lIns="0" tIns="0" rIns="0" bIns="0" rtlCol="0" anchor="ctr"/>
          <a:lstStyle/>
          <a:p>
            <a:pPr algn="ctr" indent="0" marL="0">
              <a:buNone/>
            </a:pPr>
            <a:r>
              <a:rPr lang="en-US" sz="1300" b="1" dirty="0">
                <a:solidFill>
                  <a:srgbClr val="F5F0E2"/>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447227" y="3054096"/>
            <a:ext cx="2783434" cy="548640"/>
          </a:xfrm>
          <a:prstGeom prst="rect">
            <a:avLst/>
          </a:prstGeom>
          <a:noFill/>
          <a:ln/>
        </p:spPr>
        <p:txBody>
          <a:bodyPr wrap="square" lIns="0" tIns="0" rIns="0" bIns="0" rtlCol="0" anchor="ctr"/>
          <a:lstStyle/>
          <a:p>
            <a:pPr indent="0" marL="0">
              <a:lnSpc>
                <a:spcPct val="100000"/>
              </a:lnSpc>
              <a:buNone/>
            </a:pPr>
            <a:r>
              <a:rPr lang="en-US" sz="1700" b="1" dirty="0">
                <a:solidFill>
                  <a:srgbClr val="333D29"/>
                </a:solidFill>
                <a:latin typeface="Cambria" pitchFamily="34" charset="0"/>
                <a:ea typeface="Cambria" pitchFamily="34" charset="-122"/>
                <a:cs typeface="Cambria" pitchFamily="34" charset="-120"/>
              </a:rPr>
              <a:t>Decompose the planner</a:t>
            </a:r>
            <a:endParaRPr lang="en-US" sz="1700" dirty="0"/>
          </a:p>
        </p:txBody>
      </p:sp>
      <p:sp>
        <p:nvSpPr>
          <p:cNvPr id="23" name="Text 21"/>
          <p:cNvSpPr/>
          <p:nvPr/>
        </p:nvSpPr>
        <p:spPr>
          <a:xfrm>
            <a:off x="8447227" y="3657600"/>
            <a:ext cx="2783434" cy="1060704"/>
          </a:xfrm>
          <a:prstGeom prst="rect">
            <a:avLst/>
          </a:prstGeom>
          <a:noFill/>
          <a:ln/>
        </p:spPr>
        <p:txBody>
          <a:bodyPr wrap="square" lIns="0" tIns="0" rIns="0" bIns="0" rtlCol="0" anchor="ctr"/>
          <a:lstStyle/>
          <a:p>
            <a:pPr indent="0" marL="0">
              <a:lnSpc>
                <a:spcPct val="106000"/>
              </a:lnSpc>
              <a:buNone/>
            </a:pPr>
            <a:r>
              <a:rPr lang="en-US" sz="1100" dirty="0">
                <a:solidFill>
                  <a:srgbClr val="656D4A"/>
                </a:solidFill>
                <a:latin typeface="Calibri" pitchFamily="34" charset="0"/>
                <a:ea typeface="Calibri" pitchFamily="34" charset="-122"/>
                <a:cs typeface="Calibri" pitchFamily="34" charset="-120"/>
              </a:rPr>
              <a:t>The client planner is a single 6,244-line client component; 42 of 62 pages fetch through useEffect.</a:t>
            </a:r>
            <a:endParaRPr lang="en-US" sz="1100" dirty="0"/>
          </a:p>
        </p:txBody>
      </p:sp>
      <p:sp>
        <p:nvSpPr>
          <p:cNvPr id="24" name="Shape 22"/>
          <p:cNvSpPr/>
          <p:nvPr/>
        </p:nvSpPr>
        <p:spPr>
          <a:xfrm>
            <a:off x="8447227" y="4791456"/>
            <a:ext cx="2783434" cy="877824"/>
          </a:xfrm>
          <a:prstGeom prst="roundRect">
            <a:avLst>
              <a:gd name="adj" fmla="val 7292"/>
            </a:avLst>
          </a:prstGeom>
          <a:solidFill>
            <a:srgbClr val="EBE3CE"/>
          </a:solidFill>
          <a:ln w="9525">
            <a:solidFill>
              <a:srgbClr val="EBE3CE"/>
            </a:solidFill>
            <a:prstDash val="solid"/>
          </a:ln>
        </p:spPr>
      </p:sp>
      <p:sp>
        <p:nvSpPr>
          <p:cNvPr id="25" name="Text 23"/>
          <p:cNvSpPr/>
          <p:nvPr/>
        </p:nvSpPr>
        <p:spPr>
          <a:xfrm>
            <a:off x="8575243" y="4864608"/>
            <a:ext cx="2527402" cy="731520"/>
          </a:xfrm>
          <a:prstGeom prst="rect">
            <a:avLst/>
          </a:prstGeom>
          <a:noFill/>
          <a:ln/>
        </p:spPr>
        <p:txBody>
          <a:bodyPr wrap="square" lIns="0" tIns="0" rIns="0" bIns="0" rtlCol="0" anchor="ctr"/>
          <a:lstStyle/>
          <a:p>
            <a:pPr indent="0" marL="0">
              <a:lnSpc>
                <a:spcPct val="102000"/>
              </a:lnSpc>
              <a:buNone/>
            </a:pPr>
            <a:r>
              <a:rPr lang="en-US" sz="1050" i="1" dirty="0">
                <a:solidFill>
                  <a:srgbClr val="333D29"/>
                </a:solidFill>
                <a:latin typeface="Calibri" pitchFamily="34" charset="0"/>
                <a:ea typeface="Calibri" pitchFamily="34" charset="-122"/>
                <a:cs typeface="Calibri" pitchFamily="34" charset="-120"/>
              </a:rPr>
              <a:t>Move stable reads server-side without losing the radial interaction model.</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402336"/>
            <a:ext cx="10817352" cy="237744"/>
          </a:xfrm>
          <a:prstGeom prst="rect">
            <a:avLst/>
          </a:prstGeom>
          <a:noFill/>
          <a:ln/>
        </p:spPr>
        <p:txBody>
          <a:bodyPr wrap="square" lIns="0" tIns="0" rIns="0" bIns="0" rtlCol="0" anchor="ctr"/>
          <a:lstStyle/>
          <a:p>
            <a:pPr indent="0" marL="0">
              <a:buNone/>
            </a:pPr>
            <a:r>
              <a:rPr lang="en-US" sz="1050" b="1" spc="260" kern="0" dirty="0">
                <a:solidFill>
                  <a:srgbClr val="A68A64"/>
                </a:solidFill>
                <a:latin typeface="Calibri" pitchFamily="34" charset="0"/>
                <a:ea typeface="Calibri" pitchFamily="34" charset="-122"/>
                <a:cs typeface="Calibri" pitchFamily="34" charset="-120"/>
              </a:rPr>
              <a:t>13 · WHAT I LEARNED</a:t>
            </a:r>
            <a:endParaRPr lang="en-US" sz="1050" dirty="0"/>
          </a:p>
        </p:txBody>
      </p:sp>
      <p:sp>
        <p:nvSpPr>
          <p:cNvPr id="3" name="Text 1"/>
          <p:cNvSpPr/>
          <p:nvPr/>
        </p:nvSpPr>
        <p:spPr>
          <a:xfrm>
            <a:off x="685800" y="713232"/>
            <a:ext cx="10515600" cy="932688"/>
          </a:xfrm>
          <a:prstGeom prst="rect">
            <a:avLst/>
          </a:prstGeom>
          <a:noFill/>
          <a:ln/>
        </p:spPr>
        <p:txBody>
          <a:bodyPr wrap="square" lIns="0" tIns="0" rIns="0" bIns="0" rtlCol="0" anchor="t"/>
          <a:lstStyle/>
          <a:p>
            <a:pPr indent="0" marL="0">
              <a:lnSpc>
                <a:spcPct val="102000"/>
              </a:lnSpc>
              <a:buNone/>
            </a:pPr>
            <a:r>
              <a:rPr lang="en-US" sz="3000" b="1" dirty="0">
                <a:solidFill>
                  <a:srgbClr val="F5F0E2"/>
                </a:solidFill>
                <a:latin typeface="Cambria" pitchFamily="34" charset="0"/>
                <a:ea typeface="Cambria" pitchFamily="34" charset="-122"/>
                <a:cs typeface="Cambria" pitchFamily="34" charset="-120"/>
              </a:rPr>
              <a:t>Three lessons I'll carry into every codebase.</a:t>
            </a:r>
            <a:endParaRPr lang="en-US" sz="3000" dirty="0"/>
          </a:p>
        </p:txBody>
      </p:sp>
      <p:sp>
        <p:nvSpPr>
          <p:cNvPr id="4" name="Shape 2"/>
          <p:cNvSpPr/>
          <p:nvPr/>
        </p:nvSpPr>
        <p:spPr>
          <a:xfrm>
            <a:off x="685800" y="2212848"/>
            <a:ext cx="10820095" cy="1261872"/>
          </a:xfrm>
          <a:prstGeom prst="roundRect">
            <a:avLst>
              <a:gd name="adj" fmla="val 6522"/>
            </a:avLst>
          </a:prstGeom>
          <a:solidFill>
            <a:srgbClr val="2B331F"/>
          </a:solidFill>
          <a:ln w="12700">
            <a:solidFill>
              <a:srgbClr val="4A5138"/>
            </a:solidFill>
            <a:prstDash val="solid"/>
          </a:ln>
        </p:spPr>
      </p:sp>
      <p:sp>
        <p:nvSpPr>
          <p:cNvPr id="5" name="Shape 3"/>
          <p:cNvSpPr/>
          <p:nvPr/>
        </p:nvSpPr>
        <p:spPr>
          <a:xfrm>
            <a:off x="987552" y="2615184"/>
            <a:ext cx="457200" cy="457200"/>
          </a:xfrm>
          <a:prstGeom prst="ellipse">
            <a:avLst/>
          </a:prstGeom>
          <a:solidFill>
            <a:srgbClr val="A68A64"/>
          </a:solidFill>
          <a:ln w="12700">
            <a:solidFill>
              <a:srgbClr val="A68A64"/>
            </a:solidFill>
            <a:prstDash val="solid"/>
          </a:ln>
        </p:spPr>
      </p:sp>
      <p:sp>
        <p:nvSpPr>
          <p:cNvPr id="6" name="Text 4"/>
          <p:cNvSpPr/>
          <p:nvPr/>
        </p:nvSpPr>
        <p:spPr>
          <a:xfrm>
            <a:off x="987552" y="2615184"/>
            <a:ext cx="457200" cy="457200"/>
          </a:xfrm>
          <a:prstGeom prst="rect">
            <a:avLst/>
          </a:prstGeom>
          <a:noFill/>
          <a:ln/>
        </p:spPr>
        <p:txBody>
          <a:bodyPr wrap="square" lIns="0" tIns="0" rIns="0" bIns="0" rtlCol="0" anchor="ctr"/>
          <a:lstStyle/>
          <a:p>
            <a:pPr algn="ctr" indent="0" marL="0">
              <a:buNone/>
            </a:pPr>
            <a:r>
              <a:rPr lang="en-US" sz="1400" b="1" dirty="0">
                <a:solidFill>
                  <a:srgbClr val="333D29"/>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627632" y="2587752"/>
            <a:ext cx="4297680" cy="512064"/>
          </a:xfrm>
          <a:prstGeom prst="rect">
            <a:avLst/>
          </a:prstGeom>
          <a:noFill/>
          <a:ln/>
        </p:spPr>
        <p:txBody>
          <a:bodyPr wrap="square" lIns="0" tIns="0" rIns="0" bIns="0" rtlCol="0" anchor="ctr"/>
          <a:lstStyle/>
          <a:p>
            <a:pPr indent="0" marL="0">
              <a:lnSpc>
                <a:spcPct val="98000"/>
              </a:lnSpc>
              <a:buNone/>
            </a:pPr>
            <a:r>
              <a:rPr lang="en-US" sz="1900" b="1" dirty="0">
                <a:solidFill>
                  <a:srgbClr val="F5F0E2"/>
                </a:solidFill>
                <a:latin typeface="Cambria" pitchFamily="34" charset="0"/>
                <a:ea typeface="Cambria" pitchFamily="34" charset="-122"/>
                <a:cs typeface="Cambria" pitchFamily="34" charset="-120"/>
              </a:rPr>
              <a:t>Chrome that lies is a bug.</a:t>
            </a:r>
            <a:endParaRPr lang="en-US" sz="1900" dirty="0"/>
          </a:p>
        </p:txBody>
      </p:sp>
      <p:sp>
        <p:nvSpPr>
          <p:cNvPr id="8" name="Text 6"/>
          <p:cNvSpPr/>
          <p:nvPr/>
        </p:nvSpPr>
        <p:spPr>
          <a:xfrm>
            <a:off x="6053328" y="2395728"/>
            <a:ext cx="5175504" cy="914400"/>
          </a:xfrm>
          <a:prstGeom prst="rect">
            <a:avLst/>
          </a:prstGeom>
          <a:noFill/>
          <a:ln/>
        </p:spPr>
        <p:txBody>
          <a:bodyPr wrap="square" lIns="0" tIns="0" rIns="0" bIns="0" rtlCol="0" anchor="ctr"/>
          <a:lstStyle/>
          <a:p>
            <a:pPr indent="0" marL="0">
              <a:lnSpc>
                <a:spcPct val="106000"/>
              </a:lnSpc>
              <a:buNone/>
            </a:pPr>
            <a:r>
              <a:rPr lang="en-US" sz="1150" dirty="0">
                <a:solidFill>
                  <a:srgbClr val="BFC2AC"/>
                </a:solidFill>
                <a:latin typeface="Calibri" pitchFamily="34" charset="0"/>
                <a:ea typeface="Calibri" pitchFamily="34" charset="-122"/>
                <a:cs typeface="Calibri" pitchFamily="34" charset="-120"/>
              </a:rPr>
              <a:t>I shipped surfaces that looked plan-aware over logic that never read the plan. A convincing empty state is worse than an honest error — it costs the user trust they can't get back.</a:t>
            </a:r>
            <a:endParaRPr lang="en-US" sz="1150" dirty="0"/>
          </a:p>
        </p:txBody>
      </p:sp>
      <p:sp>
        <p:nvSpPr>
          <p:cNvPr id="9" name="Shape 7"/>
          <p:cNvSpPr/>
          <p:nvPr/>
        </p:nvSpPr>
        <p:spPr>
          <a:xfrm>
            <a:off x="685800" y="3602736"/>
            <a:ext cx="10820095" cy="1261872"/>
          </a:xfrm>
          <a:prstGeom prst="roundRect">
            <a:avLst>
              <a:gd name="adj" fmla="val 6522"/>
            </a:avLst>
          </a:prstGeom>
          <a:solidFill>
            <a:srgbClr val="2B331F"/>
          </a:solidFill>
          <a:ln w="12700">
            <a:solidFill>
              <a:srgbClr val="4A5138"/>
            </a:solidFill>
            <a:prstDash val="solid"/>
          </a:ln>
        </p:spPr>
      </p:sp>
      <p:sp>
        <p:nvSpPr>
          <p:cNvPr id="10" name="Shape 8"/>
          <p:cNvSpPr/>
          <p:nvPr/>
        </p:nvSpPr>
        <p:spPr>
          <a:xfrm>
            <a:off x="987552" y="4005072"/>
            <a:ext cx="457200" cy="457200"/>
          </a:xfrm>
          <a:prstGeom prst="ellipse">
            <a:avLst/>
          </a:prstGeom>
          <a:solidFill>
            <a:srgbClr val="A68A64"/>
          </a:solidFill>
          <a:ln w="12700">
            <a:solidFill>
              <a:srgbClr val="A68A64"/>
            </a:solidFill>
            <a:prstDash val="solid"/>
          </a:ln>
        </p:spPr>
      </p:sp>
      <p:sp>
        <p:nvSpPr>
          <p:cNvPr id="11" name="Text 9"/>
          <p:cNvSpPr/>
          <p:nvPr/>
        </p:nvSpPr>
        <p:spPr>
          <a:xfrm>
            <a:off x="987552" y="4005072"/>
            <a:ext cx="457200" cy="457200"/>
          </a:xfrm>
          <a:prstGeom prst="rect">
            <a:avLst/>
          </a:prstGeom>
          <a:noFill/>
          <a:ln/>
        </p:spPr>
        <p:txBody>
          <a:bodyPr wrap="square" lIns="0" tIns="0" rIns="0" bIns="0" rtlCol="0" anchor="ctr"/>
          <a:lstStyle/>
          <a:p>
            <a:pPr algn="ctr" indent="0" marL="0">
              <a:buNone/>
            </a:pPr>
            <a:r>
              <a:rPr lang="en-US" sz="1400" b="1" dirty="0">
                <a:solidFill>
                  <a:srgbClr val="333D29"/>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627632" y="3977640"/>
            <a:ext cx="4297680" cy="512064"/>
          </a:xfrm>
          <a:prstGeom prst="rect">
            <a:avLst/>
          </a:prstGeom>
          <a:noFill/>
          <a:ln/>
        </p:spPr>
        <p:txBody>
          <a:bodyPr wrap="square" lIns="0" tIns="0" rIns="0" bIns="0" rtlCol="0" anchor="ctr"/>
          <a:lstStyle/>
          <a:p>
            <a:pPr indent="0" marL="0">
              <a:lnSpc>
                <a:spcPct val="98000"/>
              </a:lnSpc>
              <a:buNone/>
            </a:pPr>
            <a:r>
              <a:rPr lang="en-US" sz="1900" b="1" dirty="0">
                <a:solidFill>
                  <a:srgbClr val="F5F0E2"/>
                </a:solidFill>
                <a:latin typeface="Cambria" pitchFamily="34" charset="0"/>
                <a:ea typeface="Cambria" pitchFamily="34" charset="-122"/>
                <a:cs typeface="Cambria" pitchFamily="34" charset="-120"/>
              </a:rPr>
              <a:t>Constraints belong in the database.</a:t>
            </a:r>
            <a:endParaRPr lang="en-US" sz="1900" dirty="0"/>
          </a:p>
        </p:txBody>
      </p:sp>
      <p:sp>
        <p:nvSpPr>
          <p:cNvPr id="13" name="Text 11"/>
          <p:cNvSpPr/>
          <p:nvPr/>
        </p:nvSpPr>
        <p:spPr>
          <a:xfrm>
            <a:off x="6053328" y="3785616"/>
            <a:ext cx="5175504" cy="914400"/>
          </a:xfrm>
          <a:prstGeom prst="rect">
            <a:avLst/>
          </a:prstGeom>
          <a:noFill/>
          <a:ln/>
        </p:spPr>
        <p:txBody>
          <a:bodyPr wrap="square" lIns="0" tIns="0" rIns="0" bIns="0" rtlCol="0" anchor="ctr"/>
          <a:lstStyle/>
          <a:p>
            <a:pPr indent="0" marL="0">
              <a:lnSpc>
                <a:spcPct val="106000"/>
              </a:lnSpc>
              <a:buNone/>
            </a:pPr>
            <a:r>
              <a:rPr lang="en-US" sz="1150" dirty="0">
                <a:solidFill>
                  <a:srgbClr val="BFC2AC"/>
                </a:solidFill>
                <a:latin typeface="Calibri" pitchFamily="34" charset="0"/>
                <a:ea typeface="Calibri" pitchFamily="34" charset="-122"/>
                <a:cs typeface="Calibri" pitchFamily="34" charset="-120"/>
              </a:rPr>
              <a:t>Generated columns, partial unique indexes and check constraints enforce the commercial model even if my React code is wrong. Rules in components are suggestions.</a:t>
            </a:r>
            <a:endParaRPr lang="en-US" sz="1150" dirty="0"/>
          </a:p>
        </p:txBody>
      </p:sp>
      <p:sp>
        <p:nvSpPr>
          <p:cNvPr id="14" name="Shape 12"/>
          <p:cNvSpPr/>
          <p:nvPr/>
        </p:nvSpPr>
        <p:spPr>
          <a:xfrm>
            <a:off x="685800" y="4992624"/>
            <a:ext cx="10820095" cy="1261872"/>
          </a:xfrm>
          <a:prstGeom prst="roundRect">
            <a:avLst>
              <a:gd name="adj" fmla="val 6522"/>
            </a:avLst>
          </a:prstGeom>
          <a:solidFill>
            <a:srgbClr val="2B331F"/>
          </a:solidFill>
          <a:ln w="12700">
            <a:solidFill>
              <a:srgbClr val="4A5138"/>
            </a:solidFill>
            <a:prstDash val="solid"/>
          </a:ln>
        </p:spPr>
      </p:sp>
      <p:sp>
        <p:nvSpPr>
          <p:cNvPr id="15" name="Shape 13"/>
          <p:cNvSpPr/>
          <p:nvPr/>
        </p:nvSpPr>
        <p:spPr>
          <a:xfrm>
            <a:off x="987552" y="5394960"/>
            <a:ext cx="457200" cy="457200"/>
          </a:xfrm>
          <a:prstGeom prst="ellipse">
            <a:avLst/>
          </a:prstGeom>
          <a:solidFill>
            <a:srgbClr val="A68A64"/>
          </a:solidFill>
          <a:ln w="12700">
            <a:solidFill>
              <a:srgbClr val="A68A64"/>
            </a:solidFill>
            <a:prstDash val="solid"/>
          </a:ln>
        </p:spPr>
      </p:sp>
      <p:sp>
        <p:nvSpPr>
          <p:cNvPr id="16" name="Text 14"/>
          <p:cNvSpPr/>
          <p:nvPr/>
        </p:nvSpPr>
        <p:spPr>
          <a:xfrm>
            <a:off x="987552" y="5394960"/>
            <a:ext cx="457200" cy="457200"/>
          </a:xfrm>
          <a:prstGeom prst="rect">
            <a:avLst/>
          </a:prstGeom>
          <a:noFill/>
          <a:ln/>
        </p:spPr>
        <p:txBody>
          <a:bodyPr wrap="square" lIns="0" tIns="0" rIns="0" bIns="0" rtlCol="0" anchor="ctr"/>
          <a:lstStyle/>
          <a:p>
            <a:pPr algn="ctr" indent="0" marL="0">
              <a:buNone/>
            </a:pPr>
            <a:r>
              <a:rPr lang="en-US" sz="1400" b="1" dirty="0">
                <a:solidFill>
                  <a:srgbClr val="333D29"/>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627632" y="5367528"/>
            <a:ext cx="4297680" cy="512064"/>
          </a:xfrm>
          <a:prstGeom prst="rect">
            <a:avLst/>
          </a:prstGeom>
          <a:noFill/>
          <a:ln/>
        </p:spPr>
        <p:txBody>
          <a:bodyPr wrap="square" lIns="0" tIns="0" rIns="0" bIns="0" rtlCol="0" anchor="ctr"/>
          <a:lstStyle/>
          <a:p>
            <a:pPr indent="0" marL="0">
              <a:lnSpc>
                <a:spcPct val="98000"/>
              </a:lnSpc>
              <a:buNone/>
            </a:pPr>
            <a:r>
              <a:rPr lang="en-US" sz="1900" b="1" dirty="0">
                <a:solidFill>
                  <a:srgbClr val="F5F0E2"/>
                </a:solidFill>
                <a:latin typeface="Cambria" pitchFamily="34" charset="0"/>
                <a:ea typeface="Cambria" pitchFamily="34" charset="-122"/>
                <a:cs typeface="Cambria" pitchFamily="34" charset="-120"/>
              </a:rPr>
              <a:t>Writing the audit taught me more than writing the feature.</a:t>
            </a:r>
            <a:endParaRPr lang="en-US" sz="1900" dirty="0"/>
          </a:p>
        </p:txBody>
      </p:sp>
      <p:sp>
        <p:nvSpPr>
          <p:cNvPr id="18" name="Text 16"/>
          <p:cNvSpPr/>
          <p:nvPr/>
        </p:nvSpPr>
        <p:spPr>
          <a:xfrm>
            <a:off x="6053328" y="5175504"/>
            <a:ext cx="5175504" cy="914400"/>
          </a:xfrm>
          <a:prstGeom prst="rect">
            <a:avLst/>
          </a:prstGeom>
          <a:noFill/>
          <a:ln/>
        </p:spPr>
        <p:txBody>
          <a:bodyPr wrap="square" lIns="0" tIns="0" rIns="0" bIns="0" rtlCol="0" anchor="ctr"/>
          <a:lstStyle/>
          <a:p>
            <a:pPr indent="0" marL="0">
              <a:lnSpc>
                <a:spcPct val="106000"/>
              </a:lnSpc>
              <a:buNone/>
            </a:pPr>
            <a:r>
              <a:rPr lang="en-US" sz="1150" dirty="0">
                <a:solidFill>
                  <a:srgbClr val="BFC2AC"/>
                </a:solidFill>
                <a:latin typeface="Calibri" pitchFamily="34" charset="0"/>
                <a:ea typeface="Calibri" pitchFamily="34" charset="-122"/>
                <a:cs typeface="Calibri" pitchFamily="34" charset="-120"/>
              </a:rPr>
              <a:t>Reading all 59 of my own handlers for a single missing filter changed how I write the next one. Reviewing your own work adversarially is a skill, and it is learnable.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Elysian-Celebrations/b352a563-fe1e-5748-a5d2-f04c5510bd2a/scratchpad/deck/assets/motif-flow.png">    </p:cNvPr>
          <p:cNvPicPr>
            <a:picLocks noChangeAspect="1"/>
          </p:cNvPicPr>
          <p:nvPr/>
        </p:nvPicPr>
        <p:blipFill>
          <a:blip r:embed="rId2">
            <a:alphaModFix amt="70000"/>
          </a:blip>
          <a:stretch>
            <a:fillRect/>
          </a:stretch>
        </p:blipFill>
        <p:spPr>
          <a:xfrm>
            <a:off x="7223760" y="502920"/>
            <a:ext cx="5852160" cy="5852160"/>
          </a:xfrm>
          <a:prstGeom prst="rect">
            <a:avLst/>
          </a:prstGeom>
        </p:spPr>
      </p:pic>
      <p:sp>
        <p:nvSpPr>
          <p:cNvPr id="3" name="Text 0"/>
          <p:cNvSpPr/>
          <p:nvPr/>
        </p:nvSpPr>
        <p:spPr>
          <a:xfrm>
            <a:off x="777240" y="1700784"/>
            <a:ext cx="6400800" cy="274320"/>
          </a:xfrm>
          <a:prstGeom prst="rect">
            <a:avLst/>
          </a:prstGeom>
          <a:noFill/>
          <a:ln/>
        </p:spPr>
        <p:txBody>
          <a:bodyPr wrap="square" lIns="0" tIns="0" rIns="0" bIns="0" rtlCol="0" anchor="ctr"/>
          <a:lstStyle/>
          <a:p>
            <a:pPr indent="0" marL="0">
              <a:buNone/>
            </a:pPr>
            <a:r>
              <a:rPr lang="en-US" sz="1150" b="1" spc="320" kern="0" dirty="0">
                <a:solidFill>
                  <a:srgbClr val="A68A64"/>
                </a:solidFill>
                <a:latin typeface="Calibri" pitchFamily="34" charset="0"/>
                <a:ea typeface="Calibri" pitchFamily="34" charset="-122"/>
                <a:cs typeface="Calibri" pitchFamily="34" charset="-120"/>
              </a:rPr>
              <a:t>THANK YOU</a:t>
            </a:r>
            <a:endParaRPr lang="en-US" sz="1150" dirty="0"/>
          </a:p>
        </p:txBody>
      </p:sp>
      <p:sp>
        <p:nvSpPr>
          <p:cNvPr id="4" name="Text 1"/>
          <p:cNvSpPr/>
          <p:nvPr/>
        </p:nvSpPr>
        <p:spPr>
          <a:xfrm>
            <a:off x="777240" y="2103120"/>
            <a:ext cx="6400800" cy="1572768"/>
          </a:xfrm>
          <a:prstGeom prst="rect">
            <a:avLst/>
          </a:prstGeom>
          <a:noFill/>
          <a:ln/>
        </p:spPr>
        <p:txBody>
          <a:bodyPr wrap="square" lIns="0" tIns="0" rIns="0" bIns="0" rtlCol="0" anchor="ctr"/>
          <a:lstStyle/>
          <a:p>
            <a:pPr indent="0" marL="0">
              <a:lnSpc>
                <a:spcPct val="98000"/>
              </a:lnSpc>
              <a:buNone/>
            </a:pPr>
            <a:r>
              <a:rPr lang="en-US" sz="4400" b="1" dirty="0">
                <a:solidFill>
                  <a:srgbClr val="F5F0E2"/>
                </a:solidFill>
                <a:latin typeface="Cambria" pitchFamily="34" charset="0"/>
                <a:ea typeface="Cambria" pitchFamily="34" charset="-122"/>
                <a:cs typeface="Cambria" pitchFamily="34" charset="-120"/>
              </a:rPr>
              <a:t>Questions are</a:t>
            </a:r>
            <a:endParaRPr lang="en-US" sz="4400" dirty="0"/>
          </a:p>
          <a:p>
            <a:pPr indent="0" marL="0">
              <a:lnSpc>
                <a:spcPct val="98000"/>
              </a:lnSpc>
              <a:buNone/>
            </a:pPr>
            <a:r>
              <a:rPr lang="en-US" sz="4400" b="1" dirty="0">
                <a:solidFill>
                  <a:srgbClr val="F5F0E2"/>
                </a:solidFill>
                <a:latin typeface="Cambria" pitchFamily="34" charset="0"/>
                <a:ea typeface="Cambria" pitchFamily="34" charset="-122"/>
                <a:cs typeface="Cambria" pitchFamily="34" charset="-120"/>
              </a:rPr>
              <a:t>welcome.</a:t>
            </a:r>
            <a:endParaRPr lang="en-US" sz="4400" dirty="0"/>
          </a:p>
        </p:txBody>
      </p:sp>
      <p:sp>
        <p:nvSpPr>
          <p:cNvPr id="5" name="Text 2"/>
          <p:cNvSpPr/>
          <p:nvPr/>
        </p:nvSpPr>
        <p:spPr>
          <a:xfrm>
            <a:off x="777240" y="3767328"/>
            <a:ext cx="6035040" cy="548640"/>
          </a:xfrm>
          <a:prstGeom prst="rect">
            <a:avLst/>
          </a:prstGeom>
          <a:noFill/>
          <a:ln/>
        </p:spPr>
        <p:txBody>
          <a:bodyPr wrap="square" lIns="0" tIns="0" rIns="0" bIns="0" rtlCol="0" anchor="ctr"/>
          <a:lstStyle/>
          <a:p>
            <a:pPr indent="0" marL="0">
              <a:lnSpc>
                <a:spcPct val="104000"/>
              </a:lnSpc>
              <a:buNone/>
            </a:pPr>
            <a:r>
              <a:rPr lang="en-US" sz="1400" i="1" dirty="0">
                <a:solidFill>
                  <a:srgbClr val="B6AD90"/>
                </a:solidFill>
                <a:latin typeface="Calibri" pitchFamily="34" charset="0"/>
                <a:ea typeface="Calibri" pitchFamily="34" charset="-122"/>
                <a:cs typeface="Calibri" pitchFamily="34" charset="-120"/>
              </a:rPr>
              <a:t>Happy to walk through the flow map, the pricing constraints, or anything in the audit.</a:t>
            </a:r>
            <a:endParaRPr lang="en-US" sz="1400" dirty="0"/>
          </a:p>
        </p:txBody>
      </p:sp>
      <p:sp>
        <p:nvSpPr>
          <p:cNvPr id="6" name="Text 3"/>
          <p:cNvSpPr/>
          <p:nvPr/>
        </p:nvSpPr>
        <p:spPr>
          <a:xfrm>
            <a:off x="777240" y="4626864"/>
            <a:ext cx="1645920" cy="256032"/>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STUDENT</a:t>
            </a:r>
            <a:endParaRPr lang="en-US" sz="900" dirty="0"/>
          </a:p>
        </p:txBody>
      </p:sp>
      <p:sp>
        <p:nvSpPr>
          <p:cNvPr id="7" name="Text 4"/>
          <p:cNvSpPr/>
          <p:nvPr/>
        </p:nvSpPr>
        <p:spPr>
          <a:xfrm>
            <a:off x="2514600" y="4626864"/>
            <a:ext cx="4206240" cy="256032"/>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Mohammed Rayyan Pasha</a:t>
            </a:r>
            <a:endParaRPr lang="en-US" sz="1300" dirty="0"/>
          </a:p>
        </p:txBody>
      </p:sp>
      <p:sp>
        <p:nvSpPr>
          <p:cNvPr id="8" name="Text 5"/>
          <p:cNvSpPr/>
          <p:nvPr/>
        </p:nvSpPr>
        <p:spPr>
          <a:xfrm>
            <a:off x="777240" y="5193792"/>
            <a:ext cx="1645920" cy="256032"/>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MENTOR</a:t>
            </a:r>
            <a:endParaRPr lang="en-US" sz="900" dirty="0"/>
          </a:p>
        </p:txBody>
      </p:sp>
      <p:sp>
        <p:nvSpPr>
          <p:cNvPr id="9" name="Text 6"/>
          <p:cNvSpPr/>
          <p:nvPr/>
        </p:nvSpPr>
        <p:spPr>
          <a:xfrm>
            <a:off x="2514600" y="5193792"/>
            <a:ext cx="4206240" cy="256032"/>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Padmini Raghavendra — Director &amp; CEO</a:t>
            </a:r>
            <a:endParaRPr lang="en-US" sz="1300" dirty="0"/>
          </a:p>
        </p:txBody>
      </p:sp>
      <p:sp>
        <p:nvSpPr>
          <p:cNvPr id="10" name="Text 7"/>
          <p:cNvSpPr/>
          <p:nvPr/>
        </p:nvSpPr>
        <p:spPr>
          <a:xfrm>
            <a:off x="777240" y="5760720"/>
            <a:ext cx="1645920" cy="256032"/>
          </a:xfrm>
          <a:prstGeom prst="rect">
            <a:avLst/>
          </a:prstGeom>
          <a:noFill/>
          <a:ln/>
        </p:spPr>
        <p:txBody>
          <a:bodyPr wrap="square" lIns="0" tIns="0" rIns="0" bIns="0" rtlCol="0" anchor="ctr"/>
          <a:lstStyle/>
          <a:p>
            <a:pPr indent="0" marL="0">
              <a:buNone/>
            </a:pPr>
            <a:r>
              <a:rPr lang="en-US" sz="900" b="1" spc="200" kern="0" dirty="0">
                <a:solidFill>
                  <a:srgbClr val="656D4A"/>
                </a:solidFill>
                <a:latin typeface="Calibri" pitchFamily="34" charset="0"/>
                <a:ea typeface="Calibri" pitchFamily="34" charset="-122"/>
                <a:cs typeface="Calibri" pitchFamily="34" charset="-120"/>
              </a:rPr>
              <a:t>INSTITUTION</a:t>
            </a:r>
            <a:endParaRPr lang="en-US" sz="900" dirty="0"/>
          </a:p>
        </p:txBody>
      </p:sp>
      <p:sp>
        <p:nvSpPr>
          <p:cNvPr id="11" name="Text 8"/>
          <p:cNvSpPr/>
          <p:nvPr/>
        </p:nvSpPr>
        <p:spPr>
          <a:xfrm>
            <a:off x="2514600" y="5760720"/>
            <a:ext cx="4206240" cy="256032"/>
          </a:xfrm>
          <a:prstGeom prst="rect">
            <a:avLst/>
          </a:prstGeom>
          <a:noFill/>
          <a:ln/>
        </p:spPr>
        <p:txBody>
          <a:bodyPr wrap="square" lIns="0" tIns="0" rIns="0" bIns="0" rtlCol="0" anchor="ctr"/>
          <a:lstStyle/>
          <a:p>
            <a:pPr indent="0" marL="0">
              <a:buNone/>
            </a:pPr>
            <a:r>
              <a:rPr lang="en-US" sz="1300" b="1" dirty="0">
                <a:solidFill>
                  <a:srgbClr val="F5F0E2"/>
                </a:solidFill>
                <a:latin typeface="Calibri" pitchFamily="34" charset="0"/>
                <a:ea typeface="Calibri" pitchFamily="34" charset="-122"/>
                <a:cs typeface="Calibri" pitchFamily="34" charset="-120"/>
              </a:rPr>
              <a:t>Atria University, Bengaluru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Elysian Celebrations — Internship Presentation</dc:title>
  <dc:subject>PptxGenJS Presentation</dc:subject>
  <dc:creator>Mohammed Rayyan Pasha</dc:creator>
  <cp:lastModifiedBy>Mohammed Rayyan Pasha</cp:lastModifiedBy>
  <cp:revision>1</cp:revision>
  <dcterms:created xsi:type="dcterms:W3CDTF">2026-08-05T03:34:11Z</dcterms:created>
  <dcterms:modified xsi:type="dcterms:W3CDTF">2026-08-05T03:34:11Z</dcterms:modified>
</cp:coreProperties>
</file>