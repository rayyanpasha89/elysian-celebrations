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[~13s]  Good morning. I'm Rayyan Pasha, third year, Digital Transformation at Atria. I intern at TIPS Founder's Desk, and today I'm showing you what I built there — Elysian Celebrations.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[~29s]  My role is Founder's Desk Associate, reporting to Padmini Raghavendra, the Director. The mandate covers six areas — strategy support, digitising operations, venture building, EdTech and chatbot prototypes, hospitality and events, and research. Across those I've delivered SOPs, dashboards, trackers, chatbot prototypes and business decks. But area C — Elysian — is where most of my build work went. So that's what I'll focus on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[~24s]  Here's the problem. Planning a five-day celebration means twenty-plus functions. Right now that runs on spreadsheets, WhatsApp and memory. Nothing is connected — change the guest count and the menu quietly goes stale. Everything is typed by hand, so no system can price it or book it. And nobody can answer a simple question: are we ready for Day Three?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[~33s]  Elysian answers that in three layers. DEFINE shapes the event — type, days, time blocks. MAP is the core. It's a visual flow map where you drill from the event down to one day, one function, one step — so the form that finally opens is small enough to actually finish. FINALIZE proves readiness. It's sixty-one thousand lines of TypeScript, sixty-two routes, fifty-nine API endpoints, twenty-seven database tables, and four separate portals — client, vendor, manager and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[~50s]  DEMO — site already open, already logged in, tab on the flow map.  
SAY: Let me show you the real thing.  
(1) FLOW MAP — This is the flow map. I start at the event, open a day, then a function — and notice the editor only opens once I pick a step.  
(2) CATALOGUE — Vendors are selected from a real catalogue, inside the need they belong to. Never typed. That's what makes them priceable and bookable.  
(3) READINESS — And this is the readiness gate: the client's final price only appears once the function is genuinely complete.  
SAY: Let me come back to the deck.  
IF IT FAILS: say 'Looks like the connection's not cooperating — let me carry on', once, and move on. Do not debug.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[~21s]  The stack is deliberately production-grade. Next.js sixteen and React nineteen on the front end. Supabase Postgres behind it, with twenty-seven tables and twenty-five migrations — every schema change is in version control, none of it typed into a dashboard. Clerk handles authentication. And it ships continuously through Vercel.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[~35s]  What I gained: I went from writing features to owning a system — data modelling, authorisation design, and auditing my own code.  
The hardest challenge was this. Readiness was being calculated twice — once in the browser, once on the server — with different rules. And one of those copies decided whether a client could see a price. I collapsed it into a single server-side contract. The lesson stuck with me: duplicated logic near money isn't untidy — it's a security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[~29s]  My programme is Digital Transformation, and this internship was exactly that. Process mapping became the flow map. Database modelling became twenty-seven tables with the business rules enforced in SQL. Data-driven decision making became readiness scoring instead of guesswork.  
And I'm not finished. I'm with TIPS through December twenty twenty-six. Next is architecture rather than features — and extending Elysian beyond events into hospitality, education and real estate.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[~9s]  That's Elysian — built over the last year, and still being built. Thank you. I'm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lysian-Celebrations/b352a563-fe1e-5748-a5d2-f04c5510bd2a/scratchpad/deck/assets/motif-flow.png">    </p:cNvPr>
          <p:cNvPicPr>
            <a:picLocks noChangeAspect="1"/>
          </p:cNvPicPr>
          <p:nvPr/>
        </p:nvPicPr>
        <p:blipFill>
          <a:blip r:embed="rId2">
            <a:alphaModFix amt="76000"/>
          </a:blip>
          <a:stretch>
            <a:fillRect/>
          </a:stretch>
        </p:blipFill>
        <p:spPr>
          <a:xfrm>
            <a:off x="7040880" y="320040"/>
            <a:ext cx="6035040" cy="6035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06070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68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  ·  YEAR 3  ·  2026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1444752"/>
            <a:ext cx="6583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5200" b="1" dirty="0">
                <a:solidFill>
                  <a:srgbClr val="F5F0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Elysian</a:t>
            </a:r>
            <a:endParaRPr lang="en-US" sz="52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5200" b="1" dirty="0">
                <a:solidFill>
                  <a:srgbClr val="F5F0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Celebrations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777240" y="345643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6A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multi-brand event platform at TIPS Founder's Desk.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" y="42245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77240" y="4462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Rayyan Pasha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4736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AU23UG-015  ·  Atria University, Bengaluru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069080" y="42245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069080" y="4462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Founder's Desk Associate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069080" y="4736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&amp; Venture Development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77240" y="52852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77240" y="55229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Founder's Desk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7240" y="57972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Indian Public School, Bengaluru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069080" y="52852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069080" y="55229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April 2025 – 30 December 2026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069080" y="57972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Hybrid, project-based · ongoing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0233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7F4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ROLE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607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333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mandate was wider than one product.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975104"/>
            <a:ext cx="4041648" cy="3200400"/>
          </a:xfrm>
          <a:prstGeom prst="roundRect">
            <a:avLst>
              <a:gd name="adj" fmla="val 2857"/>
            </a:avLst>
          </a:prstGeom>
          <a:solidFill>
            <a:srgbClr val="333D29"/>
          </a:solidFill>
          <a:ln w="9525">
            <a:solidFill>
              <a:srgbClr val="333D29"/>
            </a:solidFill>
            <a:prstDash val="solid"/>
          </a:ln>
          <a:effectLst>
            <a:outerShdw sx="100000" sy="100000" kx="0" ky="0" algn="bl" rotWithShape="0" blurRad="177800" dist="38100" dir="5400000">
              <a:srgbClr val="1F2618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945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68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ENGAGEMENT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" y="25420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A4A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3529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Founder's Desk Associate — Digital Transformation, Venture Development &amp; Strategic Initiatives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34381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A4A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363931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Padmini Raghavendra — Director &amp; CEO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39867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A4A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418795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April 2025 – 30 December 2026  (ongoing)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45354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A4A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mode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473659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Hybrid, project-based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74920" y="1975104"/>
            <a:ext cx="3127248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9525">
            <a:solidFill>
              <a:srgbClr val="B6AD90"/>
            </a:solidFill>
            <a:prstDash val="solid"/>
          </a:ln>
          <a:effectLst>
            <a:outerShdw sx="100000" sy="100000" kx="0" ky="0" algn="bl" rotWithShape="0" blurRad="177800" dist="38100" dir="5400000">
              <a:srgbClr val="1F2618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94376" y="2286000"/>
            <a:ext cx="347472" cy="347472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94376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51576" y="2139696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Founder's Desk &amp; strategy support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421624" y="1975104"/>
            <a:ext cx="3127248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9525">
            <a:solidFill>
              <a:srgbClr val="B6AD90"/>
            </a:solidFill>
            <a:prstDash val="solid"/>
          </a:ln>
          <a:effectLst>
            <a:outerShdw sx="100000" sy="100000" kx="0" ky="0" algn="bl" rotWithShape="0" blurRad="177800" dist="38100" dir="5400000">
              <a:srgbClr val="1F2618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41080" y="2286000"/>
            <a:ext cx="347472" cy="347472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4108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98280" y="2139696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of operations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74920" y="3072384"/>
            <a:ext cx="3127248" cy="969264"/>
          </a:xfrm>
          <a:prstGeom prst="roundRect">
            <a:avLst>
              <a:gd name="adj" fmla="val 9434"/>
            </a:avLst>
          </a:prstGeom>
          <a:solidFill>
            <a:srgbClr val="EBE3CE"/>
          </a:solidFill>
          <a:ln w="19050">
            <a:solidFill>
              <a:srgbClr val="7F4F24"/>
            </a:solidFill>
            <a:prstDash val="solid"/>
          </a:ln>
          <a:effectLst>
            <a:outerShdw sx="100000" sy="100000" kx="0" ky="0" algn="bl" rotWithShape="0" blurRad="177800" dist="38100" dir="5400000">
              <a:srgbClr val="1F2618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294376" y="3383280"/>
            <a:ext cx="347472" cy="347472"/>
          </a:xfrm>
          <a:prstGeom prst="ellipse">
            <a:avLst/>
          </a:prstGeom>
          <a:solidFill>
            <a:srgbClr val="7F4F24"/>
          </a:solidFill>
          <a:ln w="12700">
            <a:solidFill>
              <a:srgbClr val="7F4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94376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51576" y="3236976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Elysian &amp; multi-brand venture building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421624" y="3072384"/>
            <a:ext cx="3127248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9525">
            <a:solidFill>
              <a:srgbClr val="B6AD90"/>
            </a:solidFill>
            <a:prstDash val="solid"/>
          </a:ln>
          <a:effectLst>
            <a:outerShdw sx="100000" sy="100000" kx="0" ky="0" algn="bl" rotWithShape="0" blurRad="177800" dist="38100" dir="5400000">
              <a:srgbClr val="1F2618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641080" y="3383280"/>
            <a:ext cx="347472" cy="347472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4108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098280" y="3236976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&amp; AI/chatbot prototypes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74920" y="4169664"/>
            <a:ext cx="3127248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9525">
            <a:solidFill>
              <a:srgbClr val="B6AD90"/>
            </a:solidFill>
            <a:prstDash val="solid"/>
          </a:ln>
          <a:effectLst>
            <a:outerShdw sx="100000" sy="100000" kx="0" ky="0" algn="bl" rotWithShape="0" blurRad="177800" dist="38100" dir="5400000">
              <a:srgbClr val="1F2618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294376" y="4480560"/>
            <a:ext cx="347472" cy="347472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94376" y="4480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751576" y="4334256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Hospitality, events &amp; real estate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421624" y="4169664"/>
            <a:ext cx="3127248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9525">
            <a:solidFill>
              <a:srgbClr val="B6AD90"/>
            </a:solidFill>
            <a:prstDash val="solid"/>
          </a:ln>
          <a:effectLst>
            <a:outerShdw sx="100000" sy="100000" kx="0" ky="0" algn="bl" rotWithShape="0" blurRad="177800" dist="38100" dir="5400000">
              <a:srgbClr val="1F2618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641080" y="4480560"/>
            <a:ext cx="347472" cy="347472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41080" y="4480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098280" y="4334256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research &amp; reporting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85800" y="5376672"/>
            <a:ext cx="10820095" cy="877824"/>
          </a:xfrm>
          <a:prstGeom prst="roundRect">
            <a:avLst>
              <a:gd name="adj" fmla="val 9375"/>
            </a:avLst>
          </a:prstGeom>
          <a:solidFill>
            <a:srgbClr val="333D29"/>
          </a:solidFill>
          <a:ln w="9525">
            <a:solidFill>
              <a:srgbClr val="333D29"/>
            </a:solidFill>
            <a:prstDash val="solid"/>
          </a:ln>
          <a:effectLst>
            <a:outerShdw sx="100000" sy="100000" kx="0" ky="0" algn="bl" rotWithShape="0" blurRad="177800" dist="38100" dir="5400000">
              <a:srgbClr val="1F2618">
                <a:alpha val="1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051560" y="5468112"/>
            <a:ext cx="100858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other areas I shipped SOPs, dashboards and trackers, AI-chatbot prototypes, market research and founder-level decision decks. Elysian is where most of my build work went — so that is what I'll show you.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0233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7F4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607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333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five-day celebration runs on</a:t>
            </a:r>
            <a:endParaRPr lang="en-US" sz="2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333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spreadsheets, chats and memory.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2432304"/>
            <a:ext cx="329184" cy="329184"/>
          </a:xfrm>
          <a:prstGeom prst="ellipse">
            <a:avLst/>
          </a:prstGeom>
          <a:solidFill>
            <a:srgbClr val="7F4F24"/>
          </a:solidFill>
          <a:ln w="12700">
            <a:solidFill>
              <a:srgbClr val="7F4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70432" y="23957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connected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70432" y="2706624"/>
            <a:ext cx="4261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count in a sheet, menu in a chat, budget in someone's head. Change one and the rest go stale.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3675888"/>
            <a:ext cx="329184" cy="329184"/>
          </a:xfrm>
          <a:prstGeom prst="ellipse">
            <a:avLst/>
          </a:prstGeom>
          <a:solidFill>
            <a:srgbClr val="7F4F24"/>
          </a:solidFill>
          <a:ln w="12700">
            <a:solidFill>
              <a:srgbClr val="7F4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67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70432" y="36393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free text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70432" y="3950208"/>
            <a:ext cx="4261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are typed, not chosen — so no system can price, book or report on them.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4919472"/>
            <a:ext cx="329184" cy="329184"/>
          </a:xfrm>
          <a:prstGeom prst="ellipse">
            <a:avLst/>
          </a:prstGeom>
          <a:solidFill>
            <a:srgbClr val="7F4F24"/>
          </a:solidFill>
          <a:ln w="12700">
            <a:solidFill>
              <a:srgbClr val="7F4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919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70432" y="4882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can see readiness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70432" y="5193792"/>
            <a:ext cx="4261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“Are we ready for Day 3?” has no answer short of calling six people.</a:t>
            </a:r>
            <a:endParaRPr lang="en-US" sz="1150" dirty="0"/>
          </a:p>
        </p:txBody>
      </p:sp>
      <p:pic>
        <p:nvPicPr>
          <p:cNvPr id="16" name="Image 0" descr="/tmp/claude-0/-home-user-Elysian-Celebrations/b352a563-fe1e-5748-a5d2-f04c5510bd2a/scratchpad/deck/assets/motif-frag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2286000"/>
            <a:ext cx="5394960" cy="269748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108192" y="5230368"/>
            <a:ext cx="5394960" cy="859536"/>
          </a:xfrm>
          <a:prstGeom prst="roundRect">
            <a:avLst>
              <a:gd name="adj" fmla="val 10638"/>
            </a:avLst>
          </a:prstGeom>
          <a:solidFill>
            <a:srgbClr val="EBE3CE"/>
          </a:solidFill>
          <a:ln w="9525">
            <a:solidFill>
              <a:srgbClr val="B6AD90"/>
            </a:solidFill>
            <a:prstDash val="solid"/>
          </a:ln>
          <a:effectLst>
            <a:outerShdw sx="100000" sy="100000" kx="0" ky="0" algn="bl" rotWithShape="0" blurRad="177800" dist="38100" dir="5400000">
              <a:srgbClr val="1F2618">
                <a:alpha val="13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382512" y="5303520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tools that never speak to each other — and one client expected to be the integration layer.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0233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7F4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WHAT I BUILT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607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333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event, map every function, prove it's ready.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3332074" cy="2231136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9525">
            <a:solidFill>
              <a:srgbClr val="B6AD90"/>
            </a:solidFill>
            <a:prstDash val="solid"/>
          </a:ln>
          <a:effectLst>
            <a:outerShdw sx="100000" sy="100000" kx="0" ky="0" algn="bl" rotWithShape="0" blurRad="177800" dist="38100" dir="5400000">
              <a:srgbClr val="1F2618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9424"/>
            <a:ext cx="402336" cy="402336"/>
          </a:xfrm>
          <a:prstGeom prst="ellipse">
            <a:avLst/>
          </a:prstGeom>
          <a:solidFill>
            <a:srgbClr val="A4AC86"/>
          </a:solidFill>
          <a:ln w="12700">
            <a:solidFill>
              <a:srgbClr val="A4A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90472" y="2286000"/>
            <a:ext cx="2253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7F4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816352"/>
            <a:ext cx="278343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type, days, time blocks and needs — chosen, not typed.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5400000">
            <a:off x="4136746" y="3017520"/>
            <a:ext cx="182880" cy="219456"/>
          </a:xfrm>
          <a:prstGeom prst="triangl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29354" y="2011680"/>
            <a:ext cx="3332074" cy="2231136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9525">
            <a:solidFill>
              <a:srgbClr val="B6AD90"/>
            </a:solidFill>
            <a:prstDash val="solid"/>
          </a:ln>
          <a:effectLst>
            <a:outerShdw sx="100000" sy="100000" kx="0" ky="0" algn="bl" rotWithShape="0" blurRad="177800" dist="38100" dir="5400000">
              <a:srgbClr val="1F2618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3674" y="2249424"/>
            <a:ext cx="402336" cy="402336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3674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34026" y="2286000"/>
            <a:ext cx="2253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7F4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3674" y="2816352"/>
            <a:ext cx="278343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flow map: event hub → days → functions → steps, with venue and vendor pickers inside each need.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5400000">
            <a:off x="7880299" y="3017520"/>
            <a:ext cx="182880" cy="219456"/>
          </a:xfrm>
          <a:prstGeom prst="triangl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72907" y="2011680"/>
            <a:ext cx="3332074" cy="2231136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9525">
            <a:solidFill>
              <a:srgbClr val="B6AD90"/>
            </a:solidFill>
            <a:prstDash val="solid"/>
          </a:ln>
          <a:effectLst>
            <a:outerShdw sx="100000" sy="100000" kx="0" ky="0" algn="bl" rotWithShape="0" blurRad="177800" dist="38100" dir="5400000">
              <a:srgbClr val="1F2618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47227" y="2249424"/>
            <a:ext cx="402336" cy="402336"/>
          </a:xfrm>
          <a:prstGeom prst="ellipse">
            <a:avLst/>
          </a:prstGeom>
          <a:solidFill>
            <a:srgbClr val="7F4F24"/>
          </a:solidFill>
          <a:ln w="12700">
            <a:solidFill>
              <a:srgbClr val="7F4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47227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77579" y="2286000"/>
            <a:ext cx="2253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7F4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47227" y="2816352"/>
            <a:ext cx="278343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checks that expose gaps and link back to the exact function.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535424"/>
            <a:ext cx="2011680" cy="1207008"/>
          </a:xfrm>
          <a:prstGeom prst="roundRect">
            <a:avLst>
              <a:gd name="adj" fmla="val 6818"/>
            </a:avLst>
          </a:prstGeom>
          <a:solidFill>
            <a:srgbClr val="333D29"/>
          </a:solidFill>
          <a:ln w="9525">
            <a:solidFill>
              <a:srgbClr val="333D29"/>
            </a:solidFill>
            <a:prstDash val="solid"/>
          </a:ln>
          <a:effectLst>
            <a:outerShdw sx="100000" sy="100000" kx="0" ky="0" algn="bl" rotWithShape="0" blurRad="177800" dist="38100" dir="5400000">
              <a:srgbClr val="1F2618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50392" y="4681728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A68A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61,000+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850392" y="5212080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TypeScript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904134" y="4535424"/>
            <a:ext cx="2011680" cy="1207008"/>
          </a:xfrm>
          <a:prstGeom prst="roundRect">
            <a:avLst>
              <a:gd name="adj" fmla="val 6818"/>
            </a:avLst>
          </a:prstGeom>
          <a:solidFill>
            <a:srgbClr val="333D29"/>
          </a:solidFill>
          <a:ln w="9525">
            <a:solidFill>
              <a:srgbClr val="333D29"/>
            </a:solidFill>
            <a:prstDash val="solid"/>
          </a:ln>
          <a:effectLst>
            <a:outerShdw sx="100000" sy="100000" kx="0" ky="0" algn="bl" rotWithShape="0" blurRad="177800" dist="38100" dir="5400000">
              <a:srgbClr val="1F2618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068726" y="4681728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A68A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3068726" y="5212080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routes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22469" y="4535424"/>
            <a:ext cx="2011680" cy="1207008"/>
          </a:xfrm>
          <a:prstGeom prst="roundRect">
            <a:avLst>
              <a:gd name="adj" fmla="val 6818"/>
            </a:avLst>
          </a:prstGeom>
          <a:solidFill>
            <a:srgbClr val="333D29"/>
          </a:solidFill>
          <a:ln w="9525">
            <a:solidFill>
              <a:srgbClr val="333D29"/>
            </a:solidFill>
            <a:prstDash val="solid"/>
          </a:ln>
          <a:effectLst>
            <a:outerShdw sx="100000" sy="100000" kx="0" ky="0" algn="bl" rotWithShape="0" blurRad="177800" dist="38100" dir="5400000">
              <a:srgbClr val="1F2618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287061" y="4681728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A68A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5287061" y="5212080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340803" y="4535424"/>
            <a:ext cx="2011680" cy="1207008"/>
          </a:xfrm>
          <a:prstGeom prst="roundRect">
            <a:avLst>
              <a:gd name="adj" fmla="val 6818"/>
            </a:avLst>
          </a:prstGeom>
          <a:solidFill>
            <a:srgbClr val="333D29"/>
          </a:solidFill>
          <a:ln w="9525">
            <a:solidFill>
              <a:srgbClr val="333D29"/>
            </a:solidFill>
            <a:prstDash val="solid"/>
          </a:ln>
          <a:effectLst>
            <a:outerShdw sx="100000" sy="100000" kx="0" ky="0" algn="bl" rotWithShape="0" blurRad="177800" dist="38100" dir="5400000">
              <a:srgbClr val="1F2618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505395" y="4681728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A68A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2500" dirty="0"/>
          </a:p>
        </p:txBody>
      </p:sp>
      <p:sp>
        <p:nvSpPr>
          <p:cNvPr id="32" name="Text 30"/>
          <p:cNvSpPr/>
          <p:nvPr/>
        </p:nvSpPr>
        <p:spPr>
          <a:xfrm>
            <a:off x="7505395" y="5212080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tables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559138" y="4535424"/>
            <a:ext cx="2011680" cy="1207008"/>
          </a:xfrm>
          <a:prstGeom prst="roundRect">
            <a:avLst>
              <a:gd name="adj" fmla="val 6818"/>
            </a:avLst>
          </a:prstGeom>
          <a:solidFill>
            <a:srgbClr val="333D29"/>
          </a:solidFill>
          <a:ln w="9525">
            <a:solidFill>
              <a:srgbClr val="333D29"/>
            </a:solidFill>
            <a:prstDash val="solid"/>
          </a:ln>
          <a:effectLst>
            <a:outerShdw sx="100000" sy="100000" kx="0" ky="0" algn="bl" rotWithShape="0" blurRad="177800" dist="38100" dir="5400000">
              <a:srgbClr val="1F2618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723730" y="4681728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A68A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500" dirty="0"/>
          </a:p>
        </p:txBody>
      </p:sp>
      <p:sp>
        <p:nvSpPr>
          <p:cNvPr id="35" name="Text 33"/>
          <p:cNvSpPr/>
          <p:nvPr/>
        </p:nvSpPr>
        <p:spPr>
          <a:xfrm>
            <a:off x="9723730" y="5212080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portals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5800" y="590702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· Vendor · Manager · Admin — one shared event spine, four different views of it.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0233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A68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LIVE DEMO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1847088"/>
            <a:ext cx="60350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5F0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me show you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5F0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thing.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3803904"/>
            <a:ext cx="5029200" cy="713232"/>
          </a:xfrm>
          <a:prstGeom prst="roundRect">
            <a:avLst>
              <a:gd name="adj" fmla="val 11538"/>
            </a:avLst>
          </a:prstGeom>
          <a:solidFill>
            <a:srgbClr val="7F4F24"/>
          </a:solidFill>
          <a:ln w="9525">
            <a:solidFill>
              <a:srgbClr val="7F4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03904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elysiancelebrations.com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675120" y="1938528"/>
            <a:ext cx="4828032" cy="1170432"/>
          </a:xfrm>
          <a:prstGeom prst="roundRect">
            <a:avLst>
              <a:gd name="adj" fmla="val 7031"/>
            </a:avLst>
          </a:prstGeom>
          <a:solidFill>
            <a:srgbClr val="2B331F"/>
          </a:solidFill>
          <a:ln w="12700">
            <a:solidFill>
              <a:srgbClr val="4A51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2340864"/>
            <a:ext cx="365760" cy="36576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43216" y="2121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 map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43216" y="241401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B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from the event hub down to a single step of one function.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675120" y="3273552"/>
            <a:ext cx="4828032" cy="1170432"/>
          </a:xfrm>
          <a:prstGeom prst="roundRect">
            <a:avLst>
              <a:gd name="adj" fmla="val 7031"/>
            </a:avLst>
          </a:prstGeom>
          <a:solidFill>
            <a:srgbClr val="2B331F"/>
          </a:solidFill>
          <a:ln w="12700">
            <a:solidFill>
              <a:srgbClr val="4A51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3675888"/>
            <a:ext cx="365760" cy="36576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43216" y="3456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catalogue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43216" y="374904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B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happens inside the need — real offerings, never typed names.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75120" y="4608576"/>
            <a:ext cx="4828032" cy="1170432"/>
          </a:xfrm>
          <a:prstGeom prst="roundRect">
            <a:avLst>
              <a:gd name="adj" fmla="val 7031"/>
            </a:avLst>
          </a:prstGeom>
          <a:solidFill>
            <a:srgbClr val="2B331F"/>
          </a:solidFill>
          <a:ln w="12700">
            <a:solidFill>
              <a:srgbClr val="4A51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5010912"/>
            <a:ext cx="365760" cy="36576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5010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43216" y="47914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gate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43216" y="508406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B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total only appears once the function is genuinely complete.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" y="480974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6A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beats, then straight back to the deck.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0233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7F4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TECHNOLOGIES USED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607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333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production stack, not a student stack.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975104"/>
            <a:ext cx="2615184" cy="3529584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9525">
            <a:solidFill>
              <a:srgbClr val="B6AD90"/>
            </a:solidFill>
            <a:prstDash val="solid"/>
          </a:ln>
          <a:effectLst>
            <a:outerShdw sx="100000" sy="100000" kx="0" ky="0" algn="bl" rotWithShape="0" blurRad="177800" dist="38100" dir="5400000">
              <a:srgbClr val="1F2618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23544" y="2212848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7F4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41832" y="2724912"/>
            <a:ext cx="137160" cy="137160"/>
          </a:xfrm>
          <a:prstGeom prst="ellipse">
            <a:avLst/>
          </a:prstGeom>
          <a:solidFill>
            <a:srgbClr val="7F4F24"/>
          </a:solidFill>
          <a:ln w="12700">
            <a:solidFill>
              <a:srgbClr val="7F4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7864" y="2596896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App Router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41832" y="3310128"/>
            <a:ext cx="137160" cy="13716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7864" y="3182112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41832" y="3895344"/>
            <a:ext cx="137160" cy="13716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97864" y="376732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(strict)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41832" y="4480560"/>
            <a:ext cx="137160" cy="13716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97864" y="4352544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41832" y="5065776"/>
            <a:ext cx="137160" cy="13716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97864" y="493776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84448" y="1975104"/>
            <a:ext cx="2615184" cy="3529584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9525">
            <a:solidFill>
              <a:srgbClr val="B6AD90"/>
            </a:solidFill>
            <a:prstDash val="solid"/>
          </a:ln>
          <a:effectLst>
            <a:outerShdw sx="100000" sy="100000" kx="0" ky="0" algn="bl" rotWithShape="0" blurRad="177800" dist="38100" dir="5400000">
              <a:srgbClr val="1F2618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22192" y="2212848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7F4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0" y="2724912"/>
            <a:ext cx="137160" cy="137160"/>
          </a:xfrm>
          <a:prstGeom prst="ellipse">
            <a:avLst/>
          </a:prstGeom>
          <a:solidFill>
            <a:srgbClr val="7F4F24"/>
          </a:solidFill>
          <a:ln w="12700">
            <a:solidFill>
              <a:srgbClr val="7F4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96512" y="2596896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840480" y="3310128"/>
            <a:ext cx="137160" cy="13716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96512" y="3182112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tables, 25 migrations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840480" y="3895344"/>
            <a:ext cx="137160" cy="13716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96512" y="376732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840480" y="4480560"/>
            <a:ext cx="137160" cy="13716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96512" y="4352544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DB types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840480" y="5065776"/>
            <a:ext cx="137160" cy="13716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96512" y="493776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constraints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83096" y="1975104"/>
            <a:ext cx="2615184" cy="3529584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9525">
            <a:solidFill>
              <a:srgbClr val="B6AD90"/>
            </a:solidFill>
            <a:prstDash val="solid"/>
          </a:ln>
          <a:effectLst>
            <a:outerShdw sx="100000" sy="100000" kx="0" ky="0" algn="bl" rotWithShape="0" blurRad="177800" dist="38100" dir="5400000">
              <a:srgbClr val="1F2618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20840" y="2212848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7F4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39128" y="2724912"/>
            <a:ext cx="137160" cy="137160"/>
          </a:xfrm>
          <a:prstGeom prst="ellipse">
            <a:avLst/>
          </a:prstGeom>
          <a:solidFill>
            <a:srgbClr val="7F4F24"/>
          </a:solidFill>
          <a:ln w="12700">
            <a:solidFill>
              <a:srgbClr val="7F4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2596896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authentication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739128" y="3310128"/>
            <a:ext cx="137160" cy="13716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3182112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role sync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739128" y="3895344"/>
            <a:ext cx="137160" cy="13716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95160" y="376732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739128" y="4480560"/>
            <a:ext cx="137160" cy="13716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95160" y="4352544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ownership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739128" y="5065776"/>
            <a:ext cx="137160" cy="13716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95160" y="493776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Self-audited routes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381744" y="1975104"/>
            <a:ext cx="2615184" cy="3529584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9525">
            <a:solidFill>
              <a:srgbClr val="B6AD90"/>
            </a:solidFill>
            <a:prstDash val="solid"/>
          </a:ln>
          <a:effectLst>
            <a:outerShdw sx="100000" sy="100000" kx="0" ky="0" algn="bl" rotWithShape="0" blurRad="177800" dist="38100" dir="5400000">
              <a:srgbClr val="1F2618">
                <a:alpha val="13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619488" y="2212848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7F4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637776" y="2724912"/>
            <a:ext cx="137160" cy="137160"/>
          </a:xfrm>
          <a:prstGeom prst="ellipse">
            <a:avLst/>
          </a:prstGeom>
          <a:solidFill>
            <a:srgbClr val="7F4F24"/>
          </a:solidFill>
          <a:ln w="12700">
            <a:solidFill>
              <a:srgbClr val="7F4F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93808" y="2596896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CI/CD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637776" y="3310128"/>
            <a:ext cx="137160" cy="13716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93808" y="3182112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branch workflow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637776" y="3895344"/>
            <a:ext cx="137160" cy="13716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93808" y="376732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+ tsc gates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9637776" y="4480560"/>
            <a:ext cx="137160" cy="13716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893808" y="4352544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migrations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637776" y="5065776"/>
            <a:ext cx="137160" cy="13716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893808" y="493776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0233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7F4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SKILLS GAINED &amp; CHALLENGES FACED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607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333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work taught me — and what fought back.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2048256"/>
            <a:ext cx="5029200" cy="3877056"/>
          </a:xfrm>
          <a:prstGeom prst="roundRect">
            <a:avLst>
              <a:gd name="adj" fmla="val 2358"/>
            </a:avLst>
          </a:prstGeom>
          <a:solidFill>
            <a:srgbClr val="FFFFFF"/>
          </a:solidFill>
          <a:ln w="9525">
            <a:solidFill>
              <a:srgbClr val="B6AD90"/>
            </a:solidFill>
            <a:prstDash val="solid"/>
          </a:ln>
          <a:effectLst>
            <a:outerShdw sx="100000" sy="100000" kx="0" ky="0" algn="bl" rotWithShape="0" blurRad="177800" dist="38100" dir="5400000">
              <a:srgbClr val="1F2618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2860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7F4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I GAINED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60120" y="2752344"/>
            <a:ext cx="137160" cy="13716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5296" y="263347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product engineering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25296" y="285292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schema to interface, alone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60120" y="3300984"/>
            <a:ext cx="137160" cy="13716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318211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 modelling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25296" y="340156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tables and a versioned migration habit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60120" y="3849624"/>
            <a:ext cx="137160" cy="13716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373075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Authorisation design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25296" y="39502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roles, each seeing different truths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0120" y="4398264"/>
            <a:ext cx="137160" cy="13716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42793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25296" y="449884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my own code adversarially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60120" y="4946904"/>
            <a:ext cx="137160" cy="13716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25296" y="48280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25296" y="504748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palette and one component language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0120" y="5495544"/>
            <a:ext cx="137160" cy="13716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25296" y="537667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25296" y="559612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directing tools without losing the architecture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82512" y="22860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7F4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 FACED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08192" y="2670048"/>
            <a:ext cx="5394960" cy="1042416"/>
          </a:xfrm>
          <a:prstGeom prst="roundRect">
            <a:avLst>
              <a:gd name="adj" fmla="val 7018"/>
            </a:avLst>
          </a:prstGeom>
          <a:solidFill>
            <a:srgbClr val="EBE3CE"/>
          </a:solidFill>
          <a:ln w="15875">
            <a:solidFill>
              <a:srgbClr val="7F4F24"/>
            </a:solidFill>
            <a:prstDash val="solid"/>
          </a:ln>
          <a:effectLst>
            <a:outerShdw sx="100000" sy="100000" kx="0" ky="0" algn="bl" rotWithShape="0" blurRad="177800" dist="38100" dir="5400000">
              <a:srgbClr val="1F2618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45936" y="276148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rules guarding one price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45936" y="299923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was computed in the browser and again on the server, with different logic — and one copy decided whether a client could see a price.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45936" y="340156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7F4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Collapsed it into a single server-side contract.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08192" y="3803904"/>
            <a:ext cx="539496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B6AD90"/>
            </a:solidFill>
            <a:prstDash val="solid"/>
          </a:ln>
          <a:effectLst>
            <a:outerShdw sx="100000" sy="100000" kx="0" ky="0" algn="bl" rotWithShape="0" blurRad="177800" dist="38100" dir="5400000">
              <a:srgbClr val="1F2618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45936" y="389534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roles, three truths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45936" y="4133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Vendors, clients and Elysian must each see a different part of the same number.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45936" y="453542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7F4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Enforced in Postgres with generated columns, not in the UI.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08192" y="4937760"/>
            <a:ext cx="539496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B6AD90"/>
            </a:solidFill>
            <a:prstDash val="solid"/>
          </a:ln>
          <a:effectLst>
            <a:outerShdw sx="100000" sy="100000" kx="0" ky="0" algn="bl" rotWithShape="0" blurRad="177800" dist="38100" dir="5400000">
              <a:srgbClr val="1F2618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45936" y="502920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solo on a live venture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45936" y="526694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design, backend and security with no team to hand work to.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45936" y="566928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7F4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Wrote my own audits to catch what a reviewer would.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0233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A68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ACADEMIC LEARNING APPLIED &amp; FUTURE GOALS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607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5F0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Transformation, applied literally.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2121408"/>
            <a:ext cx="5303520" cy="3712464"/>
          </a:xfrm>
          <a:prstGeom prst="roundRect">
            <a:avLst>
              <a:gd name="adj" fmla="val 2463"/>
            </a:avLst>
          </a:prstGeom>
          <a:solidFill>
            <a:srgbClr val="2B331F"/>
          </a:solidFill>
          <a:ln w="12700">
            <a:solidFill>
              <a:srgbClr val="4A51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3591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A68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CLASSROOM TO THE FOUNDER'S DESK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60120" y="2834640"/>
            <a:ext cx="137160" cy="137160"/>
          </a:xfrm>
          <a:prstGeom prst="ellipse">
            <a:avLst/>
          </a:prstGeom>
          <a:solidFill>
            <a:srgbClr val="A4AC86"/>
          </a:solidFill>
          <a:ln w="12700">
            <a:solidFill>
              <a:srgbClr val="A4A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5296" y="2724912"/>
            <a:ext cx="4535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mapping &amp; systems thinking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25296" y="2962656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B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became the flow map — the event modelled as days, functions and steps.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60120" y="3602736"/>
            <a:ext cx="137160" cy="137160"/>
          </a:xfrm>
          <a:prstGeom prst="ellipse">
            <a:avLst/>
          </a:prstGeom>
          <a:solidFill>
            <a:srgbClr val="A4AC86"/>
          </a:solidFill>
          <a:ln w="12700">
            <a:solidFill>
              <a:srgbClr val="A4A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3493008"/>
            <a:ext cx="4535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data modelling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25296" y="3730752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B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became 27 normalised tables with constraints that encode business rules.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60120" y="4370832"/>
            <a:ext cx="137160" cy="137160"/>
          </a:xfrm>
          <a:prstGeom prst="ellipse">
            <a:avLst/>
          </a:prstGeom>
          <a:solidFill>
            <a:srgbClr val="A4AC86"/>
          </a:solidFill>
          <a:ln w="12700">
            <a:solidFill>
              <a:srgbClr val="A4A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4261104"/>
            <a:ext cx="4535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 making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25296" y="4498848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B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became readiness scoring and spend intelligence instead of guesswork.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60120" y="5138928"/>
            <a:ext cx="137160" cy="137160"/>
          </a:xfrm>
          <a:prstGeom prst="ellipse">
            <a:avLst/>
          </a:prstGeom>
          <a:solidFill>
            <a:srgbClr val="A4AC86"/>
          </a:solidFill>
          <a:ln w="12700">
            <a:solidFill>
              <a:srgbClr val="A4A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5029200"/>
            <a:ext cx="4535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thinking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25296" y="5266944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B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became the rule that users tap first and type only when they must.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99632" y="2121408"/>
            <a:ext cx="5303520" cy="3712464"/>
          </a:xfrm>
          <a:prstGeom prst="roundRect">
            <a:avLst>
              <a:gd name="adj" fmla="val 2463"/>
            </a:avLst>
          </a:prstGeom>
          <a:solidFill>
            <a:srgbClr val="2B331F"/>
          </a:solidFill>
          <a:ln w="12700">
            <a:solidFill>
              <a:srgbClr val="4A51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23591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A68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73952" y="2743200"/>
            <a:ext cx="274320" cy="27432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76288" y="2724912"/>
            <a:ext cx="4443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building — through December 2026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76288" y="2962656"/>
            <a:ext cx="4443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B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engagement is ongoing; Elysian is not a finished submission.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73952" y="3511296"/>
            <a:ext cx="274320" cy="27432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76288" y="3493008"/>
            <a:ext cx="4443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architecture, not features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76288" y="3730752"/>
            <a:ext cx="4443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B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boundaries in Postgres, a split client/vendor ledger, and server-side decomposition of the planner.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73952" y="4279392"/>
            <a:ext cx="274320" cy="27432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76288" y="4261104"/>
            <a:ext cx="4443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Elysian past events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76288" y="4498848"/>
            <a:ext cx="4443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B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same spine to hospitality, education and real estate as a true multi-brand platform.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73952" y="5047488"/>
            <a:ext cx="274320" cy="274320"/>
          </a:xfrm>
          <a:prstGeom prst="ellipse">
            <a:avLst/>
          </a:prstGeom>
          <a:solidFill>
            <a:srgbClr val="A68A64"/>
          </a:solidFill>
          <a:ln w="12700">
            <a:solidFill>
              <a:srgbClr val="A68A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5047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76288" y="5029200"/>
            <a:ext cx="4443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own goal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76288" y="5266944"/>
            <a:ext cx="4443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B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into an engineer who owns systems end to end — and keeps auditing his own work.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lysian-Celebrations/b352a563-fe1e-5748-a5d2-f04c5510bd2a/scratchpad/deck/assets/motif-flow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7223760" y="502920"/>
            <a:ext cx="5852160" cy="5852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828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20" kern="0" dirty="0">
                <a:solidFill>
                  <a:srgbClr val="A68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777240" y="2231136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5F0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are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5F0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welcome.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77240" y="3858768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i="1" dirty="0">
                <a:solidFill>
                  <a:srgbClr val="B6A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go deeper on the flow map, the pricing model, or the audit.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77240" y="45902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606040" y="45902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Rayyan Pasha  ·  AU23UG-015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50474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606040" y="50474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Programme in Digital Transformation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55046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606040" y="55046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Padmini Raghavendra — Director &amp; CEO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59618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606040" y="59618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Founder's Desk · The Indian Public School, Bengaluru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Elysian Celebrations — Internship Presentation</dc:title>
  <dc:subject>PptxGenJS Presentation</dc:subject>
  <dc:creator>Mohammed Rayyan Pasha</dc:creator>
  <cp:lastModifiedBy>Mohammed Rayyan Pasha</cp:lastModifiedBy>
  <cp:revision>1</cp:revision>
  <dcterms:created xsi:type="dcterms:W3CDTF">2026-08-05T03:48:43Z</dcterms:created>
  <dcterms:modified xsi:type="dcterms:W3CDTF">2026-08-05T03:48:43Z</dcterms:modified>
</cp:coreProperties>
</file>