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(~10s) Good morning. I'm Rayyan Pasha, Year 3, Digital Transformation at Atria. I intern as Founder's Desk Associate at TIPS Founder's Desk, and today I'm presenting Elysian Celebrations — the platform I've been building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My role spans six areas — strategy support, digitising operations, venture building, EdTech and chatbot prototypes, hospitality and events, and research. Across those I've delivered SOPs, dashboards, trackers, chatbot prototypes and business decks. Area C — Elysian — is where most of my build work went, so that's what I'll focus 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A multi-day Indian celebration means twenty-plus functions across five days. Today that's run across six disconnected tools, with the client acting as the integration layer. Three problems: nothing is connected, everything is free text, and nobody can see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Elysian answers that in three layers. Define shapes the event. Map is the core — a visual flow map where you drill from the event down to one step of one function, so the editor that opens is small enough to finish. Finalize proves readiness. It's 61,000 lines of TypeScript, 62 routes, 59 API endpoints, 27 tables, and four role-based portals over one shared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DEMO — keep to three beats and do not wander. 1) The flow map: drill hub → day → function → step. 2) Open a need and select a vendor catalogue row. 3) Show the readiness gate holding the client price back. Then close the tab and return to this deck. If the site or wifi fails, say so once and move on — the next slide covers the stack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The stack is deliberately production-grade. Next.js 16 and React 19 on the front. Supabase Postgres behind it, with 27 tables and 25 reviewed migrations — every schema change in version control, none typed into a dashboard. Clerk for auth, with row-level security on and ownership re-checked server-side. Shipped continuously through Vercel.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Skills first: I went from writing features to owning a system — data modelling, authorisation design, security auditing, and directing AI tools without losing the architecture. The hardest challenge was readiness being computed twice with different rules, where one copy decided whether a client could see a price. I collapsed it to one server-side contract. The lesson: duplicated logic near money is a security bug, not untidiness.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My programme is Digital Transformation, and this internship was that, literally. Process mapping became the flow map. Data modelling became 27 tables with rules enforced in SQL. Data-driven decision making became readiness scoring. Looking forward — I'm still with TIPS through December 2026. The next wave is architecture rather than features: transaction boundaries, splitting the money ledger, and extending Elysian beyond events into hospitality, education and real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(~10s)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lysian-Celebrations/b352a563-fe1e-5748-a5d2-f04c5510bd2a/scratchpad/deck/assets/motif-flow.png">    </p:cNvPr>
          <p:cNvPicPr>
            <a:picLocks noChangeAspect="1"/>
          </p:cNvPicPr>
          <p:nvPr/>
        </p:nvPicPr>
        <p:blipFill>
          <a:blip r:embed="rId2">
            <a:alphaModFix amt="76000"/>
          </a:blip>
          <a:stretch>
            <a:fillRect/>
          </a:stretch>
        </p:blipFill>
        <p:spPr>
          <a:xfrm>
            <a:off x="7040880" y="320040"/>
            <a:ext cx="6035040" cy="6035040"/>
          </a:xfrm>
          <a:prstGeom prst="rect">
            <a:avLst/>
          </a:prstGeom>
        </p:spPr>
      </p:pic>
      <p:sp>
        <p:nvSpPr>
          <p:cNvPr id="3" name="Text 0"/>
          <p:cNvSpPr/>
          <p:nvPr/>
        </p:nvSpPr>
        <p:spPr>
          <a:xfrm>
            <a:off x="777240" y="1060704"/>
            <a:ext cx="6583680" cy="256032"/>
          </a:xfrm>
          <a:prstGeom prst="rect">
            <a:avLst/>
          </a:prstGeom>
          <a:noFill/>
          <a:ln/>
        </p:spPr>
        <p:txBody>
          <a:bodyPr wrap="square" lIns="0" tIns="0" rIns="0" bIns="0" rtlCol="0" anchor="ctr"/>
          <a:lstStyle/>
          <a:p>
            <a:pPr indent="0" marL="0">
              <a:buNone/>
            </a:pPr>
            <a:r>
              <a:rPr lang="en-US" sz="1100" b="1" spc="300" kern="0" dirty="0">
                <a:solidFill>
                  <a:srgbClr val="A68A64"/>
                </a:solidFill>
                <a:latin typeface="Calibri" pitchFamily="34" charset="0"/>
                <a:ea typeface="Calibri" pitchFamily="34" charset="-122"/>
                <a:cs typeface="Calibri" pitchFamily="34" charset="-120"/>
              </a:rPr>
              <a:t>INTERNSHIP PRESENTATION  ·  YEAR 3  ·  2026</a:t>
            </a:r>
            <a:endParaRPr lang="en-US" sz="1100" dirty="0"/>
          </a:p>
        </p:txBody>
      </p:sp>
      <p:sp>
        <p:nvSpPr>
          <p:cNvPr id="4" name="Text 1"/>
          <p:cNvSpPr/>
          <p:nvPr/>
        </p:nvSpPr>
        <p:spPr>
          <a:xfrm>
            <a:off x="777240" y="1444752"/>
            <a:ext cx="6583680" cy="1920240"/>
          </a:xfrm>
          <a:prstGeom prst="rect">
            <a:avLst/>
          </a:prstGeom>
          <a:noFill/>
          <a:ln/>
        </p:spPr>
        <p:txBody>
          <a:bodyPr wrap="square" lIns="0" tIns="0" rIns="0" bIns="0" rtlCol="0" anchor="ctr"/>
          <a:lstStyle/>
          <a:p>
            <a:pPr indent="0" marL="0">
              <a:lnSpc>
                <a:spcPct val="96000"/>
              </a:lnSpc>
              <a:buNone/>
            </a:pPr>
            <a:r>
              <a:rPr lang="en-US" sz="5200" b="1" dirty="0">
                <a:solidFill>
                  <a:srgbClr val="F5F0E2"/>
                </a:solidFill>
                <a:latin typeface="Cambria" pitchFamily="34" charset="0"/>
                <a:ea typeface="Cambria" pitchFamily="34" charset="-122"/>
                <a:cs typeface="Cambria" pitchFamily="34" charset="-120"/>
              </a:rPr>
              <a:t>Elysian</a:t>
            </a:r>
            <a:endParaRPr lang="en-US" sz="5200" dirty="0"/>
          </a:p>
          <a:p>
            <a:pPr indent="0" marL="0">
              <a:lnSpc>
                <a:spcPct val="96000"/>
              </a:lnSpc>
              <a:buNone/>
            </a:pPr>
            <a:r>
              <a:rPr lang="en-US" sz="5200" b="1" dirty="0">
                <a:solidFill>
                  <a:srgbClr val="F5F0E2"/>
                </a:solidFill>
                <a:latin typeface="Cambria" pitchFamily="34" charset="0"/>
                <a:ea typeface="Cambria" pitchFamily="34" charset="-122"/>
                <a:cs typeface="Cambria" pitchFamily="34" charset="-120"/>
              </a:rPr>
              <a:t>Celebrations</a:t>
            </a:r>
            <a:endParaRPr lang="en-US" sz="5200" dirty="0"/>
          </a:p>
        </p:txBody>
      </p:sp>
      <p:sp>
        <p:nvSpPr>
          <p:cNvPr id="5" name="Text 2"/>
          <p:cNvSpPr/>
          <p:nvPr/>
        </p:nvSpPr>
        <p:spPr>
          <a:xfrm>
            <a:off x="777240" y="3456432"/>
            <a:ext cx="6217920" cy="365760"/>
          </a:xfrm>
          <a:prstGeom prst="rect">
            <a:avLst/>
          </a:prstGeom>
          <a:noFill/>
          <a:ln/>
        </p:spPr>
        <p:txBody>
          <a:bodyPr wrap="square" lIns="0" tIns="0" rIns="0" bIns="0" rtlCol="0" anchor="ctr"/>
          <a:lstStyle/>
          <a:p>
            <a:pPr indent="0" marL="0">
              <a:buNone/>
            </a:pPr>
            <a:r>
              <a:rPr lang="en-US" sz="1500" i="1" dirty="0">
                <a:solidFill>
                  <a:srgbClr val="B6AD90"/>
                </a:solidFill>
                <a:latin typeface="Calibri" pitchFamily="34" charset="0"/>
                <a:ea typeface="Calibri" pitchFamily="34" charset="-122"/>
                <a:cs typeface="Calibri" pitchFamily="34" charset="-120"/>
              </a:rPr>
              <a:t>Building a multi-brand event platform at TIPS Founder's Desk.</a:t>
            </a:r>
            <a:endParaRPr lang="en-US" sz="1500" dirty="0"/>
          </a:p>
        </p:txBody>
      </p:sp>
      <p:sp>
        <p:nvSpPr>
          <p:cNvPr id="6" name="Text 3"/>
          <p:cNvSpPr/>
          <p:nvPr/>
        </p:nvSpPr>
        <p:spPr>
          <a:xfrm>
            <a:off x="777240" y="4224528"/>
            <a:ext cx="3108960" cy="219456"/>
          </a:xfrm>
          <a:prstGeom prst="rect">
            <a:avLst/>
          </a:prstGeom>
          <a:noFill/>
          <a:ln/>
        </p:spPr>
        <p:txBody>
          <a:bodyPr wrap="square" lIns="0" tIns="0" rIns="0" bIns="0" rtlCol="0" anchor="ctr"/>
          <a:lstStyle/>
          <a:p>
            <a:pPr indent="0" marL="0">
              <a:buNone/>
            </a:pPr>
            <a:r>
              <a:rPr lang="en-US" sz="850" b="1" spc="200" kern="0" dirty="0">
                <a:solidFill>
                  <a:srgbClr val="656D4A"/>
                </a:solidFill>
                <a:latin typeface="Calibri" pitchFamily="34" charset="0"/>
                <a:ea typeface="Calibri" pitchFamily="34" charset="-122"/>
                <a:cs typeface="Calibri" pitchFamily="34" charset="-120"/>
              </a:rPr>
              <a:t>PRESENTED BY</a:t>
            </a:r>
            <a:endParaRPr lang="en-US" sz="850" dirty="0"/>
          </a:p>
        </p:txBody>
      </p:sp>
      <p:sp>
        <p:nvSpPr>
          <p:cNvPr id="7" name="Text 4"/>
          <p:cNvSpPr/>
          <p:nvPr/>
        </p:nvSpPr>
        <p:spPr>
          <a:xfrm>
            <a:off x="777240" y="4462272"/>
            <a:ext cx="3108960" cy="256032"/>
          </a:xfrm>
          <a:prstGeom prst="rect">
            <a:avLst/>
          </a:prstGeom>
          <a:noFill/>
          <a:ln/>
        </p:spPr>
        <p:txBody>
          <a:bodyPr wrap="square" lIns="0" tIns="0" rIns="0" bIns="0" rtlCol="0" anchor="ctr"/>
          <a:lstStyle/>
          <a:p>
            <a:pPr indent="0" marL="0">
              <a:buNone/>
            </a:pPr>
            <a:r>
              <a:rPr lang="en-US" sz="1250" b="1" dirty="0">
                <a:solidFill>
                  <a:srgbClr val="F5F0E2"/>
                </a:solidFill>
                <a:latin typeface="Calibri" pitchFamily="34" charset="0"/>
                <a:ea typeface="Calibri" pitchFamily="34" charset="-122"/>
                <a:cs typeface="Calibri" pitchFamily="34" charset="-120"/>
              </a:rPr>
              <a:t>Mohammed Rayyan Pasha</a:t>
            </a:r>
            <a:endParaRPr lang="en-US" sz="1250" dirty="0"/>
          </a:p>
        </p:txBody>
      </p:sp>
      <p:sp>
        <p:nvSpPr>
          <p:cNvPr id="8" name="Text 5"/>
          <p:cNvSpPr/>
          <p:nvPr/>
        </p:nvSpPr>
        <p:spPr>
          <a:xfrm>
            <a:off x="777240" y="4736592"/>
            <a:ext cx="3108960" cy="274320"/>
          </a:xfrm>
          <a:prstGeom prst="rect">
            <a:avLst/>
          </a:prstGeom>
          <a:noFill/>
          <a:ln/>
        </p:spPr>
        <p:txBody>
          <a:bodyPr wrap="square" lIns="0" tIns="0" rIns="0" bIns="0" rtlCol="0" anchor="ctr"/>
          <a:lstStyle/>
          <a:p>
            <a:pPr indent="0" marL="0">
              <a:lnSpc>
                <a:spcPct val="100000"/>
              </a:lnSpc>
              <a:buNone/>
            </a:pPr>
            <a:r>
              <a:rPr lang="en-US" sz="950" dirty="0">
                <a:solidFill>
                  <a:srgbClr val="BFC2AC"/>
                </a:solidFill>
                <a:latin typeface="Calibri" pitchFamily="34" charset="0"/>
                <a:ea typeface="Calibri" pitchFamily="34" charset="-122"/>
                <a:cs typeface="Calibri" pitchFamily="34" charset="-120"/>
              </a:rPr>
              <a:t>AU23UG-015  ·  Atria University, Bengaluru</a:t>
            </a:r>
            <a:endParaRPr lang="en-US" sz="950" dirty="0"/>
          </a:p>
        </p:txBody>
      </p:sp>
      <p:sp>
        <p:nvSpPr>
          <p:cNvPr id="9" name="Text 6"/>
          <p:cNvSpPr/>
          <p:nvPr/>
        </p:nvSpPr>
        <p:spPr>
          <a:xfrm>
            <a:off x="4069080" y="4224528"/>
            <a:ext cx="3108960" cy="219456"/>
          </a:xfrm>
          <a:prstGeom prst="rect">
            <a:avLst/>
          </a:prstGeom>
          <a:noFill/>
          <a:ln/>
        </p:spPr>
        <p:txBody>
          <a:bodyPr wrap="square" lIns="0" tIns="0" rIns="0" bIns="0" rtlCol="0" anchor="ctr"/>
          <a:lstStyle/>
          <a:p>
            <a:pPr indent="0" marL="0">
              <a:buNone/>
            </a:pPr>
            <a:r>
              <a:rPr lang="en-US" sz="850" b="1" spc="200" kern="0" dirty="0">
                <a:solidFill>
                  <a:srgbClr val="656D4A"/>
                </a:solidFill>
                <a:latin typeface="Calibri" pitchFamily="34" charset="0"/>
                <a:ea typeface="Calibri" pitchFamily="34" charset="-122"/>
                <a:cs typeface="Calibri" pitchFamily="34" charset="-120"/>
              </a:rPr>
              <a:t>ROLE</a:t>
            </a:r>
            <a:endParaRPr lang="en-US" sz="850" dirty="0"/>
          </a:p>
        </p:txBody>
      </p:sp>
      <p:sp>
        <p:nvSpPr>
          <p:cNvPr id="10" name="Text 7"/>
          <p:cNvSpPr/>
          <p:nvPr/>
        </p:nvSpPr>
        <p:spPr>
          <a:xfrm>
            <a:off x="4069080" y="4462272"/>
            <a:ext cx="3108960" cy="256032"/>
          </a:xfrm>
          <a:prstGeom prst="rect">
            <a:avLst/>
          </a:prstGeom>
          <a:noFill/>
          <a:ln/>
        </p:spPr>
        <p:txBody>
          <a:bodyPr wrap="square" lIns="0" tIns="0" rIns="0" bIns="0" rtlCol="0" anchor="ctr"/>
          <a:lstStyle/>
          <a:p>
            <a:pPr indent="0" marL="0">
              <a:buNone/>
            </a:pPr>
            <a:r>
              <a:rPr lang="en-US" sz="1250" b="1" dirty="0">
                <a:solidFill>
                  <a:srgbClr val="F5F0E2"/>
                </a:solidFill>
                <a:latin typeface="Calibri" pitchFamily="34" charset="0"/>
                <a:ea typeface="Calibri" pitchFamily="34" charset="-122"/>
                <a:cs typeface="Calibri" pitchFamily="34" charset="-120"/>
              </a:rPr>
              <a:t>Founder's Desk Associate</a:t>
            </a:r>
            <a:endParaRPr lang="en-US" sz="1250" dirty="0"/>
          </a:p>
        </p:txBody>
      </p:sp>
      <p:sp>
        <p:nvSpPr>
          <p:cNvPr id="11" name="Text 8"/>
          <p:cNvSpPr/>
          <p:nvPr/>
        </p:nvSpPr>
        <p:spPr>
          <a:xfrm>
            <a:off x="4069080" y="4736592"/>
            <a:ext cx="3108960" cy="274320"/>
          </a:xfrm>
          <a:prstGeom prst="rect">
            <a:avLst/>
          </a:prstGeom>
          <a:noFill/>
          <a:ln/>
        </p:spPr>
        <p:txBody>
          <a:bodyPr wrap="square" lIns="0" tIns="0" rIns="0" bIns="0" rtlCol="0" anchor="ctr"/>
          <a:lstStyle/>
          <a:p>
            <a:pPr indent="0" marL="0">
              <a:lnSpc>
                <a:spcPct val="100000"/>
              </a:lnSpc>
              <a:buNone/>
            </a:pPr>
            <a:r>
              <a:rPr lang="en-US" sz="950" dirty="0">
                <a:solidFill>
                  <a:srgbClr val="BFC2AC"/>
                </a:solidFill>
                <a:latin typeface="Calibri" pitchFamily="34" charset="0"/>
                <a:ea typeface="Calibri" pitchFamily="34" charset="-122"/>
                <a:cs typeface="Calibri" pitchFamily="34" charset="-120"/>
              </a:rPr>
              <a:t>Digital Transformation &amp; Venture Development</a:t>
            </a:r>
            <a:endParaRPr lang="en-US" sz="950" dirty="0"/>
          </a:p>
        </p:txBody>
      </p:sp>
      <p:sp>
        <p:nvSpPr>
          <p:cNvPr id="12" name="Text 9"/>
          <p:cNvSpPr/>
          <p:nvPr/>
        </p:nvSpPr>
        <p:spPr>
          <a:xfrm>
            <a:off x="777240" y="5285232"/>
            <a:ext cx="3108960" cy="219456"/>
          </a:xfrm>
          <a:prstGeom prst="rect">
            <a:avLst/>
          </a:prstGeom>
          <a:noFill/>
          <a:ln/>
        </p:spPr>
        <p:txBody>
          <a:bodyPr wrap="square" lIns="0" tIns="0" rIns="0" bIns="0" rtlCol="0" anchor="ctr"/>
          <a:lstStyle/>
          <a:p>
            <a:pPr indent="0" marL="0">
              <a:buNone/>
            </a:pPr>
            <a:r>
              <a:rPr lang="en-US" sz="850" b="1" spc="200" kern="0" dirty="0">
                <a:solidFill>
                  <a:srgbClr val="656D4A"/>
                </a:solidFill>
                <a:latin typeface="Calibri" pitchFamily="34" charset="0"/>
                <a:ea typeface="Calibri" pitchFamily="34" charset="-122"/>
                <a:cs typeface="Calibri" pitchFamily="34" charset="-120"/>
              </a:rPr>
              <a:t>ORGANISATION</a:t>
            </a:r>
            <a:endParaRPr lang="en-US" sz="850" dirty="0"/>
          </a:p>
        </p:txBody>
      </p:sp>
      <p:sp>
        <p:nvSpPr>
          <p:cNvPr id="13" name="Text 10"/>
          <p:cNvSpPr/>
          <p:nvPr/>
        </p:nvSpPr>
        <p:spPr>
          <a:xfrm>
            <a:off x="777240" y="5522976"/>
            <a:ext cx="3108960" cy="256032"/>
          </a:xfrm>
          <a:prstGeom prst="rect">
            <a:avLst/>
          </a:prstGeom>
          <a:noFill/>
          <a:ln/>
        </p:spPr>
        <p:txBody>
          <a:bodyPr wrap="square" lIns="0" tIns="0" rIns="0" bIns="0" rtlCol="0" anchor="ctr"/>
          <a:lstStyle/>
          <a:p>
            <a:pPr indent="0" marL="0">
              <a:buNone/>
            </a:pPr>
            <a:r>
              <a:rPr lang="en-US" sz="1250" b="1" dirty="0">
                <a:solidFill>
                  <a:srgbClr val="F5F0E2"/>
                </a:solidFill>
                <a:latin typeface="Calibri" pitchFamily="34" charset="0"/>
                <a:ea typeface="Calibri" pitchFamily="34" charset="-122"/>
                <a:cs typeface="Calibri" pitchFamily="34" charset="-120"/>
              </a:rPr>
              <a:t>TIPS Founder's Desk</a:t>
            </a:r>
            <a:endParaRPr lang="en-US" sz="1250" dirty="0"/>
          </a:p>
        </p:txBody>
      </p:sp>
      <p:sp>
        <p:nvSpPr>
          <p:cNvPr id="14" name="Text 11"/>
          <p:cNvSpPr/>
          <p:nvPr/>
        </p:nvSpPr>
        <p:spPr>
          <a:xfrm>
            <a:off x="777240" y="5797296"/>
            <a:ext cx="3108960" cy="274320"/>
          </a:xfrm>
          <a:prstGeom prst="rect">
            <a:avLst/>
          </a:prstGeom>
          <a:noFill/>
          <a:ln/>
        </p:spPr>
        <p:txBody>
          <a:bodyPr wrap="square" lIns="0" tIns="0" rIns="0" bIns="0" rtlCol="0" anchor="ctr"/>
          <a:lstStyle/>
          <a:p>
            <a:pPr indent="0" marL="0">
              <a:lnSpc>
                <a:spcPct val="100000"/>
              </a:lnSpc>
              <a:buNone/>
            </a:pPr>
            <a:r>
              <a:rPr lang="en-US" sz="950" dirty="0">
                <a:solidFill>
                  <a:srgbClr val="BFC2AC"/>
                </a:solidFill>
                <a:latin typeface="Calibri" pitchFamily="34" charset="0"/>
                <a:ea typeface="Calibri" pitchFamily="34" charset="-122"/>
                <a:cs typeface="Calibri" pitchFamily="34" charset="-120"/>
              </a:rPr>
              <a:t>The Indian Public School, Bengaluru</a:t>
            </a:r>
            <a:endParaRPr lang="en-US" sz="950" dirty="0"/>
          </a:p>
        </p:txBody>
      </p:sp>
      <p:sp>
        <p:nvSpPr>
          <p:cNvPr id="15" name="Text 12"/>
          <p:cNvSpPr/>
          <p:nvPr/>
        </p:nvSpPr>
        <p:spPr>
          <a:xfrm>
            <a:off x="4069080" y="5285232"/>
            <a:ext cx="3108960" cy="219456"/>
          </a:xfrm>
          <a:prstGeom prst="rect">
            <a:avLst/>
          </a:prstGeom>
          <a:noFill/>
          <a:ln/>
        </p:spPr>
        <p:txBody>
          <a:bodyPr wrap="square" lIns="0" tIns="0" rIns="0" bIns="0" rtlCol="0" anchor="ctr"/>
          <a:lstStyle/>
          <a:p>
            <a:pPr indent="0" marL="0">
              <a:buNone/>
            </a:pPr>
            <a:r>
              <a:rPr lang="en-US" sz="850" b="1" spc="200" kern="0" dirty="0">
                <a:solidFill>
                  <a:srgbClr val="656D4A"/>
                </a:solidFill>
                <a:latin typeface="Calibri" pitchFamily="34" charset="0"/>
                <a:ea typeface="Calibri" pitchFamily="34" charset="-122"/>
                <a:cs typeface="Calibri" pitchFamily="34" charset="-120"/>
              </a:rPr>
              <a:t>ENGAGEMENT</a:t>
            </a:r>
            <a:endParaRPr lang="en-US" sz="850" dirty="0"/>
          </a:p>
        </p:txBody>
      </p:sp>
      <p:sp>
        <p:nvSpPr>
          <p:cNvPr id="16" name="Text 13"/>
          <p:cNvSpPr/>
          <p:nvPr/>
        </p:nvSpPr>
        <p:spPr>
          <a:xfrm>
            <a:off x="4069080" y="5522976"/>
            <a:ext cx="3108960" cy="256032"/>
          </a:xfrm>
          <a:prstGeom prst="rect">
            <a:avLst/>
          </a:prstGeom>
          <a:noFill/>
          <a:ln/>
        </p:spPr>
        <p:txBody>
          <a:bodyPr wrap="square" lIns="0" tIns="0" rIns="0" bIns="0" rtlCol="0" anchor="ctr"/>
          <a:lstStyle/>
          <a:p>
            <a:pPr indent="0" marL="0">
              <a:buNone/>
            </a:pPr>
            <a:r>
              <a:rPr lang="en-US" sz="1250" b="1" dirty="0">
                <a:solidFill>
                  <a:srgbClr val="F5F0E2"/>
                </a:solidFill>
                <a:latin typeface="Calibri" pitchFamily="34" charset="0"/>
                <a:ea typeface="Calibri" pitchFamily="34" charset="-122"/>
                <a:cs typeface="Calibri" pitchFamily="34" charset="-120"/>
              </a:rPr>
              <a:t>01 April 2025 – 30 December 2026</a:t>
            </a:r>
            <a:endParaRPr lang="en-US" sz="1250" dirty="0"/>
          </a:p>
        </p:txBody>
      </p:sp>
      <p:sp>
        <p:nvSpPr>
          <p:cNvPr id="17" name="Text 14"/>
          <p:cNvSpPr/>
          <p:nvPr/>
        </p:nvSpPr>
        <p:spPr>
          <a:xfrm>
            <a:off x="4069080" y="5797296"/>
            <a:ext cx="3108960" cy="274320"/>
          </a:xfrm>
          <a:prstGeom prst="rect">
            <a:avLst/>
          </a:prstGeom>
          <a:noFill/>
          <a:ln/>
        </p:spPr>
        <p:txBody>
          <a:bodyPr wrap="square" lIns="0" tIns="0" rIns="0" bIns="0" rtlCol="0" anchor="ctr"/>
          <a:lstStyle/>
          <a:p>
            <a:pPr indent="0" marL="0">
              <a:lnSpc>
                <a:spcPct val="100000"/>
              </a:lnSpc>
              <a:buNone/>
            </a:pPr>
            <a:r>
              <a:rPr lang="en-US" sz="950" dirty="0">
                <a:solidFill>
                  <a:srgbClr val="BFC2AC"/>
                </a:solidFill>
                <a:latin typeface="Calibri" pitchFamily="34" charset="0"/>
                <a:ea typeface="Calibri" pitchFamily="34" charset="-122"/>
                <a:cs typeface="Calibri" pitchFamily="34" charset="-120"/>
              </a:rPr>
              <a:t>Hybrid, project-based · ongoing</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402336"/>
            <a:ext cx="10817352" cy="237744"/>
          </a:xfrm>
          <a:prstGeom prst="rect">
            <a:avLst/>
          </a:prstGeom>
          <a:noFill/>
          <a:ln/>
        </p:spPr>
        <p:txBody>
          <a:bodyPr wrap="square" lIns="0" tIns="0" rIns="0" bIns="0" rtlCol="0" anchor="ctr"/>
          <a:lstStyle/>
          <a:p>
            <a:pPr indent="0" marL="0">
              <a:buNone/>
            </a:pPr>
            <a:r>
              <a:rPr lang="en-US" sz="1050" b="1" spc="260" kern="0" dirty="0">
                <a:solidFill>
                  <a:srgbClr val="7F4F24"/>
                </a:solidFill>
                <a:latin typeface="Calibri" pitchFamily="34" charset="0"/>
                <a:ea typeface="Calibri" pitchFamily="34" charset="-122"/>
                <a:cs typeface="Calibri" pitchFamily="34" charset="-120"/>
              </a:rPr>
              <a:t>01 · THE ROLE</a:t>
            </a:r>
            <a:endParaRPr lang="en-US" sz="1050" dirty="0"/>
          </a:p>
        </p:txBody>
      </p:sp>
      <p:sp>
        <p:nvSpPr>
          <p:cNvPr id="3" name="Text 1"/>
          <p:cNvSpPr/>
          <p:nvPr/>
        </p:nvSpPr>
        <p:spPr>
          <a:xfrm>
            <a:off x="685800" y="713232"/>
            <a:ext cx="10607040" cy="932688"/>
          </a:xfrm>
          <a:prstGeom prst="rect">
            <a:avLst/>
          </a:prstGeom>
          <a:noFill/>
          <a:ln/>
        </p:spPr>
        <p:txBody>
          <a:bodyPr wrap="square" lIns="0" tIns="0" rIns="0" bIns="0" rtlCol="0" anchor="t"/>
          <a:lstStyle/>
          <a:p>
            <a:pPr indent="0" marL="0">
              <a:lnSpc>
                <a:spcPct val="102000"/>
              </a:lnSpc>
              <a:buNone/>
            </a:pPr>
            <a:r>
              <a:rPr lang="en-US" sz="2900" b="1" dirty="0">
                <a:solidFill>
                  <a:srgbClr val="333D29"/>
                </a:solidFill>
                <a:latin typeface="Cambria" pitchFamily="34" charset="0"/>
                <a:ea typeface="Cambria" pitchFamily="34" charset="-122"/>
                <a:cs typeface="Cambria" pitchFamily="34" charset="-120"/>
              </a:rPr>
              <a:t>My mandate was wider than one product.</a:t>
            </a:r>
            <a:endParaRPr lang="en-US" sz="2900" dirty="0"/>
          </a:p>
        </p:txBody>
      </p:sp>
      <p:sp>
        <p:nvSpPr>
          <p:cNvPr id="4" name="Shape 2"/>
          <p:cNvSpPr/>
          <p:nvPr/>
        </p:nvSpPr>
        <p:spPr>
          <a:xfrm>
            <a:off x="685800" y="1975104"/>
            <a:ext cx="4041648" cy="3200400"/>
          </a:xfrm>
          <a:prstGeom prst="roundRect">
            <a:avLst>
              <a:gd name="adj" fmla="val 2857"/>
            </a:avLst>
          </a:prstGeom>
          <a:solidFill>
            <a:srgbClr val="333D29"/>
          </a:solidFill>
          <a:ln w="9525">
            <a:solidFill>
              <a:srgbClr val="333D29"/>
            </a:solidFill>
            <a:prstDash val="solid"/>
          </a:ln>
          <a:effectLst>
            <a:outerShdw sx="100000" sy="100000" kx="0" ky="0" algn="bl" rotWithShape="0" blurRad="177800" dist="38100" dir="5400000">
              <a:srgbClr val="1F2618">
                <a:alpha val="13000"/>
              </a:srgbClr>
            </a:outerShdw>
          </a:effectLst>
        </p:spPr>
      </p:sp>
      <p:sp>
        <p:nvSpPr>
          <p:cNvPr id="5" name="Text 3"/>
          <p:cNvSpPr/>
          <p:nvPr/>
        </p:nvSpPr>
        <p:spPr>
          <a:xfrm>
            <a:off x="960120" y="2194560"/>
            <a:ext cx="3566160" cy="237744"/>
          </a:xfrm>
          <a:prstGeom prst="rect">
            <a:avLst/>
          </a:prstGeom>
          <a:noFill/>
          <a:ln/>
        </p:spPr>
        <p:txBody>
          <a:bodyPr wrap="square" lIns="0" tIns="0" rIns="0" bIns="0" rtlCol="0" anchor="ctr"/>
          <a:lstStyle/>
          <a:p>
            <a:pPr indent="0" marL="0">
              <a:buNone/>
            </a:pPr>
            <a:r>
              <a:rPr lang="en-US" sz="900" b="1" spc="200" kern="0" dirty="0">
                <a:solidFill>
                  <a:srgbClr val="A68A64"/>
                </a:solidFill>
                <a:latin typeface="Calibri" pitchFamily="34" charset="0"/>
                <a:ea typeface="Calibri" pitchFamily="34" charset="-122"/>
                <a:cs typeface="Calibri" pitchFamily="34" charset="-120"/>
              </a:rPr>
              <a:t>THE ENGAGEMENT</a:t>
            </a:r>
            <a:endParaRPr lang="en-US" sz="900" dirty="0"/>
          </a:p>
        </p:txBody>
      </p:sp>
      <p:sp>
        <p:nvSpPr>
          <p:cNvPr id="6" name="Text 4"/>
          <p:cNvSpPr/>
          <p:nvPr/>
        </p:nvSpPr>
        <p:spPr>
          <a:xfrm>
            <a:off x="960120" y="2542032"/>
            <a:ext cx="3566160" cy="201168"/>
          </a:xfrm>
          <a:prstGeom prst="rect">
            <a:avLst/>
          </a:prstGeom>
          <a:noFill/>
          <a:ln/>
        </p:spPr>
        <p:txBody>
          <a:bodyPr wrap="square" lIns="0" tIns="0" rIns="0" bIns="0" rtlCol="0" anchor="t"/>
          <a:lstStyle/>
          <a:p>
            <a:pPr indent="0" marL="0">
              <a:buNone/>
            </a:pPr>
            <a:r>
              <a:rPr lang="en-US" sz="900" b="1" spc="140" kern="0" dirty="0">
                <a:solidFill>
                  <a:srgbClr val="A4AC86"/>
                </a:solidFill>
                <a:latin typeface="Calibri" pitchFamily="34" charset="0"/>
                <a:ea typeface="Calibri" pitchFamily="34" charset="-122"/>
                <a:cs typeface="Calibri" pitchFamily="34" charset="-120"/>
              </a:rPr>
              <a:t>Role</a:t>
            </a:r>
            <a:endParaRPr lang="en-US" sz="900" dirty="0"/>
          </a:p>
        </p:txBody>
      </p:sp>
      <p:sp>
        <p:nvSpPr>
          <p:cNvPr id="7" name="Text 5"/>
          <p:cNvSpPr/>
          <p:nvPr/>
        </p:nvSpPr>
        <p:spPr>
          <a:xfrm>
            <a:off x="960120" y="2743200"/>
            <a:ext cx="3529584" cy="694944"/>
          </a:xfrm>
          <a:prstGeom prst="rect">
            <a:avLst/>
          </a:prstGeom>
          <a:noFill/>
          <a:ln/>
        </p:spPr>
        <p:txBody>
          <a:bodyPr wrap="square" lIns="0" tIns="0" rIns="0" bIns="0" rtlCol="0" anchor="t"/>
          <a:lstStyle/>
          <a:p>
            <a:pPr indent="0" marL="0">
              <a:lnSpc>
                <a:spcPct val="104000"/>
              </a:lnSpc>
              <a:buNone/>
            </a:pPr>
            <a:r>
              <a:rPr lang="en-US" sz="1150" dirty="0">
                <a:solidFill>
                  <a:srgbClr val="F5F0E2"/>
                </a:solidFill>
                <a:latin typeface="Calibri" pitchFamily="34" charset="0"/>
                <a:ea typeface="Calibri" pitchFamily="34" charset="-122"/>
                <a:cs typeface="Calibri" pitchFamily="34" charset="-120"/>
              </a:rPr>
              <a:t>Founder's Desk Associate — Digital Transformation, Venture Development &amp; Strategic Initiatives</a:t>
            </a:r>
            <a:endParaRPr lang="en-US" sz="1150" dirty="0"/>
          </a:p>
        </p:txBody>
      </p:sp>
      <p:sp>
        <p:nvSpPr>
          <p:cNvPr id="8" name="Text 6"/>
          <p:cNvSpPr/>
          <p:nvPr/>
        </p:nvSpPr>
        <p:spPr>
          <a:xfrm>
            <a:off x="960120" y="3438144"/>
            <a:ext cx="3566160" cy="201168"/>
          </a:xfrm>
          <a:prstGeom prst="rect">
            <a:avLst/>
          </a:prstGeom>
          <a:noFill/>
          <a:ln/>
        </p:spPr>
        <p:txBody>
          <a:bodyPr wrap="square" lIns="0" tIns="0" rIns="0" bIns="0" rtlCol="0" anchor="t"/>
          <a:lstStyle/>
          <a:p>
            <a:pPr indent="0" marL="0">
              <a:buNone/>
            </a:pPr>
            <a:r>
              <a:rPr lang="en-US" sz="900" b="1" spc="140" kern="0" dirty="0">
                <a:solidFill>
                  <a:srgbClr val="A4AC86"/>
                </a:solidFill>
                <a:latin typeface="Calibri" pitchFamily="34" charset="0"/>
                <a:ea typeface="Calibri" pitchFamily="34" charset="-122"/>
                <a:cs typeface="Calibri" pitchFamily="34" charset="-120"/>
              </a:rPr>
              <a:t>Reporting to</a:t>
            </a:r>
            <a:endParaRPr lang="en-US" sz="900" dirty="0"/>
          </a:p>
        </p:txBody>
      </p:sp>
      <p:sp>
        <p:nvSpPr>
          <p:cNvPr id="9" name="Text 7"/>
          <p:cNvSpPr/>
          <p:nvPr/>
        </p:nvSpPr>
        <p:spPr>
          <a:xfrm>
            <a:off x="960120" y="3639312"/>
            <a:ext cx="3529584" cy="274320"/>
          </a:xfrm>
          <a:prstGeom prst="rect">
            <a:avLst/>
          </a:prstGeom>
          <a:noFill/>
          <a:ln/>
        </p:spPr>
        <p:txBody>
          <a:bodyPr wrap="square" lIns="0" tIns="0" rIns="0" bIns="0" rtlCol="0" anchor="t"/>
          <a:lstStyle/>
          <a:p>
            <a:pPr indent="0" marL="0">
              <a:lnSpc>
                <a:spcPct val="104000"/>
              </a:lnSpc>
              <a:buNone/>
            </a:pPr>
            <a:r>
              <a:rPr lang="en-US" sz="1150" dirty="0">
                <a:solidFill>
                  <a:srgbClr val="F5F0E2"/>
                </a:solidFill>
                <a:latin typeface="Calibri" pitchFamily="34" charset="0"/>
                <a:ea typeface="Calibri" pitchFamily="34" charset="-122"/>
                <a:cs typeface="Calibri" pitchFamily="34" charset="-120"/>
              </a:rPr>
              <a:t>Padmini Raghavendra — Director &amp; CEO</a:t>
            </a:r>
            <a:endParaRPr lang="en-US" sz="1150" dirty="0"/>
          </a:p>
        </p:txBody>
      </p:sp>
      <p:sp>
        <p:nvSpPr>
          <p:cNvPr id="10" name="Text 8"/>
          <p:cNvSpPr/>
          <p:nvPr/>
        </p:nvSpPr>
        <p:spPr>
          <a:xfrm>
            <a:off x="960120" y="3986784"/>
            <a:ext cx="3566160" cy="201168"/>
          </a:xfrm>
          <a:prstGeom prst="rect">
            <a:avLst/>
          </a:prstGeom>
          <a:noFill/>
          <a:ln/>
        </p:spPr>
        <p:txBody>
          <a:bodyPr wrap="square" lIns="0" tIns="0" rIns="0" bIns="0" rtlCol="0" anchor="t"/>
          <a:lstStyle/>
          <a:p>
            <a:pPr indent="0" marL="0">
              <a:buNone/>
            </a:pPr>
            <a:r>
              <a:rPr lang="en-US" sz="900" b="1" spc="140" kern="0" dirty="0">
                <a:solidFill>
                  <a:srgbClr val="A4AC86"/>
                </a:solidFill>
                <a:latin typeface="Calibri" pitchFamily="34" charset="0"/>
                <a:ea typeface="Calibri" pitchFamily="34" charset="-122"/>
                <a:cs typeface="Calibri" pitchFamily="34" charset="-120"/>
              </a:rPr>
              <a:t>Period</a:t>
            </a:r>
            <a:endParaRPr lang="en-US" sz="900" dirty="0"/>
          </a:p>
        </p:txBody>
      </p:sp>
      <p:sp>
        <p:nvSpPr>
          <p:cNvPr id="11" name="Text 9"/>
          <p:cNvSpPr/>
          <p:nvPr/>
        </p:nvSpPr>
        <p:spPr>
          <a:xfrm>
            <a:off x="960120" y="4187952"/>
            <a:ext cx="3529584" cy="274320"/>
          </a:xfrm>
          <a:prstGeom prst="rect">
            <a:avLst/>
          </a:prstGeom>
          <a:noFill/>
          <a:ln/>
        </p:spPr>
        <p:txBody>
          <a:bodyPr wrap="square" lIns="0" tIns="0" rIns="0" bIns="0" rtlCol="0" anchor="t"/>
          <a:lstStyle/>
          <a:p>
            <a:pPr indent="0" marL="0">
              <a:lnSpc>
                <a:spcPct val="104000"/>
              </a:lnSpc>
              <a:buNone/>
            </a:pPr>
            <a:r>
              <a:rPr lang="en-US" sz="1150" dirty="0">
                <a:solidFill>
                  <a:srgbClr val="F5F0E2"/>
                </a:solidFill>
                <a:latin typeface="Calibri" pitchFamily="34" charset="0"/>
                <a:ea typeface="Calibri" pitchFamily="34" charset="-122"/>
                <a:cs typeface="Calibri" pitchFamily="34" charset="-120"/>
              </a:rPr>
              <a:t>01 April 2025 – 30 December 2026  (ongoing)</a:t>
            </a:r>
            <a:endParaRPr lang="en-US" sz="1150" dirty="0"/>
          </a:p>
        </p:txBody>
      </p:sp>
      <p:sp>
        <p:nvSpPr>
          <p:cNvPr id="12" name="Text 10"/>
          <p:cNvSpPr/>
          <p:nvPr/>
        </p:nvSpPr>
        <p:spPr>
          <a:xfrm>
            <a:off x="960120" y="4535424"/>
            <a:ext cx="3566160" cy="201168"/>
          </a:xfrm>
          <a:prstGeom prst="rect">
            <a:avLst/>
          </a:prstGeom>
          <a:noFill/>
          <a:ln/>
        </p:spPr>
        <p:txBody>
          <a:bodyPr wrap="square" lIns="0" tIns="0" rIns="0" bIns="0" rtlCol="0" anchor="t"/>
          <a:lstStyle/>
          <a:p>
            <a:pPr indent="0" marL="0">
              <a:buNone/>
            </a:pPr>
            <a:r>
              <a:rPr lang="en-US" sz="900" b="1" spc="140" kern="0" dirty="0">
                <a:solidFill>
                  <a:srgbClr val="A4AC86"/>
                </a:solidFill>
                <a:latin typeface="Calibri" pitchFamily="34" charset="0"/>
                <a:ea typeface="Calibri" pitchFamily="34" charset="-122"/>
                <a:cs typeface="Calibri" pitchFamily="34" charset="-120"/>
              </a:rPr>
              <a:t>Work mode</a:t>
            </a:r>
            <a:endParaRPr lang="en-US" sz="900" dirty="0"/>
          </a:p>
        </p:txBody>
      </p:sp>
      <p:sp>
        <p:nvSpPr>
          <p:cNvPr id="13" name="Text 11"/>
          <p:cNvSpPr/>
          <p:nvPr/>
        </p:nvSpPr>
        <p:spPr>
          <a:xfrm>
            <a:off x="960120" y="4736592"/>
            <a:ext cx="3529584" cy="274320"/>
          </a:xfrm>
          <a:prstGeom prst="rect">
            <a:avLst/>
          </a:prstGeom>
          <a:noFill/>
          <a:ln/>
        </p:spPr>
        <p:txBody>
          <a:bodyPr wrap="square" lIns="0" tIns="0" rIns="0" bIns="0" rtlCol="0" anchor="t"/>
          <a:lstStyle/>
          <a:p>
            <a:pPr indent="0" marL="0">
              <a:lnSpc>
                <a:spcPct val="104000"/>
              </a:lnSpc>
              <a:buNone/>
            </a:pPr>
            <a:r>
              <a:rPr lang="en-US" sz="1150" dirty="0">
                <a:solidFill>
                  <a:srgbClr val="F5F0E2"/>
                </a:solidFill>
                <a:latin typeface="Calibri" pitchFamily="34" charset="0"/>
                <a:ea typeface="Calibri" pitchFamily="34" charset="-122"/>
                <a:cs typeface="Calibri" pitchFamily="34" charset="-120"/>
              </a:rPr>
              <a:t>Hybrid, project-based</a:t>
            </a:r>
            <a:endParaRPr lang="en-US" sz="1150" dirty="0"/>
          </a:p>
        </p:txBody>
      </p:sp>
      <p:sp>
        <p:nvSpPr>
          <p:cNvPr id="14" name="Shape 12"/>
          <p:cNvSpPr/>
          <p:nvPr/>
        </p:nvSpPr>
        <p:spPr>
          <a:xfrm>
            <a:off x="5074920" y="1975104"/>
            <a:ext cx="3127248" cy="969264"/>
          </a:xfrm>
          <a:prstGeom prst="roundRect">
            <a:avLst>
              <a:gd name="adj" fmla="val 9434"/>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15" name="Shape 13"/>
          <p:cNvSpPr/>
          <p:nvPr/>
        </p:nvSpPr>
        <p:spPr>
          <a:xfrm>
            <a:off x="5294376" y="2286000"/>
            <a:ext cx="347472" cy="347472"/>
          </a:xfrm>
          <a:prstGeom prst="ellipse">
            <a:avLst/>
          </a:prstGeom>
          <a:solidFill>
            <a:srgbClr val="A68A64"/>
          </a:solidFill>
          <a:ln w="12700">
            <a:solidFill>
              <a:srgbClr val="A68A64"/>
            </a:solidFill>
            <a:prstDash val="solid"/>
          </a:ln>
        </p:spPr>
      </p:sp>
      <p:sp>
        <p:nvSpPr>
          <p:cNvPr id="16" name="Text 14"/>
          <p:cNvSpPr/>
          <p:nvPr/>
        </p:nvSpPr>
        <p:spPr>
          <a:xfrm>
            <a:off x="5294376" y="2286000"/>
            <a:ext cx="347472" cy="347472"/>
          </a:xfrm>
          <a:prstGeom prst="rect">
            <a:avLst/>
          </a:prstGeom>
          <a:noFill/>
          <a:ln/>
        </p:spPr>
        <p:txBody>
          <a:bodyPr wrap="square" lIns="0" tIns="0" rIns="0" bIns="0" rtlCol="0" anchor="ctr"/>
          <a:lstStyle/>
          <a:p>
            <a:pPr algn="ctr" indent="0" marL="0">
              <a:buNone/>
            </a:pPr>
            <a:r>
              <a:rPr lang="en-US" sz="1200" b="1" dirty="0">
                <a:solidFill>
                  <a:srgbClr val="333D29"/>
                </a:solidFill>
                <a:latin typeface="Calibri" pitchFamily="34" charset="0"/>
                <a:ea typeface="Calibri" pitchFamily="34" charset="-122"/>
                <a:cs typeface="Calibri" pitchFamily="34" charset="-120"/>
              </a:rPr>
              <a:t>A</a:t>
            </a:r>
            <a:endParaRPr lang="en-US" sz="1200" dirty="0"/>
          </a:p>
        </p:txBody>
      </p:sp>
      <p:sp>
        <p:nvSpPr>
          <p:cNvPr id="17" name="Text 15"/>
          <p:cNvSpPr/>
          <p:nvPr/>
        </p:nvSpPr>
        <p:spPr>
          <a:xfrm>
            <a:off x="5751576" y="2139696"/>
            <a:ext cx="2231136" cy="640080"/>
          </a:xfrm>
          <a:prstGeom prst="rect">
            <a:avLst/>
          </a:prstGeom>
          <a:noFill/>
          <a:ln/>
        </p:spPr>
        <p:txBody>
          <a:bodyPr wrap="square" lIns="0" tIns="0" rIns="0" bIns="0" rtlCol="0" anchor="ctr"/>
          <a:lstStyle/>
          <a:p>
            <a:pPr indent="0" marL="0">
              <a:lnSpc>
                <a:spcPct val="102000"/>
              </a:lnSpc>
              <a:buNone/>
            </a:pPr>
            <a:r>
              <a:rPr lang="en-US" sz="1150" dirty="0">
                <a:solidFill>
                  <a:srgbClr val="333D29"/>
                </a:solidFill>
                <a:latin typeface="Calibri" pitchFamily="34" charset="0"/>
                <a:ea typeface="Calibri" pitchFamily="34" charset="-122"/>
                <a:cs typeface="Calibri" pitchFamily="34" charset="-120"/>
              </a:rPr>
              <a:t>Founder's Desk &amp; strategy support</a:t>
            </a:r>
            <a:endParaRPr lang="en-US" sz="1150" dirty="0"/>
          </a:p>
        </p:txBody>
      </p:sp>
      <p:sp>
        <p:nvSpPr>
          <p:cNvPr id="18" name="Shape 16"/>
          <p:cNvSpPr/>
          <p:nvPr/>
        </p:nvSpPr>
        <p:spPr>
          <a:xfrm>
            <a:off x="8421624" y="1975104"/>
            <a:ext cx="3127248" cy="969264"/>
          </a:xfrm>
          <a:prstGeom prst="roundRect">
            <a:avLst>
              <a:gd name="adj" fmla="val 9434"/>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19" name="Shape 17"/>
          <p:cNvSpPr/>
          <p:nvPr/>
        </p:nvSpPr>
        <p:spPr>
          <a:xfrm>
            <a:off x="8641080" y="2286000"/>
            <a:ext cx="347472" cy="347472"/>
          </a:xfrm>
          <a:prstGeom prst="ellipse">
            <a:avLst/>
          </a:prstGeom>
          <a:solidFill>
            <a:srgbClr val="A68A64"/>
          </a:solidFill>
          <a:ln w="12700">
            <a:solidFill>
              <a:srgbClr val="A68A64"/>
            </a:solidFill>
            <a:prstDash val="solid"/>
          </a:ln>
        </p:spPr>
      </p:sp>
      <p:sp>
        <p:nvSpPr>
          <p:cNvPr id="20" name="Text 18"/>
          <p:cNvSpPr/>
          <p:nvPr/>
        </p:nvSpPr>
        <p:spPr>
          <a:xfrm>
            <a:off x="8641080" y="2286000"/>
            <a:ext cx="347472" cy="347472"/>
          </a:xfrm>
          <a:prstGeom prst="rect">
            <a:avLst/>
          </a:prstGeom>
          <a:noFill/>
          <a:ln/>
        </p:spPr>
        <p:txBody>
          <a:bodyPr wrap="square" lIns="0" tIns="0" rIns="0" bIns="0" rtlCol="0" anchor="ctr"/>
          <a:lstStyle/>
          <a:p>
            <a:pPr algn="ctr" indent="0" marL="0">
              <a:buNone/>
            </a:pPr>
            <a:r>
              <a:rPr lang="en-US" sz="1200" b="1" dirty="0">
                <a:solidFill>
                  <a:srgbClr val="333D29"/>
                </a:solidFill>
                <a:latin typeface="Calibri" pitchFamily="34" charset="0"/>
                <a:ea typeface="Calibri" pitchFamily="34" charset="-122"/>
                <a:cs typeface="Calibri" pitchFamily="34" charset="-120"/>
              </a:rPr>
              <a:t>B</a:t>
            </a:r>
            <a:endParaRPr lang="en-US" sz="1200" dirty="0"/>
          </a:p>
        </p:txBody>
      </p:sp>
      <p:sp>
        <p:nvSpPr>
          <p:cNvPr id="21" name="Text 19"/>
          <p:cNvSpPr/>
          <p:nvPr/>
        </p:nvSpPr>
        <p:spPr>
          <a:xfrm>
            <a:off x="9098280" y="2139696"/>
            <a:ext cx="2231136" cy="640080"/>
          </a:xfrm>
          <a:prstGeom prst="rect">
            <a:avLst/>
          </a:prstGeom>
          <a:noFill/>
          <a:ln/>
        </p:spPr>
        <p:txBody>
          <a:bodyPr wrap="square" lIns="0" tIns="0" rIns="0" bIns="0" rtlCol="0" anchor="ctr"/>
          <a:lstStyle/>
          <a:p>
            <a:pPr indent="0" marL="0">
              <a:lnSpc>
                <a:spcPct val="102000"/>
              </a:lnSpc>
              <a:buNone/>
            </a:pPr>
            <a:r>
              <a:rPr lang="en-US" sz="1150" dirty="0">
                <a:solidFill>
                  <a:srgbClr val="333D29"/>
                </a:solidFill>
                <a:latin typeface="Calibri" pitchFamily="34" charset="0"/>
                <a:ea typeface="Calibri" pitchFamily="34" charset="-122"/>
                <a:cs typeface="Calibri" pitchFamily="34" charset="-120"/>
              </a:rPr>
              <a:t>Digital transformation of operations</a:t>
            </a:r>
            <a:endParaRPr lang="en-US" sz="1150" dirty="0"/>
          </a:p>
        </p:txBody>
      </p:sp>
      <p:sp>
        <p:nvSpPr>
          <p:cNvPr id="22" name="Shape 20"/>
          <p:cNvSpPr/>
          <p:nvPr/>
        </p:nvSpPr>
        <p:spPr>
          <a:xfrm>
            <a:off x="5074920" y="3072384"/>
            <a:ext cx="3127248" cy="969264"/>
          </a:xfrm>
          <a:prstGeom prst="roundRect">
            <a:avLst>
              <a:gd name="adj" fmla="val 9434"/>
            </a:avLst>
          </a:prstGeom>
          <a:solidFill>
            <a:srgbClr val="EBE3CE"/>
          </a:solidFill>
          <a:ln w="19050">
            <a:solidFill>
              <a:srgbClr val="7F4F24"/>
            </a:solidFill>
            <a:prstDash val="solid"/>
          </a:ln>
          <a:effectLst>
            <a:outerShdw sx="100000" sy="100000" kx="0" ky="0" algn="bl" rotWithShape="0" blurRad="177800" dist="38100" dir="5400000">
              <a:srgbClr val="1F2618">
                <a:alpha val="13000"/>
              </a:srgbClr>
            </a:outerShdw>
          </a:effectLst>
        </p:spPr>
      </p:sp>
      <p:sp>
        <p:nvSpPr>
          <p:cNvPr id="23" name="Shape 21"/>
          <p:cNvSpPr/>
          <p:nvPr/>
        </p:nvSpPr>
        <p:spPr>
          <a:xfrm>
            <a:off x="5294376" y="3383280"/>
            <a:ext cx="347472" cy="347472"/>
          </a:xfrm>
          <a:prstGeom prst="ellipse">
            <a:avLst/>
          </a:prstGeom>
          <a:solidFill>
            <a:srgbClr val="7F4F24"/>
          </a:solidFill>
          <a:ln w="12700">
            <a:solidFill>
              <a:srgbClr val="7F4F24"/>
            </a:solidFill>
            <a:prstDash val="solid"/>
          </a:ln>
        </p:spPr>
      </p:sp>
      <p:sp>
        <p:nvSpPr>
          <p:cNvPr id="24" name="Text 22"/>
          <p:cNvSpPr/>
          <p:nvPr/>
        </p:nvSpPr>
        <p:spPr>
          <a:xfrm>
            <a:off x="5294376" y="3383280"/>
            <a:ext cx="347472" cy="347472"/>
          </a:xfrm>
          <a:prstGeom prst="rect">
            <a:avLst/>
          </a:prstGeom>
          <a:noFill/>
          <a:ln/>
        </p:spPr>
        <p:txBody>
          <a:bodyPr wrap="square" lIns="0" tIns="0" rIns="0" bIns="0" rtlCol="0" anchor="ctr"/>
          <a:lstStyle/>
          <a:p>
            <a:pPr algn="ctr" indent="0" marL="0">
              <a:buNone/>
            </a:pPr>
            <a:r>
              <a:rPr lang="en-US" sz="1200" b="1" dirty="0">
                <a:solidFill>
                  <a:srgbClr val="F5F0E2"/>
                </a:solidFill>
                <a:latin typeface="Calibri" pitchFamily="34" charset="0"/>
                <a:ea typeface="Calibri" pitchFamily="34" charset="-122"/>
                <a:cs typeface="Calibri" pitchFamily="34" charset="-120"/>
              </a:rPr>
              <a:t>C</a:t>
            </a:r>
            <a:endParaRPr lang="en-US" sz="1200" dirty="0"/>
          </a:p>
        </p:txBody>
      </p:sp>
      <p:sp>
        <p:nvSpPr>
          <p:cNvPr id="25" name="Text 23"/>
          <p:cNvSpPr/>
          <p:nvPr/>
        </p:nvSpPr>
        <p:spPr>
          <a:xfrm>
            <a:off x="5751576" y="3236976"/>
            <a:ext cx="2231136" cy="640080"/>
          </a:xfrm>
          <a:prstGeom prst="rect">
            <a:avLst/>
          </a:prstGeom>
          <a:noFill/>
          <a:ln/>
        </p:spPr>
        <p:txBody>
          <a:bodyPr wrap="square" lIns="0" tIns="0" rIns="0" bIns="0" rtlCol="0" anchor="ctr"/>
          <a:lstStyle/>
          <a:p>
            <a:pPr indent="0" marL="0">
              <a:lnSpc>
                <a:spcPct val="102000"/>
              </a:lnSpc>
              <a:buNone/>
            </a:pPr>
            <a:r>
              <a:rPr lang="en-US" sz="1150" b="1" dirty="0">
                <a:solidFill>
                  <a:srgbClr val="333D29"/>
                </a:solidFill>
                <a:latin typeface="Calibri" pitchFamily="34" charset="0"/>
                <a:ea typeface="Calibri" pitchFamily="34" charset="-122"/>
                <a:cs typeface="Calibri" pitchFamily="34" charset="-120"/>
              </a:rPr>
              <a:t>Elysian &amp; multi-brand venture building</a:t>
            </a:r>
            <a:endParaRPr lang="en-US" sz="1150" dirty="0"/>
          </a:p>
        </p:txBody>
      </p:sp>
      <p:sp>
        <p:nvSpPr>
          <p:cNvPr id="26" name="Shape 24"/>
          <p:cNvSpPr/>
          <p:nvPr/>
        </p:nvSpPr>
        <p:spPr>
          <a:xfrm>
            <a:off x="8421624" y="3072384"/>
            <a:ext cx="3127248" cy="969264"/>
          </a:xfrm>
          <a:prstGeom prst="roundRect">
            <a:avLst>
              <a:gd name="adj" fmla="val 9434"/>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27" name="Shape 25"/>
          <p:cNvSpPr/>
          <p:nvPr/>
        </p:nvSpPr>
        <p:spPr>
          <a:xfrm>
            <a:off x="8641080" y="3383280"/>
            <a:ext cx="347472" cy="347472"/>
          </a:xfrm>
          <a:prstGeom prst="ellipse">
            <a:avLst/>
          </a:prstGeom>
          <a:solidFill>
            <a:srgbClr val="A68A64"/>
          </a:solidFill>
          <a:ln w="12700">
            <a:solidFill>
              <a:srgbClr val="A68A64"/>
            </a:solidFill>
            <a:prstDash val="solid"/>
          </a:ln>
        </p:spPr>
      </p:sp>
      <p:sp>
        <p:nvSpPr>
          <p:cNvPr id="28" name="Text 26"/>
          <p:cNvSpPr/>
          <p:nvPr/>
        </p:nvSpPr>
        <p:spPr>
          <a:xfrm>
            <a:off x="8641080" y="3383280"/>
            <a:ext cx="347472" cy="347472"/>
          </a:xfrm>
          <a:prstGeom prst="rect">
            <a:avLst/>
          </a:prstGeom>
          <a:noFill/>
          <a:ln/>
        </p:spPr>
        <p:txBody>
          <a:bodyPr wrap="square" lIns="0" tIns="0" rIns="0" bIns="0" rtlCol="0" anchor="ctr"/>
          <a:lstStyle/>
          <a:p>
            <a:pPr algn="ctr" indent="0" marL="0">
              <a:buNone/>
            </a:pPr>
            <a:r>
              <a:rPr lang="en-US" sz="1200" b="1" dirty="0">
                <a:solidFill>
                  <a:srgbClr val="333D29"/>
                </a:solidFill>
                <a:latin typeface="Calibri" pitchFamily="34" charset="0"/>
                <a:ea typeface="Calibri" pitchFamily="34" charset="-122"/>
                <a:cs typeface="Calibri" pitchFamily="34" charset="-120"/>
              </a:rPr>
              <a:t>D</a:t>
            </a:r>
            <a:endParaRPr lang="en-US" sz="1200" dirty="0"/>
          </a:p>
        </p:txBody>
      </p:sp>
      <p:sp>
        <p:nvSpPr>
          <p:cNvPr id="29" name="Text 27"/>
          <p:cNvSpPr/>
          <p:nvPr/>
        </p:nvSpPr>
        <p:spPr>
          <a:xfrm>
            <a:off x="9098280" y="3236976"/>
            <a:ext cx="2231136" cy="640080"/>
          </a:xfrm>
          <a:prstGeom prst="rect">
            <a:avLst/>
          </a:prstGeom>
          <a:noFill/>
          <a:ln/>
        </p:spPr>
        <p:txBody>
          <a:bodyPr wrap="square" lIns="0" tIns="0" rIns="0" bIns="0" rtlCol="0" anchor="ctr"/>
          <a:lstStyle/>
          <a:p>
            <a:pPr indent="0" marL="0">
              <a:lnSpc>
                <a:spcPct val="102000"/>
              </a:lnSpc>
              <a:buNone/>
            </a:pPr>
            <a:r>
              <a:rPr lang="en-US" sz="1150" dirty="0">
                <a:solidFill>
                  <a:srgbClr val="333D29"/>
                </a:solidFill>
                <a:latin typeface="Calibri" pitchFamily="34" charset="0"/>
                <a:ea typeface="Calibri" pitchFamily="34" charset="-122"/>
                <a:cs typeface="Calibri" pitchFamily="34" charset="-120"/>
              </a:rPr>
              <a:t>EdTech &amp; AI/chatbot prototypes</a:t>
            </a:r>
            <a:endParaRPr lang="en-US" sz="1150" dirty="0"/>
          </a:p>
        </p:txBody>
      </p:sp>
      <p:sp>
        <p:nvSpPr>
          <p:cNvPr id="30" name="Shape 28"/>
          <p:cNvSpPr/>
          <p:nvPr/>
        </p:nvSpPr>
        <p:spPr>
          <a:xfrm>
            <a:off x="5074920" y="4169664"/>
            <a:ext cx="3127248" cy="969264"/>
          </a:xfrm>
          <a:prstGeom prst="roundRect">
            <a:avLst>
              <a:gd name="adj" fmla="val 9434"/>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31" name="Shape 29"/>
          <p:cNvSpPr/>
          <p:nvPr/>
        </p:nvSpPr>
        <p:spPr>
          <a:xfrm>
            <a:off x="5294376" y="4480560"/>
            <a:ext cx="347472" cy="347472"/>
          </a:xfrm>
          <a:prstGeom prst="ellipse">
            <a:avLst/>
          </a:prstGeom>
          <a:solidFill>
            <a:srgbClr val="A68A64"/>
          </a:solidFill>
          <a:ln w="12700">
            <a:solidFill>
              <a:srgbClr val="A68A64"/>
            </a:solidFill>
            <a:prstDash val="solid"/>
          </a:ln>
        </p:spPr>
      </p:sp>
      <p:sp>
        <p:nvSpPr>
          <p:cNvPr id="32" name="Text 30"/>
          <p:cNvSpPr/>
          <p:nvPr/>
        </p:nvSpPr>
        <p:spPr>
          <a:xfrm>
            <a:off x="5294376" y="4480560"/>
            <a:ext cx="347472" cy="347472"/>
          </a:xfrm>
          <a:prstGeom prst="rect">
            <a:avLst/>
          </a:prstGeom>
          <a:noFill/>
          <a:ln/>
        </p:spPr>
        <p:txBody>
          <a:bodyPr wrap="square" lIns="0" tIns="0" rIns="0" bIns="0" rtlCol="0" anchor="ctr"/>
          <a:lstStyle/>
          <a:p>
            <a:pPr algn="ctr" indent="0" marL="0">
              <a:buNone/>
            </a:pPr>
            <a:r>
              <a:rPr lang="en-US" sz="1200" b="1" dirty="0">
                <a:solidFill>
                  <a:srgbClr val="333D29"/>
                </a:solidFill>
                <a:latin typeface="Calibri" pitchFamily="34" charset="0"/>
                <a:ea typeface="Calibri" pitchFamily="34" charset="-122"/>
                <a:cs typeface="Calibri" pitchFamily="34" charset="-120"/>
              </a:rPr>
              <a:t>E</a:t>
            </a:r>
            <a:endParaRPr lang="en-US" sz="1200" dirty="0"/>
          </a:p>
        </p:txBody>
      </p:sp>
      <p:sp>
        <p:nvSpPr>
          <p:cNvPr id="33" name="Text 31"/>
          <p:cNvSpPr/>
          <p:nvPr/>
        </p:nvSpPr>
        <p:spPr>
          <a:xfrm>
            <a:off x="5751576" y="4334256"/>
            <a:ext cx="2231136" cy="640080"/>
          </a:xfrm>
          <a:prstGeom prst="rect">
            <a:avLst/>
          </a:prstGeom>
          <a:noFill/>
          <a:ln/>
        </p:spPr>
        <p:txBody>
          <a:bodyPr wrap="square" lIns="0" tIns="0" rIns="0" bIns="0" rtlCol="0" anchor="ctr"/>
          <a:lstStyle/>
          <a:p>
            <a:pPr indent="0" marL="0">
              <a:lnSpc>
                <a:spcPct val="102000"/>
              </a:lnSpc>
              <a:buNone/>
            </a:pPr>
            <a:r>
              <a:rPr lang="en-US" sz="1150" dirty="0">
                <a:solidFill>
                  <a:srgbClr val="333D29"/>
                </a:solidFill>
                <a:latin typeface="Calibri" pitchFamily="34" charset="0"/>
                <a:ea typeface="Calibri" pitchFamily="34" charset="-122"/>
                <a:cs typeface="Calibri" pitchFamily="34" charset="-120"/>
              </a:rPr>
              <a:t>Hospitality, events &amp; real estate</a:t>
            </a:r>
            <a:endParaRPr lang="en-US" sz="1150" dirty="0"/>
          </a:p>
        </p:txBody>
      </p:sp>
      <p:sp>
        <p:nvSpPr>
          <p:cNvPr id="34" name="Shape 32"/>
          <p:cNvSpPr/>
          <p:nvPr/>
        </p:nvSpPr>
        <p:spPr>
          <a:xfrm>
            <a:off x="8421624" y="4169664"/>
            <a:ext cx="3127248" cy="969264"/>
          </a:xfrm>
          <a:prstGeom prst="roundRect">
            <a:avLst>
              <a:gd name="adj" fmla="val 9434"/>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35" name="Shape 33"/>
          <p:cNvSpPr/>
          <p:nvPr/>
        </p:nvSpPr>
        <p:spPr>
          <a:xfrm>
            <a:off x="8641080" y="4480560"/>
            <a:ext cx="347472" cy="347472"/>
          </a:xfrm>
          <a:prstGeom prst="ellipse">
            <a:avLst/>
          </a:prstGeom>
          <a:solidFill>
            <a:srgbClr val="A68A64"/>
          </a:solidFill>
          <a:ln w="12700">
            <a:solidFill>
              <a:srgbClr val="A68A64"/>
            </a:solidFill>
            <a:prstDash val="solid"/>
          </a:ln>
        </p:spPr>
      </p:sp>
      <p:sp>
        <p:nvSpPr>
          <p:cNvPr id="36" name="Text 34"/>
          <p:cNvSpPr/>
          <p:nvPr/>
        </p:nvSpPr>
        <p:spPr>
          <a:xfrm>
            <a:off x="8641080" y="4480560"/>
            <a:ext cx="347472" cy="347472"/>
          </a:xfrm>
          <a:prstGeom prst="rect">
            <a:avLst/>
          </a:prstGeom>
          <a:noFill/>
          <a:ln/>
        </p:spPr>
        <p:txBody>
          <a:bodyPr wrap="square" lIns="0" tIns="0" rIns="0" bIns="0" rtlCol="0" anchor="ctr"/>
          <a:lstStyle/>
          <a:p>
            <a:pPr algn="ctr" indent="0" marL="0">
              <a:buNone/>
            </a:pPr>
            <a:r>
              <a:rPr lang="en-US" sz="1200" b="1" dirty="0">
                <a:solidFill>
                  <a:srgbClr val="333D29"/>
                </a:solidFill>
                <a:latin typeface="Calibri" pitchFamily="34" charset="0"/>
                <a:ea typeface="Calibri" pitchFamily="34" charset="-122"/>
                <a:cs typeface="Calibri" pitchFamily="34" charset="-120"/>
              </a:rPr>
              <a:t>F</a:t>
            </a:r>
            <a:endParaRPr lang="en-US" sz="1200" dirty="0"/>
          </a:p>
        </p:txBody>
      </p:sp>
      <p:sp>
        <p:nvSpPr>
          <p:cNvPr id="37" name="Text 35"/>
          <p:cNvSpPr/>
          <p:nvPr/>
        </p:nvSpPr>
        <p:spPr>
          <a:xfrm>
            <a:off x="9098280" y="4334256"/>
            <a:ext cx="2231136" cy="640080"/>
          </a:xfrm>
          <a:prstGeom prst="rect">
            <a:avLst/>
          </a:prstGeom>
          <a:noFill/>
          <a:ln/>
        </p:spPr>
        <p:txBody>
          <a:bodyPr wrap="square" lIns="0" tIns="0" rIns="0" bIns="0" rtlCol="0" anchor="ctr"/>
          <a:lstStyle/>
          <a:p>
            <a:pPr indent="0" marL="0">
              <a:lnSpc>
                <a:spcPct val="102000"/>
              </a:lnSpc>
              <a:buNone/>
            </a:pPr>
            <a:r>
              <a:rPr lang="en-US" sz="1150" dirty="0">
                <a:solidFill>
                  <a:srgbClr val="333D29"/>
                </a:solidFill>
                <a:latin typeface="Calibri" pitchFamily="34" charset="0"/>
                <a:ea typeface="Calibri" pitchFamily="34" charset="-122"/>
                <a:cs typeface="Calibri" pitchFamily="34" charset="-120"/>
              </a:rPr>
              <a:t>Data, research &amp; reporting</a:t>
            </a:r>
            <a:endParaRPr lang="en-US" sz="1150" dirty="0"/>
          </a:p>
        </p:txBody>
      </p:sp>
      <p:sp>
        <p:nvSpPr>
          <p:cNvPr id="38" name="Shape 36"/>
          <p:cNvSpPr/>
          <p:nvPr/>
        </p:nvSpPr>
        <p:spPr>
          <a:xfrm>
            <a:off x="685800" y="5376672"/>
            <a:ext cx="10820095" cy="877824"/>
          </a:xfrm>
          <a:prstGeom prst="roundRect">
            <a:avLst>
              <a:gd name="adj" fmla="val 9375"/>
            </a:avLst>
          </a:prstGeom>
          <a:solidFill>
            <a:srgbClr val="333D29"/>
          </a:solidFill>
          <a:ln w="9525">
            <a:solidFill>
              <a:srgbClr val="333D29"/>
            </a:solidFill>
            <a:prstDash val="solid"/>
          </a:ln>
          <a:effectLst>
            <a:outerShdw sx="100000" sy="100000" kx="0" ky="0" algn="bl" rotWithShape="0" blurRad="177800" dist="38100" dir="5400000">
              <a:srgbClr val="1F2618">
                <a:alpha val="13000"/>
              </a:srgbClr>
            </a:outerShdw>
          </a:effectLst>
        </p:spPr>
      </p:sp>
      <p:sp>
        <p:nvSpPr>
          <p:cNvPr id="39" name="Text 37"/>
          <p:cNvSpPr/>
          <p:nvPr/>
        </p:nvSpPr>
        <p:spPr>
          <a:xfrm>
            <a:off x="1051560" y="5468112"/>
            <a:ext cx="10085832" cy="694944"/>
          </a:xfrm>
          <a:prstGeom prst="rect">
            <a:avLst/>
          </a:prstGeom>
          <a:noFill/>
          <a:ln/>
        </p:spPr>
        <p:txBody>
          <a:bodyPr wrap="square" lIns="0" tIns="0" rIns="0" bIns="0" rtlCol="0" anchor="ctr"/>
          <a:lstStyle/>
          <a:p>
            <a:pPr indent="0" marL="0">
              <a:lnSpc>
                <a:spcPct val="104000"/>
              </a:lnSpc>
              <a:buNone/>
            </a:pPr>
            <a:r>
              <a:rPr lang="en-US" sz="1200" dirty="0">
                <a:solidFill>
                  <a:srgbClr val="F5F0E2"/>
                </a:solidFill>
                <a:latin typeface="Calibri" pitchFamily="34" charset="0"/>
                <a:ea typeface="Calibri" pitchFamily="34" charset="-122"/>
                <a:cs typeface="Calibri" pitchFamily="34" charset="-120"/>
              </a:rPr>
              <a:t>Across the other areas I shipped SOPs, dashboards and trackers, AI-chatbot prototypes, market research and founder-level decision decks. Elysian is where most of my build work went — so that is what I'll show you.</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402336"/>
            <a:ext cx="10817352" cy="237744"/>
          </a:xfrm>
          <a:prstGeom prst="rect">
            <a:avLst/>
          </a:prstGeom>
          <a:noFill/>
          <a:ln/>
        </p:spPr>
        <p:txBody>
          <a:bodyPr wrap="square" lIns="0" tIns="0" rIns="0" bIns="0" rtlCol="0" anchor="ctr"/>
          <a:lstStyle/>
          <a:p>
            <a:pPr indent="0" marL="0">
              <a:buNone/>
            </a:pPr>
            <a:r>
              <a:rPr lang="en-US" sz="1050" b="1" spc="260" kern="0" dirty="0">
                <a:solidFill>
                  <a:srgbClr val="7F4F24"/>
                </a:solidFill>
                <a:latin typeface="Calibri" pitchFamily="34" charset="0"/>
                <a:ea typeface="Calibri" pitchFamily="34" charset="-122"/>
                <a:cs typeface="Calibri" pitchFamily="34" charset="-120"/>
              </a:rPr>
              <a:t>02 · THE PROBLEM</a:t>
            </a:r>
            <a:endParaRPr lang="en-US" sz="1050" dirty="0"/>
          </a:p>
        </p:txBody>
      </p:sp>
      <p:sp>
        <p:nvSpPr>
          <p:cNvPr id="3" name="Text 1"/>
          <p:cNvSpPr/>
          <p:nvPr/>
        </p:nvSpPr>
        <p:spPr>
          <a:xfrm>
            <a:off x="685800" y="713232"/>
            <a:ext cx="10607040" cy="932688"/>
          </a:xfrm>
          <a:prstGeom prst="rect">
            <a:avLst/>
          </a:prstGeom>
          <a:noFill/>
          <a:ln/>
        </p:spPr>
        <p:txBody>
          <a:bodyPr wrap="square" lIns="0" tIns="0" rIns="0" bIns="0" rtlCol="0" anchor="t"/>
          <a:lstStyle/>
          <a:p>
            <a:pPr indent="0" marL="0">
              <a:lnSpc>
                <a:spcPct val="102000"/>
              </a:lnSpc>
              <a:buNone/>
            </a:pPr>
            <a:r>
              <a:rPr lang="en-US" sz="2900" b="1" dirty="0">
                <a:solidFill>
                  <a:srgbClr val="333D29"/>
                </a:solidFill>
                <a:latin typeface="Cambria" pitchFamily="34" charset="0"/>
                <a:ea typeface="Cambria" pitchFamily="34" charset="-122"/>
                <a:cs typeface="Cambria" pitchFamily="34" charset="-120"/>
              </a:rPr>
              <a:t>A five-day celebration runs on</a:t>
            </a:r>
            <a:endParaRPr lang="en-US" sz="2900" dirty="0"/>
          </a:p>
          <a:p>
            <a:pPr indent="0" marL="0">
              <a:lnSpc>
                <a:spcPct val="102000"/>
              </a:lnSpc>
              <a:buNone/>
            </a:pPr>
            <a:r>
              <a:rPr lang="en-US" sz="2900" b="1" dirty="0">
                <a:solidFill>
                  <a:srgbClr val="333D29"/>
                </a:solidFill>
                <a:latin typeface="Cambria" pitchFamily="34" charset="0"/>
                <a:ea typeface="Cambria" pitchFamily="34" charset="-122"/>
                <a:cs typeface="Cambria" pitchFamily="34" charset="-120"/>
              </a:rPr>
              <a:t>spreadsheets, chats and memory.</a:t>
            </a:r>
            <a:endParaRPr lang="en-US" sz="2900" dirty="0"/>
          </a:p>
        </p:txBody>
      </p:sp>
      <p:sp>
        <p:nvSpPr>
          <p:cNvPr id="4" name="Shape 2"/>
          <p:cNvSpPr/>
          <p:nvPr/>
        </p:nvSpPr>
        <p:spPr>
          <a:xfrm>
            <a:off x="685800" y="2432304"/>
            <a:ext cx="329184" cy="329184"/>
          </a:xfrm>
          <a:prstGeom prst="ellipse">
            <a:avLst/>
          </a:prstGeom>
          <a:solidFill>
            <a:srgbClr val="7F4F24"/>
          </a:solidFill>
          <a:ln w="12700">
            <a:solidFill>
              <a:srgbClr val="7F4F24"/>
            </a:solidFill>
            <a:prstDash val="solid"/>
          </a:ln>
        </p:spPr>
      </p:sp>
      <p:sp>
        <p:nvSpPr>
          <p:cNvPr id="5" name="Text 3"/>
          <p:cNvSpPr/>
          <p:nvPr/>
        </p:nvSpPr>
        <p:spPr>
          <a:xfrm>
            <a:off x="685800" y="2432304"/>
            <a:ext cx="329184" cy="329184"/>
          </a:xfrm>
          <a:prstGeom prst="rect">
            <a:avLst/>
          </a:prstGeom>
          <a:noFill/>
          <a:ln/>
        </p:spPr>
        <p:txBody>
          <a:bodyPr wrap="square" lIns="0" tIns="0" rIns="0" bIns="0" rtlCol="0" anchor="ctr"/>
          <a:lstStyle/>
          <a:p>
            <a:pPr algn="ctr" indent="0" marL="0">
              <a:buNone/>
            </a:pPr>
            <a:r>
              <a:rPr lang="en-US" sz="1200" b="1" dirty="0">
                <a:solidFill>
                  <a:srgbClr val="F5F0E2"/>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170432" y="2395728"/>
            <a:ext cx="4206240" cy="274320"/>
          </a:xfrm>
          <a:prstGeom prst="rect">
            <a:avLst/>
          </a:prstGeom>
          <a:noFill/>
          <a:ln/>
        </p:spPr>
        <p:txBody>
          <a:bodyPr wrap="square" lIns="0" tIns="0" rIns="0" bIns="0" rtlCol="0" anchor="ctr"/>
          <a:lstStyle/>
          <a:p>
            <a:pPr indent="0" marL="0">
              <a:buNone/>
            </a:pPr>
            <a:r>
              <a:rPr lang="en-US" sz="1450" b="1" dirty="0">
                <a:solidFill>
                  <a:srgbClr val="333D29"/>
                </a:solidFill>
                <a:latin typeface="Calibri" pitchFamily="34" charset="0"/>
                <a:ea typeface="Calibri" pitchFamily="34" charset="-122"/>
                <a:cs typeface="Calibri" pitchFamily="34" charset="-120"/>
              </a:rPr>
              <a:t>Nothing is connected</a:t>
            </a:r>
            <a:endParaRPr lang="en-US" sz="1450" dirty="0"/>
          </a:p>
        </p:txBody>
      </p:sp>
      <p:sp>
        <p:nvSpPr>
          <p:cNvPr id="7" name="Text 5"/>
          <p:cNvSpPr/>
          <p:nvPr/>
        </p:nvSpPr>
        <p:spPr>
          <a:xfrm>
            <a:off x="1170432" y="2706624"/>
            <a:ext cx="4261104" cy="731520"/>
          </a:xfrm>
          <a:prstGeom prst="rect">
            <a:avLst/>
          </a:prstGeom>
          <a:noFill/>
          <a:ln/>
        </p:spPr>
        <p:txBody>
          <a:bodyPr wrap="square" lIns="0" tIns="0" rIns="0" bIns="0" rtlCol="0" anchor="ctr"/>
          <a:lstStyle/>
          <a:p>
            <a:pPr indent="0" marL="0">
              <a:lnSpc>
                <a:spcPct val="106000"/>
              </a:lnSpc>
              <a:buNone/>
            </a:pPr>
            <a:r>
              <a:rPr lang="en-US" sz="1150" dirty="0">
                <a:solidFill>
                  <a:srgbClr val="656D4A"/>
                </a:solidFill>
                <a:latin typeface="Calibri" pitchFamily="34" charset="0"/>
                <a:ea typeface="Calibri" pitchFamily="34" charset="-122"/>
                <a:cs typeface="Calibri" pitchFamily="34" charset="-120"/>
              </a:rPr>
              <a:t>Guest count in a sheet, menu in a chat, budget in someone's head. Change one and the rest go stale.</a:t>
            </a:r>
            <a:endParaRPr lang="en-US" sz="1150" dirty="0"/>
          </a:p>
        </p:txBody>
      </p:sp>
      <p:sp>
        <p:nvSpPr>
          <p:cNvPr id="8" name="Shape 6"/>
          <p:cNvSpPr/>
          <p:nvPr/>
        </p:nvSpPr>
        <p:spPr>
          <a:xfrm>
            <a:off x="685800" y="3675888"/>
            <a:ext cx="329184" cy="329184"/>
          </a:xfrm>
          <a:prstGeom prst="ellipse">
            <a:avLst/>
          </a:prstGeom>
          <a:solidFill>
            <a:srgbClr val="7F4F24"/>
          </a:solidFill>
          <a:ln w="12700">
            <a:solidFill>
              <a:srgbClr val="7F4F24"/>
            </a:solidFill>
            <a:prstDash val="solid"/>
          </a:ln>
        </p:spPr>
      </p:sp>
      <p:sp>
        <p:nvSpPr>
          <p:cNvPr id="9" name="Text 7"/>
          <p:cNvSpPr/>
          <p:nvPr/>
        </p:nvSpPr>
        <p:spPr>
          <a:xfrm>
            <a:off x="685800" y="3675888"/>
            <a:ext cx="329184" cy="329184"/>
          </a:xfrm>
          <a:prstGeom prst="rect">
            <a:avLst/>
          </a:prstGeom>
          <a:noFill/>
          <a:ln/>
        </p:spPr>
        <p:txBody>
          <a:bodyPr wrap="square" lIns="0" tIns="0" rIns="0" bIns="0" rtlCol="0" anchor="ctr"/>
          <a:lstStyle/>
          <a:p>
            <a:pPr algn="ctr" indent="0" marL="0">
              <a:buNone/>
            </a:pPr>
            <a:r>
              <a:rPr lang="en-US" sz="1200" b="1" dirty="0">
                <a:solidFill>
                  <a:srgbClr val="F5F0E2"/>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170432" y="3639312"/>
            <a:ext cx="4206240" cy="274320"/>
          </a:xfrm>
          <a:prstGeom prst="rect">
            <a:avLst/>
          </a:prstGeom>
          <a:noFill/>
          <a:ln/>
        </p:spPr>
        <p:txBody>
          <a:bodyPr wrap="square" lIns="0" tIns="0" rIns="0" bIns="0" rtlCol="0" anchor="ctr"/>
          <a:lstStyle/>
          <a:p>
            <a:pPr indent="0" marL="0">
              <a:buNone/>
            </a:pPr>
            <a:r>
              <a:rPr lang="en-US" sz="1450" b="1" dirty="0">
                <a:solidFill>
                  <a:srgbClr val="333D29"/>
                </a:solidFill>
                <a:latin typeface="Calibri" pitchFamily="34" charset="0"/>
                <a:ea typeface="Calibri" pitchFamily="34" charset="-122"/>
                <a:cs typeface="Calibri" pitchFamily="34" charset="-120"/>
              </a:rPr>
              <a:t>Everything is free text</a:t>
            </a:r>
            <a:endParaRPr lang="en-US" sz="1450" dirty="0"/>
          </a:p>
        </p:txBody>
      </p:sp>
      <p:sp>
        <p:nvSpPr>
          <p:cNvPr id="11" name="Text 9"/>
          <p:cNvSpPr/>
          <p:nvPr/>
        </p:nvSpPr>
        <p:spPr>
          <a:xfrm>
            <a:off x="1170432" y="3950208"/>
            <a:ext cx="4261104" cy="731520"/>
          </a:xfrm>
          <a:prstGeom prst="rect">
            <a:avLst/>
          </a:prstGeom>
          <a:noFill/>
          <a:ln/>
        </p:spPr>
        <p:txBody>
          <a:bodyPr wrap="square" lIns="0" tIns="0" rIns="0" bIns="0" rtlCol="0" anchor="ctr"/>
          <a:lstStyle/>
          <a:p>
            <a:pPr indent="0" marL="0">
              <a:lnSpc>
                <a:spcPct val="106000"/>
              </a:lnSpc>
              <a:buNone/>
            </a:pPr>
            <a:r>
              <a:rPr lang="en-US" sz="1150" dirty="0">
                <a:solidFill>
                  <a:srgbClr val="656D4A"/>
                </a:solidFill>
                <a:latin typeface="Calibri" pitchFamily="34" charset="0"/>
                <a:ea typeface="Calibri" pitchFamily="34" charset="-122"/>
                <a:cs typeface="Calibri" pitchFamily="34" charset="-120"/>
              </a:rPr>
              <a:t>Vendors are typed, not chosen — so no system can price, book or report on them.</a:t>
            </a:r>
            <a:endParaRPr lang="en-US" sz="1150" dirty="0"/>
          </a:p>
        </p:txBody>
      </p:sp>
      <p:sp>
        <p:nvSpPr>
          <p:cNvPr id="12" name="Shape 10"/>
          <p:cNvSpPr/>
          <p:nvPr/>
        </p:nvSpPr>
        <p:spPr>
          <a:xfrm>
            <a:off x="685800" y="4919472"/>
            <a:ext cx="329184" cy="329184"/>
          </a:xfrm>
          <a:prstGeom prst="ellipse">
            <a:avLst/>
          </a:prstGeom>
          <a:solidFill>
            <a:srgbClr val="7F4F24"/>
          </a:solidFill>
          <a:ln w="12700">
            <a:solidFill>
              <a:srgbClr val="7F4F24"/>
            </a:solidFill>
            <a:prstDash val="solid"/>
          </a:ln>
        </p:spPr>
      </p:sp>
      <p:sp>
        <p:nvSpPr>
          <p:cNvPr id="13" name="Text 11"/>
          <p:cNvSpPr/>
          <p:nvPr/>
        </p:nvSpPr>
        <p:spPr>
          <a:xfrm>
            <a:off x="685800" y="4919472"/>
            <a:ext cx="329184" cy="329184"/>
          </a:xfrm>
          <a:prstGeom prst="rect">
            <a:avLst/>
          </a:prstGeom>
          <a:noFill/>
          <a:ln/>
        </p:spPr>
        <p:txBody>
          <a:bodyPr wrap="square" lIns="0" tIns="0" rIns="0" bIns="0" rtlCol="0" anchor="ctr"/>
          <a:lstStyle/>
          <a:p>
            <a:pPr algn="ctr" indent="0" marL="0">
              <a:buNone/>
            </a:pPr>
            <a:r>
              <a:rPr lang="en-US" sz="1200" b="1" dirty="0">
                <a:solidFill>
                  <a:srgbClr val="F5F0E2"/>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170432" y="4882896"/>
            <a:ext cx="4206240" cy="274320"/>
          </a:xfrm>
          <a:prstGeom prst="rect">
            <a:avLst/>
          </a:prstGeom>
          <a:noFill/>
          <a:ln/>
        </p:spPr>
        <p:txBody>
          <a:bodyPr wrap="square" lIns="0" tIns="0" rIns="0" bIns="0" rtlCol="0" anchor="ctr"/>
          <a:lstStyle/>
          <a:p>
            <a:pPr indent="0" marL="0">
              <a:buNone/>
            </a:pPr>
            <a:r>
              <a:rPr lang="en-US" sz="1450" b="1" dirty="0">
                <a:solidFill>
                  <a:srgbClr val="333D29"/>
                </a:solidFill>
                <a:latin typeface="Calibri" pitchFamily="34" charset="0"/>
                <a:ea typeface="Calibri" pitchFamily="34" charset="-122"/>
                <a:cs typeface="Calibri" pitchFamily="34" charset="-120"/>
              </a:rPr>
              <a:t>No one can see readiness</a:t>
            </a:r>
            <a:endParaRPr lang="en-US" sz="1450" dirty="0"/>
          </a:p>
        </p:txBody>
      </p:sp>
      <p:sp>
        <p:nvSpPr>
          <p:cNvPr id="15" name="Text 13"/>
          <p:cNvSpPr/>
          <p:nvPr/>
        </p:nvSpPr>
        <p:spPr>
          <a:xfrm>
            <a:off x="1170432" y="5193792"/>
            <a:ext cx="4261104" cy="731520"/>
          </a:xfrm>
          <a:prstGeom prst="rect">
            <a:avLst/>
          </a:prstGeom>
          <a:noFill/>
          <a:ln/>
        </p:spPr>
        <p:txBody>
          <a:bodyPr wrap="square" lIns="0" tIns="0" rIns="0" bIns="0" rtlCol="0" anchor="ctr"/>
          <a:lstStyle/>
          <a:p>
            <a:pPr indent="0" marL="0">
              <a:lnSpc>
                <a:spcPct val="106000"/>
              </a:lnSpc>
              <a:buNone/>
            </a:pPr>
            <a:r>
              <a:rPr lang="en-US" sz="1150" dirty="0">
                <a:solidFill>
                  <a:srgbClr val="656D4A"/>
                </a:solidFill>
                <a:latin typeface="Calibri" pitchFamily="34" charset="0"/>
                <a:ea typeface="Calibri" pitchFamily="34" charset="-122"/>
                <a:cs typeface="Calibri" pitchFamily="34" charset="-120"/>
              </a:rPr>
              <a:t>“Are we ready for Day 3?” has no answer short of calling six people.</a:t>
            </a:r>
            <a:endParaRPr lang="en-US" sz="1150" dirty="0"/>
          </a:p>
        </p:txBody>
      </p:sp>
      <p:pic>
        <p:nvPicPr>
          <p:cNvPr id="16" name="Image 0" descr="/tmp/claude-0/-home-user-Elysian-Celebrations/b352a563-fe1e-5748-a5d2-f04c5510bd2a/scratchpad/deck/assets/motif-fragments.png">    </p:cNvPr>
          <p:cNvPicPr>
            <a:picLocks noChangeAspect="1"/>
          </p:cNvPicPr>
          <p:nvPr/>
        </p:nvPicPr>
        <p:blipFill>
          <a:blip r:embed="rId2"/>
          <a:stretch>
            <a:fillRect/>
          </a:stretch>
        </p:blipFill>
        <p:spPr>
          <a:xfrm>
            <a:off x="6108192" y="2286000"/>
            <a:ext cx="5394960" cy="2697480"/>
          </a:xfrm>
          <a:prstGeom prst="rect">
            <a:avLst/>
          </a:prstGeom>
        </p:spPr>
      </p:pic>
      <p:sp>
        <p:nvSpPr>
          <p:cNvPr id="17" name="Shape 14"/>
          <p:cNvSpPr/>
          <p:nvPr/>
        </p:nvSpPr>
        <p:spPr>
          <a:xfrm>
            <a:off x="6108192" y="5230368"/>
            <a:ext cx="5394960" cy="859536"/>
          </a:xfrm>
          <a:prstGeom prst="roundRect">
            <a:avLst>
              <a:gd name="adj" fmla="val 10638"/>
            </a:avLst>
          </a:prstGeom>
          <a:solidFill>
            <a:srgbClr val="EBE3CE"/>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18" name="Text 15"/>
          <p:cNvSpPr/>
          <p:nvPr/>
        </p:nvSpPr>
        <p:spPr>
          <a:xfrm>
            <a:off x="6382512" y="5303520"/>
            <a:ext cx="4846320" cy="713232"/>
          </a:xfrm>
          <a:prstGeom prst="rect">
            <a:avLst/>
          </a:prstGeom>
          <a:noFill/>
          <a:ln/>
        </p:spPr>
        <p:txBody>
          <a:bodyPr wrap="square" lIns="0" tIns="0" rIns="0" bIns="0" rtlCol="0" anchor="ctr"/>
          <a:lstStyle/>
          <a:p>
            <a:pPr indent="0" marL="0">
              <a:buNone/>
            </a:pPr>
            <a:r>
              <a:rPr lang="en-US" sz="1200" i="1" dirty="0">
                <a:solidFill>
                  <a:srgbClr val="333D29"/>
                </a:solidFill>
                <a:latin typeface="Calibri" pitchFamily="34" charset="0"/>
                <a:ea typeface="Calibri" pitchFamily="34" charset="-122"/>
                <a:cs typeface="Calibri" pitchFamily="34" charset="-120"/>
              </a:rPr>
              <a:t>Six tools that never speak to each other — and one client expected to be the integration layer.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402336"/>
            <a:ext cx="10817352" cy="237744"/>
          </a:xfrm>
          <a:prstGeom prst="rect">
            <a:avLst/>
          </a:prstGeom>
          <a:noFill/>
          <a:ln/>
        </p:spPr>
        <p:txBody>
          <a:bodyPr wrap="square" lIns="0" tIns="0" rIns="0" bIns="0" rtlCol="0" anchor="ctr"/>
          <a:lstStyle/>
          <a:p>
            <a:pPr indent="0" marL="0">
              <a:buNone/>
            </a:pPr>
            <a:r>
              <a:rPr lang="en-US" sz="1050" b="1" spc="260" kern="0" dirty="0">
                <a:solidFill>
                  <a:srgbClr val="7F4F24"/>
                </a:solidFill>
                <a:latin typeface="Calibri" pitchFamily="34" charset="0"/>
                <a:ea typeface="Calibri" pitchFamily="34" charset="-122"/>
                <a:cs typeface="Calibri" pitchFamily="34" charset="-120"/>
              </a:rPr>
              <a:t>03 · WHAT I BUILT</a:t>
            </a:r>
            <a:endParaRPr lang="en-US" sz="1050" dirty="0"/>
          </a:p>
        </p:txBody>
      </p:sp>
      <p:sp>
        <p:nvSpPr>
          <p:cNvPr id="3" name="Text 1"/>
          <p:cNvSpPr/>
          <p:nvPr/>
        </p:nvSpPr>
        <p:spPr>
          <a:xfrm>
            <a:off x="685800" y="713232"/>
            <a:ext cx="10607040" cy="932688"/>
          </a:xfrm>
          <a:prstGeom prst="rect">
            <a:avLst/>
          </a:prstGeom>
          <a:noFill/>
          <a:ln/>
        </p:spPr>
        <p:txBody>
          <a:bodyPr wrap="square" lIns="0" tIns="0" rIns="0" bIns="0" rtlCol="0" anchor="t"/>
          <a:lstStyle/>
          <a:p>
            <a:pPr indent="0" marL="0">
              <a:lnSpc>
                <a:spcPct val="102000"/>
              </a:lnSpc>
              <a:buNone/>
            </a:pPr>
            <a:r>
              <a:rPr lang="en-US" sz="2900" b="1" dirty="0">
                <a:solidFill>
                  <a:srgbClr val="333D29"/>
                </a:solidFill>
                <a:latin typeface="Cambria" pitchFamily="34" charset="0"/>
                <a:ea typeface="Cambria" pitchFamily="34" charset="-122"/>
                <a:cs typeface="Cambria" pitchFamily="34" charset="-120"/>
              </a:rPr>
              <a:t>Define the event, map every function, prove it's ready.</a:t>
            </a:r>
            <a:endParaRPr lang="en-US" sz="2900" dirty="0"/>
          </a:p>
        </p:txBody>
      </p:sp>
      <p:sp>
        <p:nvSpPr>
          <p:cNvPr id="4" name="Shape 2"/>
          <p:cNvSpPr/>
          <p:nvPr/>
        </p:nvSpPr>
        <p:spPr>
          <a:xfrm>
            <a:off x="685800" y="2011680"/>
            <a:ext cx="3332074" cy="2231136"/>
          </a:xfrm>
          <a:prstGeom prst="roundRect">
            <a:avLst>
              <a:gd name="adj" fmla="val 4098"/>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5" name="Shape 3"/>
          <p:cNvSpPr/>
          <p:nvPr/>
        </p:nvSpPr>
        <p:spPr>
          <a:xfrm>
            <a:off x="960120" y="2249424"/>
            <a:ext cx="402336" cy="402336"/>
          </a:xfrm>
          <a:prstGeom prst="ellipse">
            <a:avLst/>
          </a:prstGeom>
          <a:solidFill>
            <a:srgbClr val="A4AC86"/>
          </a:solidFill>
          <a:ln w="12700">
            <a:solidFill>
              <a:srgbClr val="A4AC86"/>
            </a:solidFill>
            <a:prstDash val="solid"/>
          </a:ln>
        </p:spPr>
      </p:sp>
      <p:sp>
        <p:nvSpPr>
          <p:cNvPr id="6" name="Text 4"/>
          <p:cNvSpPr/>
          <p:nvPr/>
        </p:nvSpPr>
        <p:spPr>
          <a:xfrm>
            <a:off x="960120" y="2249424"/>
            <a:ext cx="402336" cy="402336"/>
          </a:xfrm>
          <a:prstGeom prst="rect">
            <a:avLst/>
          </a:prstGeom>
          <a:noFill/>
          <a:ln/>
        </p:spPr>
        <p:txBody>
          <a:bodyPr wrap="square" lIns="0" tIns="0" rIns="0" bIns="0" rtlCol="0" anchor="ctr"/>
          <a:lstStyle/>
          <a:p>
            <a:pPr algn="ctr" indent="0" marL="0">
              <a:buNone/>
            </a:pPr>
            <a:r>
              <a:rPr lang="en-US" sz="1300" b="1" dirty="0">
                <a:solidFill>
                  <a:srgbClr val="333D29"/>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490472" y="2286000"/>
            <a:ext cx="2253082" cy="329184"/>
          </a:xfrm>
          <a:prstGeom prst="rect">
            <a:avLst/>
          </a:prstGeom>
          <a:noFill/>
          <a:ln/>
        </p:spPr>
        <p:txBody>
          <a:bodyPr wrap="square" lIns="0" tIns="0" rIns="0" bIns="0" rtlCol="0" anchor="ctr"/>
          <a:lstStyle/>
          <a:p>
            <a:pPr indent="0" marL="0">
              <a:buNone/>
            </a:pPr>
            <a:r>
              <a:rPr lang="en-US" sz="1300" b="1" spc="220" kern="0" dirty="0">
                <a:solidFill>
                  <a:srgbClr val="7F4F24"/>
                </a:solidFill>
                <a:latin typeface="Calibri" pitchFamily="34" charset="0"/>
                <a:ea typeface="Calibri" pitchFamily="34" charset="-122"/>
                <a:cs typeface="Calibri" pitchFamily="34" charset="-120"/>
              </a:rPr>
              <a:t>DEFINE</a:t>
            </a:r>
            <a:endParaRPr lang="en-US" sz="1300" dirty="0"/>
          </a:p>
        </p:txBody>
      </p:sp>
      <p:sp>
        <p:nvSpPr>
          <p:cNvPr id="8" name="Text 6"/>
          <p:cNvSpPr/>
          <p:nvPr/>
        </p:nvSpPr>
        <p:spPr>
          <a:xfrm>
            <a:off x="960120" y="2816352"/>
            <a:ext cx="2783434" cy="1188720"/>
          </a:xfrm>
          <a:prstGeom prst="rect">
            <a:avLst/>
          </a:prstGeom>
          <a:noFill/>
          <a:ln/>
        </p:spPr>
        <p:txBody>
          <a:bodyPr wrap="square" lIns="0" tIns="0" rIns="0" bIns="0" rtlCol="0" anchor="ctr"/>
          <a:lstStyle/>
          <a:p>
            <a:pPr indent="0" marL="0">
              <a:lnSpc>
                <a:spcPct val="106000"/>
              </a:lnSpc>
              <a:buNone/>
            </a:pPr>
            <a:r>
              <a:rPr lang="en-US" sz="1200" dirty="0">
                <a:solidFill>
                  <a:srgbClr val="333D29"/>
                </a:solidFill>
                <a:latin typeface="Calibri" pitchFamily="34" charset="0"/>
                <a:ea typeface="Calibri" pitchFamily="34" charset="-122"/>
                <a:cs typeface="Calibri" pitchFamily="34" charset="-120"/>
              </a:rPr>
              <a:t>Event type, days, time blocks and needs — chosen, not typed.</a:t>
            </a:r>
            <a:endParaRPr lang="en-US" sz="1200" dirty="0"/>
          </a:p>
        </p:txBody>
      </p:sp>
      <p:sp>
        <p:nvSpPr>
          <p:cNvPr id="9" name="Shape 7"/>
          <p:cNvSpPr/>
          <p:nvPr/>
        </p:nvSpPr>
        <p:spPr>
          <a:xfrm rot="5400000">
            <a:off x="4136746" y="3017520"/>
            <a:ext cx="182880" cy="219456"/>
          </a:xfrm>
          <a:prstGeom prst="triangle">
            <a:avLst/>
          </a:prstGeom>
          <a:solidFill>
            <a:srgbClr val="A68A64"/>
          </a:solidFill>
          <a:ln w="12700">
            <a:solidFill>
              <a:srgbClr val="A68A64"/>
            </a:solidFill>
            <a:prstDash val="solid"/>
          </a:ln>
        </p:spPr>
      </p:sp>
      <p:sp>
        <p:nvSpPr>
          <p:cNvPr id="10" name="Shape 8"/>
          <p:cNvSpPr/>
          <p:nvPr/>
        </p:nvSpPr>
        <p:spPr>
          <a:xfrm>
            <a:off x="4429354" y="2011680"/>
            <a:ext cx="3332074" cy="2231136"/>
          </a:xfrm>
          <a:prstGeom prst="roundRect">
            <a:avLst>
              <a:gd name="adj" fmla="val 4098"/>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11" name="Shape 9"/>
          <p:cNvSpPr/>
          <p:nvPr/>
        </p:nvSpPr>
        <p:spPr>
          <a:xfrm>
            <a:off x="4703674" y="2249424"/>
            <a:ext cx="402336" cy="402336"/>
          </a:xfrm>
          <a:prstGeom prst="ellipse">
            <a:avLst/>
          </a:prstGeom>
          <a:solidFill>
            <a:srgbClr val="A68A64"/>
          </a:solidFill>
          <a:ln w="12700">
            <a:solidFill>
              <a:srgbClr val="A68A64"/>
            </a:solidFill>
            <a:prstDash val="solid"/>
          </a:ln>
        </p:spPr>
      </p:sp>
      <p:sp>
        <p:nvSpPr>
          <p:cNvPr id="12" name="Text 10"/>
          <p:cNvSpPr/>
          <p:nvPr/>
        </p:nvSpPr>
        <p:spPr>
          <a:xfrm>
            <a:off x="4703674" y="2249424"/>
            <a:ext cx="402336" cy="402336"/>
          </a:xfrm>
          <a:prstGeom prst="rect">
            <a:avLst/>
          </a:prstGeom>
          <a:noFill/>
          <a:ln/>
        </p:spPr>
        <p:txBody>
          <a:bodyPr wrap="square" lIns="0" tIns="0" rIns="0" bIns="0" rtlCol="0" anchor="ctr"/>
          <a:lstStyle/>
          <a:p>
            <a:pPr algn="ctr" indent="0" marL="0">
              <a:buNone/>
            </a:pPr>
            <a:r>
              <a:rPr lang="en-US" sz="1300" b="1" dirty="0">
                <a:solidFill>
                  <a:srgbClr val="333D29"/>
                </a:solidFill>
                <a:latin typeface="Calibri" pitchFamily="34" charset="0"/>
                <a:ea typeface="Calibri" pitchFamily="34" charset="-122"/>
                <a:cs typeface="Calibri" pitchFamily="34" charset="-120"/>
              </a:rPr>
              <a:t>02</a:t>
            </a:r>
            <a:endParaRPr lang="en-US" sz="1300" dirty="0"/>
          </a:p>
        </p:txBody>
      </p:sp>
      <p:sp>
        <p:nvSpPr>
          <p:cNvPr id="13" name="Text 11"/>
          <p:cNvSpPr/>
          <p:nvPr/>
        </p:nvSpPr>
        <p:spPr>
          <a:xfrm>
            <a:off x="5234026" y="2286000"/>
            <a:ext cx="2253082" cy="329184"/>
          </a:xfrm>
          <a:prstGeom prst="rect">
            <a:avLst/>
          </a:prstGeom>
          <a:noFill/>
          <a:ln/>
        </p:spPr>
        <p:txBody>
          <a:bodyPr wrap="square" lIns="0" tIns="0" rIns="0" bIns="0" rtlCol="0" anchor="ctr"/>
          <a:lstStyle/>
          <a:p>
            <a:pPr indent="0" marL="0">
              <a:buNone/>
            </a:pPr>
            <a:r>
              <a:rPr lang="en-US" sz="1300" b="1" spc="220" kern="0" dirty="0">
                <a:solidFill>
                  <a:srgbClr val="7F4F24"/>
                </a:solidFill>
                <a:latin typeface="Calibri" pitchFamily="34" charset="0"/>
                <a:ea typeface="Calibri" pitchFamily="34" charset="-122"/>
                <a:cs typeface="Calibri" pitchFamily="34" charset="-120"/>
              </a:rPr>
              <a:t>MAP</a:t>
            </a:r>
            <a:endParaRPr lang="en-US" sz="1300" dirty="0"/>
          </a:p>
        </p:txBody>
      </p:sp>
      <p:sp>
        <p:nvSpPr>
          <p:cNvPr id="14" name="Text 12"/>
          <p:cNvSpPr/>
          <p:nvPr/>
        </p:nvSpPr>
        <p:spPr>
          <a:xfrm>
            <a:off x="4703674" y="2816352"/>
            <a:ext cx="2783434" cy="1188720"/>
          </a:xfrm>
          <a:prstGeom prst="rect">
            <a:avLst/>
          </a:prstGeom>
          <a:noFill/>
          <a:ln/>
        </p:spPr>
        <p:txBody>
          <a:bodyPr wrap="square" lIns="0" tIns="0" rIns="0" bIns="0" rtlCol="0" anchor="ctr"/>
          <a:lstStyle/>
          <a:p>
            <a:pPr indent="0" marL="0">
              <a:lnSpc>
                <a:spcPct val="106000"/>
              </a:lnSpc>
              <a:buNone/>
            </a:pPr>
            <a:r>
              <a:rPr lang="en-US" sz="1200" dirty="0">
                <a:solidFill>
                  <a:srgbClr val="333D29"/>
                </a:solidFill>
                <a:latin typeface="Calibri" pitchFamily="34" charset="0"/>
                <a:ea typeface="Calibri" pitchFamily="34" charset="-122"/>
                <a:cs typeface="Calibri" pitchFamily="34" charset="-120"/>
              </a:rPr>
              <a:t>A visual flow map: event hub → days → functions → steps, with venue and vendor pickers inside each need.</a:t>
            </a:r>
            <a:endParaRPr lang="en-US" sz="1200" dirty="0"/>
          </a:p>
        </p:txBody>
      </p:sp>
      <p:sp>
        <p:nvSpPr>
          <p:cNvPr id="15" name="Shape 13"/>
          <p:cNvSpPr/>
          <p:nvPr/>
        </p:nvSpPr>
        <p:spPr>
          <a:xfrm rot="5400000">
            <a:off x="7880299" y="3017520"/>
            <a:ext cx="182880" cy="219456"/>
          </a:xfrm>
          <a:prstGeom prst="triangle">
            <a:avLst/>
          </a:prstGeom>
          <a:solidFill>
            <a:srgbClr val="A68A64"/>
          </a:solidFill>
          <a:ln w="12700">
            <a:solidFill>
              <a:srgbClr val="A68A64"/>
            </a:solidFill>
            <a:prstDash val="solid"/>
          </a:ln>
        </p:spPr>
      </p:sp>
      <p:sp>
        <p:nvSpPr>
          <p:cNvPr id="16" name="Shape 14"/>
          <p:cNvSpPr/>
          <p:nvPr/>
        </p:nvSpPr>
        <p:spPr>
          <a:xfrm>
            <a:off x="8172907" y="2011680"/>
            <a:ext cx="3332074" cy="2231136"/>
          </a:xfrm>
          <a:prstGeom prst="roundRect">
            <a:avLst>
              <a:gd name="adj" fmla="val 4098"/>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17" name="Shape 15"/>
          <p:cNvSpPr/>
          <p:nvPr/>
        </p:nvSpPr>
        <p:spPr>
          <a:xfrm>
            <a:off x="8447227" y="2249424"/>
            <a:ext cx="402336" cy="402336"/>
          </a:xfrm>
          <a:prstGeom prst="ellipse">
            <a:avLst/>
          </a:prstGeom>
          <a:solidFill>
            <a:srgbClr val="7F4F24"/>
          </a:solidFill>
          <a:ln w="12700">
            <a:solidFill>
              <a:srgbClr val="7F4F24"/>
            </a:solidFill>
            <a:prstDash val="solid"/>
          </a:ln>
        </p:spPr>
      </p:sp>
      <p:sp>
        <p:nvSpPr>
          <p:cNvPr id="18" name="Text 16"/>
          <p:cNvSpPr/>
          <p:nvPr/>
        </p:nvSpPr>
        <p:spPr>
          <a:xfrm>
            <a:off x="8447227" y="2249424"/>
            <a:ext cx="402336" cy="402336"/>
          </a:xfrm>
          <a:prstGeom prst="rect">
            <a:avLst/>
          </a:prstGeom>
          <a:noFill/>
          <a:ln/>
        </p:spPr>
        <p:txBody>
          <a:bodyPr wrap="square" lIns="0" tIns="0" rIns="0" bIns="0" rtlCol="0" anchor="ctr"/>
          <a:lstStyle/>
          <a:p>
            <a:pPr algn="ctr" indent="0" marL="0">
              <a:buNone/>
            </a:pPr>
            <a:r>
              <a:rPr lang="en-US" sz="1300" b="1" dirty="0">
                <a:solidFill>
                  <a:srgbClr val="F5F0E2"/>
                </a:solidFill>
                <a:latin typeface="Calibri" pitchFamily="34" charset="0"/>
                <a:ea typeface="Calibri" pitchFamily="34" charset="-122"/>
                <a:cs typeface="Calibri" pitchFamily="34" charset="-120"/>
              </a:rPr>
              <a:t>03</a:t>
            </a:r>
            <a:endParaRPr lang="en-US" sz="1300" dirty="0"/>
          </a:p>
        </p:txBody>
      </p:sp>
      <p:sp>
        <p:nvSpPr>
          <p:cNvPr id="19" name="Text 17"/>
          <p:cNvSpPr/>
          <p:nvPr/>
        </p:nvSpPr>
        <p:spPr>
          <a:xfrm>
            <a:off x="8977579" y="2286000"/>
            <a:ext cx="2253082" cy="329184"/>
          </a:xfrm>
          <a:prstGeom prst="rect">
            <a:avLst/>
          </a:prstGeom>
          <a:noFill/>
          <a:ln/>
        </p:spPr>
        <p:txBody>
          <a:bodyPr wrap="square" lIns="0" tIns="0" rIns="0" bIns="0" rtlCol="0" anchor="ctr"/>
          <a:lstStyle/>
          <a:p>
            <a:pPr indent="0" marL="0">
              <a:buNone/>
            </a:pPr>
            <a:r>
              <a:rPr lang="en-US" sz="1300" b="1" spc="220" kern="0" dirty="0">
                <a:solidFill>
                  <a:srgbClr val="7F4F24"/>
                </a:solidFill>
                <a:latin typeface="Calibri" pitchFamily="34" charset="0"/>
                <a:ea typeface="Calibri" pitchFamily="34" charset="-122"/>
                <a:cs typeface="Calibri" pitchFamily="34" charset="-120"/>
              </a:rPr>
              <a:t>FINALIZE</a:t>
            </a:r>
            <a:endParaRPr lang="en-US" sz="1300" dirty="0"/>
          </a:p>
        </p:txBody>
      </p:sp>
      <p:sp>
        <p:nvSpPr>
          <p:cNvPr id="20" name="Text 18"/>
          <p:cNvSpPr/>
          <p:nvPr/>
        </p:nvSpPr>
        <p:spPr>
          <a:xfrm>
            <a:off x="8447227" y="2816352"/>
            <a:ext cx="2783434" cy="1188720"/>
          </a:xfrm>
          <a:prstGeom prst="rect">
            <a:avLst/>
          </a:prstGeom>
          <a:noFill/>
          <a:ln/>
        </p:spPr>
        <p:txBody>
          <a:bodyPr wrap="square" lIns="0" tIns="0" rIns="0" bIns="0" rtlCol="0" anchor="ctr"/>
          <a:lstStyle/>
          <a:p>
            <a:pPr indent="0" marL="0">
              <a:lnSpc>
                <a:spcPct val="106000"/>
              </a:lnSpc>
              <a:buNone/>
            </a:pPr>
            <a:r>
              <a:rPr lang="en-US" sz="1200" dirty="0">
                <a:solidFill>
                  <a:srgbClr val="333D29"/>
                </a:solidFill>
                <a:latin typeface="Calibri" pitchFamily="34" charset="0"/>
                <a:ea typeface="Calibri" pitchFamily="34" charset="-122"/>
                <a:cs typeface="Calibri" pitchFamily="34" charset="-120"/>
              </a:rPr>
              <a:t>Readiness checks that expose gaps and link back to the exact function.</a:t>
            </a:r>
            <a:endParaRPr lang="en-US" sz="1200" dirty="0"/>
          </a:p>
        </p:txBody>
      </p:sp>
      <p:sp>
        <p:nvSpPr>
          <p:cNvPr id="21" name="Shape 19"/>
          <p:cNvSpPr/>
          <p:nvPr/>
        </p:nvSpPr>
        <p:spPr>
          <a:xfrm>
            <a:off x="685800" y="4535424"/>
            <a:ext cx="2011680" cy="1207008"/>
          </a:xfrm>
          <a:prstGeom prst="roundRect">
            <a:avLst>
              <a:gd name="adj" fmla="val 6818"/>
            </a:avLst>
          </a:prstGeom>
          <a:solidFill>
            <a:srgbClr val="333D29"/>
          </a:solidFill>
          <a:ln w="9525">
            <a:solidFill>
              <a:srgbClr val="333D29"/>
            </a:solidFill>
            <a:prstDash val="solid"/>
          </a:ln>
          <a:effectLst>
            <a:outerShdw sx="100000" sy="100000" kx="0" ky="0" algn="bl" rotWithShape="0" blurRad="177800" dist="38100" dir="5400000">
              <a:srgbClr val="1F2618">
                <a:alpha val="13000"/>
              </a:srgbClr>
            </a:outerShdw>
          </a:effectLst>
        </p:spPr>
      </p:sp>
      <p:sp>
        <p:nvSpPr>
          <p:cNvPr id="22" name="Text 20"/>
          <p:cNvSpPr/>
          <p:nvPr/>
        </p:nvSpPr>
        <p:spPr>
          <a:xfrm>
            <a:off x="850392" y="4681728"/>
            <a:ext cx="1682496" cy="512064"/>
          </a:xfrm>
          <a:prstGeom prst="rect">
            <a:avLst/>
          </a:prstGeom>
          <a:noFill/>
          <a:ln/>
        </p:spPr>
        <p:txBody>
          <a:bodyPr wrap="square" lIns="0" tIns="0" rIns="0" bIns="0" rtlCol="0" anchor="ctr"/>
          <a:lstStyle/>
          <a:p>
            <a:pPr indent="0" marL="0">
              <a:buNone/>
            </a:pPr>
            <a:r>
              <a:rPr lang="en-US" sz="2500" b="1" dirty="0">
                <a:solidFill>
                  <a:srgbClr val="A68A64"/>
                </a:solidFill>
                <a:latin typeface="Cambria" pitchFamily="34" charset="0"/>
                <a:ea typeface="Cambria" pitchFamily="34" charset="-122"/>
                <a:cs typeface="Cambria" pitchFamily="34" charset="-120"/>
              </a:rPr>
              <a:t>61,000+</a:t>
            </a:r>
            <a:endParaRPr lang="en-US" sz="2500" dirty="0"/>
          </a:p>
        </p:txBody>
      </p:sp>
      <p:sp>
        <p:nvSpPr>
          <p:cNvPr id="23" name="Text 21"/>
          <p:cNvSpPr/>
          <p:nvPr/>
        </p:nvSpPr>
        <p:spPr>
          <a:xfrm>
            <a:off x="850392" y="5212080"/>
            <a:ext cx="1682496" cy="402336"/>
          </a:xfrm>
          <a:prstGeom prst="rect">
            <a:avLst/>
          </a:prstGeom>
          <a:noFill/>
          <a:ln/>
        </p:spPr>
        <p:txBody>
          <a:bodyPr wrap="square" lIns="0" tIns="0" rIns="0" bIns="0" rtlCol="0" anchor="ctr"/>
          <a:lstStyle/>
          <a:p>
            <a:pPr indent="0" marL="0">
              <a:lnSpc>
                <a:spcPct val="100000"/>
              </a:lnSpc>
              <a:buNone/>
            </a:pPr>
            <a:r>
              <a:rPr lang="en-US" sz="1050" dirty="0">
                <a:solidFill>
                  <a:srgbClr val="F5F0E2"/>
                </a:solidFill>
                <a:latin typeface="Calibri" pitchFamily="34" charset="0"/>
                <a:ea typeface="Calibri" pitchFamily="34" charset="-122"/>
                <a:cs typeface="Calibri" pitchFamily="34" charset="-120"/>
              </a:rPr>
              <a:t>lines of TypeScript</a:t>
            </a:r>
            <a:endParaRPr lang="en-US" sz="1050" dirty="0"/>
          </a:p>
        </p:txBody>
      </p:sp>
      <p:sp>
        <p:nvSpPr>
          <p:cNvPr id="24" name="Shape 22"/>
          <p:cNvSpPr/>
          <p:nvPr/>
        </p:nvSpPr>
        <p:spPr>
          <a:xfrm>
            <a:off x="2904134" y="4535424"/>
            <a:ext cx="2011680" cy="1207008"/>
          </a:xfrm>
          <a:prstGeom prst="roundRect">
            <a:avLst>
              <a:gd name="adj" fmla="val 6818"/>
            </a:avLst>
          </a:prstGeom>
          <a:solidFill>
            <a:srgbClr val="333D29"/>
          </a:solidFill>
          <a:ln w="9525">
            <a:solidFill>
              <a:srgbClr val="333D29"/>
            </a:solidFill>
            <a:prstDash val="solid"/>
          </a:ln>
          <a:effectLst>
            <a:outerShdw sx="100000" sy="100000" kx="0" ky="0" algn="bl" rotWithShape="0" blurRad="177800" dist="38100" dir="5400000">
              <a:srgbClr val="1F2618">
                <a:alpha val="13000"/>
              </a:srgbClr>
            </a:outerShdw>
          </a:effectLst>
        </p:spPr>
      </p:sp>
      <p:sp>
        <p:nvSpPr>
          <p:cNvPr id="25" name="Text 23"/>
          <p:cNvSpPr/>
          <p:nvPr/>
        </p:nvSpPr>
        <p:spPr>
          <a:xfrm>
            <a:off x="3068726" y="4681728"/>
            <a:ext cx="1682496" cy="512064"/>
          </a:xfrm>
          <a:prstGeom prst="rect">
            <a:avLst/>
          </a:prstGeom>
          <a:noFill/>
          <a:ln/>
        </p:spPr>
        <p:txBody>
          <a:bodyPr wrap="square" lIns="0" tIns="0" rIns="0" bIns="0" rtlCol="0" anchor="ctr"/>
          <a:lstStyle/>
          <a:p>
            <a:pPr indent="0" marL="0">
              <a:buNone/>
            </a:pPr>
            <a:r>
              <a:rPr lang="en-US" sz="2500" b="1" dirty="0">
                <a:solidFill>
                  <a:srgbClr val="A68A64"/>
                </a:solidFill>
                <a:latin typeface="Cambria" pitchFamily="34" charset="0"/>
                <a:ea typeface="Cambria" pitchFamily="34" charset="-122"/>
                <a:cs typeface="Cambria" pitchFamily="34" charset="-120"/>
              </a:rPr>
              <a:t>62</a:t>
            </a:r>
            <a:endParaRPr lang="en-US" sz="2500" dirty="0"/>
          </a:p>
        </p:txBody>
      </p:sp>
      <p:sp>
        <p:nvSpPr>
          <p:cNvPr id="26" name="Text 24"/>
          <p:cNvSpPr/>
          <p:nvPr/>
        </p:nvSpPr>
        <p:spPr>
          <a:xfrm>
            <a:off x="3068726" y="5212080"/>
            <a:ext cx="1682496" cy="402336"/>
          </a:xfrm>
          <a:prstGeom prst="rect">
            <a:avLst/>
          </a:prstGeom>
          <a:noFill/>
          <a:ln/>
        </p:spPr>
        <p:txBody>
          <a:bodyPr wrap="square" lIns="0" tIns="0" rIns="0" bIns="0" rtlCol="0" anchor="ctr"/>
          <a:lstStyle/>
          <a:p>
            <a:pPr indent="0" marL="0">
              <a:lnSpc>
                <a:spcPct val="100000"/>
              </a:lnSpc>
              <a:buNone/>
            </a:pPr>
            <a:r>
              <a:rPr lang="en-US" sz="1050" dirty="0">
                <a:solidFill>
                  <a:srgbClr val="F5F0E2"/>
                </a:solidFill>
                <a:latin typeface="Calibri" pitchFamily="34" charset="0"/>
                <a:ea typeface="Calibri" pitchFamily="34" charset="-122"/>
                <a:cs typeface="Calibri" pitchFamily="34" charset="-120"/>
              </a:rPr>
              <a:t>application routes</a:t>
            </a:r>
            <a:endParaRPr lang="en-US" sz="1050" dirty="0"/>
          </a:p>
        </p:txBody>
      </p:sp>
      <p:sp>
        <p:nvSpPr>
          <p:cNvPr id="27" name="Shape 25"/>
          <p:cNvSpPr/>
          <p:nvPr/>
        </p:nvSpPr>
        <p:spPr>
          <a:xfrm>
            <a:off x="5122469" y="4535424"/>
            <a:ext cx="2011680" cy="1207008"/>
          </a:xfrm>
          <a:prstGeom prst="roundRect">
            <a:avLst>
              <a:gd name="adj" fmla="val 6818"/>
            </a:avLst>
          </a:prstGeom>
          <a:solidFill>
            <a:srgbClr val="333D29"/>
          </a:solidFill>
          <a:ln w="9525">
            <a:solidFill>
              <a:srgbClr val="333D29"/>
            </a:solidFill>
            <a:prstDash val="solid"/>
          </a:ln>
          <a:effectLst>
            <a:outerShdw sx="100000" sy="100000" kx="0" ky="0" algn="bl" rotWithShape="0" blurRad="177800" dist="38100" dir="5400000">
              <a:srgbClr val="1F2618">
                <a:alpha val="13000"/>
              </a:srgbClr>
            </a:outerShdw>
          </a:effectLst>
        </p:spPr>
      </p:sp>
      <p:sp>
        <p:nvSpPr>
          <p:cNvPr id="28" name="Text 26"/>
          <p:cNvSpPr/>
          <p:nvPr/>
        </p:nvSpPr>
        <p:spPr>
          <a:xfrm>
            <a:off x="5287061" y="4681728"/>
            <a:ext cx="1682496" cy="512064"/>
          </a:xfrm>
          <a:prstGeom prst="rect">
            <a:avLst/>
          </a:prstGeom>
          <a:noFill/>
          <a:ln/>
        </p:spPr>
        <p:txBody>
          <a:bodyPr wrap="square" lIns="0" tIns="0" rIns="0" bIns="0" rtlCol="0" anchor="ctr"/>
          <a:lstStyle/>
          <a:p>
            <a:pPr indent="0" marL="0">
              <a:buNone/>
            </a:pPr>
            <a:r>
              <a:rPr lang="en-US" sz="2500" b="1" dirty="0">
                <a:solidFill>
                  <a:srgbClr val="A68A64"/>
                </a:solidFill>
                <a:latin typeface="Cambria" pitchFamily="34" charset="0"/>
                <a:ea typeface="Cambria" pitchFamily="34" charset="-122"/>
                <a:cs typeface="Cambria" pitchFamily="34" charset="-120"/>
              </a:rPr>
              <a:t>59</a:t>
            </a:r>
            <a:endParaRPr lang="en-US" sz="2500" dirty="0"/>
          </a:p>
        </p:txBody>
      </p:sp>
      <p:sp>
        <p:nvSpPr>
          <p:cNvPr id="29" name="Text 27"/>
          <p:cNvSpPr/>
          <p:nvPr/>
        </p:nvSpPr>
        <p:spPr>
          <a:xfrm>
            <a:off x="5287061" y="5212080"/>
            <a:ext cx="1682496" cy="402336"/>
          </a:xfrm>
          <a:prstGeom prst="rect">
            <a:avLst/>
          </a:prstGeom>
          <a:noFill/>
          <a:ln/>
        </p:spPr>
        <p:txBody>
          <a:bodyPr wrap="square" lIns="0" tIns="0" rIns="0" bIns="0" rtlCol="0" anchor="ctr"/>
          <a:lstStyle/>
          <a:p>
            <a:pPr indent="0" marL="0">
              <a:lnSpc>
                <a:spcPct val="100000"/>
              </a:lnSpc>
              <a:buNone/>
            </a:pPr>
            <a:r>
              <a:rPr lang="en-US" sz="1050" dirty="0">
                <a:solidFill>
                  <a:srgbClr val="F5F0E2"/>
                </a:solidFill>
                <a:latin typeface="Calibri" pitchFamily="34" charset="0"/>
                <a:ea typeface="Calibri" pitchFamily="34" charset="-122"/>
                <a:cs typeface="Calibri" pitchFamily="34" charset="-120"/>
              </a:rPr>
              <a:t>API endpoints</a:t>
            </a:r>
            <a:endParaRPr lang="en-US" sz="1050" dirty="0"/>
          </a:p>
        </p:txBody>
      </p:sp>
      <p:sp>
        <p:nvSpPr>
          <p:cNvPr id="30" name="Shape 28"/>
          <p:cNvSpPr/>
          <p:nvPr/>
        </p:nvSpPr>
        <p:spPr>
          <a:xfrm>
            <a:off x="7340803" y="4535424"/>
            <a:ext cx="2011680" cy="1207008"/>
          </a:xfrm>
          <a:prstGeom prst="roundRect">
            <a:avLst>
              <a:gd name="adj" fmla="val 6818"/>
            </a:avLst>
          </a:prstGeom>
          <a:solidFill>
            <a:srgbClr val="333D29"/>
          </a:solidFill>
          <a:ln w="9525">
            <a:solidFill>
              <a:srgbClr val="333D29"/>
            </a:solidFill>
            <a:prstDash val="solid"/>
          </a:ln>
          <a:effectLst>
            <a:outerShdw sx="100000" sy="100000" kx="0" ky="0" algn="bl" rotWithShape="0" blurRad="177800" dist="38100" dir="5400000">
              <a:srgbClr val="1F2618">
                <a:alpha val="13000"/>
              </a:srgbClr>
            </a:outerShdw>
          </a:effectLst>
        </p:spPr>
      </p:sp>
      <p:sp>
        <p:nvSpPr>
          <p:cNvPr id="31" name="Text 29"/>
          <p:cNvSpPr/>
          <p:nvPr/>
        </p:nvSpPr>
        <p:spPr>
          <a:xfrm>
            <a:off x="7505395" y="4681728"/>
            <a:ext cx="1682496" cy="512064"/>
          </a:xfrm>
          <a:prstGeom prst="rect">
            <a:avLst/>
          </a:prstGeom>
          <a:noFill/>
          <a:ln/>
        </p:spPr>
        <p:txBody>
          <a:bodyPr wrap="square" lIns="0" tIns="0" rIns="0" bIns="0" rtlCol="0" anchor="ctr"/>
          <a:lstStyle/>
          <a:p>
            <a:pPr indent="0" marL="0">
              <a:buNone/>
            </a:pPr>
            <a:r>
              <a:rPr lang="en-US" sz="2500" b="1" dirty="0">
                <a:solidFill>
                  <a:srgbClr val="A68A64"/>
                </a:solidFill>
                <a:latin typeface="Cambria" pitchFamily="34" charset="0"/>
                <a:ea typeface="Cambria" pitchFamily="34" charset="-122"/>
                <a:cs typeface="Cambria" pitchFamily="34" charset="-120"/>
              </a:rPr>
              <a:t>27</a:t>
            </a:r>
            <a:endParaRPr lang="en-US" sz="2500" dirty="0"/>
          </a:p>
        </p:txBody>
      </p:sp>
      <p:sp>
        <p:nvSpPr>
          <p:cNvPr id="32" name="Text 30"/>
          <p:cNvSpPr/>
          <p:nvPr/>
        </p:nvSpPr>
        <p:spPr>
          <a:xfrm>
            <a:off x="7505395" y="5212080"/>
            <a:ext cx="1682496" cy="402336"/>
          </a:xfrm>
          <a:prstGeom prst="rect">
            <a:avLst/>
          </a:prstGeom>
          <a:noFill/>
          <a:ln/>
        </p:spPr>
        <p:txBody>
          <a:bodyPr wrap="square" lIns="0" tIns="0" rIns="0" bIns="0" rtlCol="0" anchor="ctr"/>
          <a:lstStyle/>
          <a:p>
            <a:pPr indent="0" marL="0">
              <a:lnSpc>
                <a:spcPct val="100000"/>
              </a:lnSpc>
              <a:buNone/>
            </a:pPr>
            <a:r>
              <a:rPr lang="en-US" sz="1050" dirty="0">
                <a:solidFill>
                  <a:srgbClr val="F5F0E2"/>
                </a:solidFill>
                <a:latin typeface="Calibri" pitchFamily="34" charset="0"/>
                <a:ea typeface="Calibri" pitchFamily="34" charset="-122"/>
                <a:cs typeface="Calibri" pitchFamily="34" charset="-120"/>
              </a:rPr>
              <a:t>Postgres tables</a:t>
            </a:r>
            <a:endParaRPr lang="en-US" sz="1050" dirty="0"/>
          </a:p>
        </p:txBody>
      </p:sp>
      <p:sp>
        <p:nvSpPr>
          <p:cNvPr id="33" name="Shape 31"/>
          <p:cNvSpPr/>
          <p:nvPr/>
        </p:nvSpPr>
        <p:spPr>
          <a:xfrm>
            <a:off x="9559138" y="4535424"/>
            <a:ext cx="2011680" cy="1207008"/>
          </a:xfrm>
          <a:prstGeom prst="roundRect">
            <a:avLst>
              <a:gd name="adj" fmla="val 6818"/>
            </a:avLst>
          </a:prstGeom>
          <a:solidFill>
            <a:srgbClr val="333D29"/>
          </a:solidFill>
          <a:ln w="9525">
            <a:solidFill>
              <a:srgbClr val="333D29"/>
            </a:solidFill>
            <a:prstDash val="solid"/>
          </a:ln>
          <a:effectLst>
            <a:outerShdw sx="100000" sy="100000" kx="0" ky="0" algn="bl" rotWithShape="0" blurRad="177800" dist="38100" dir="5400000">
              <a:srgbClr val="1F2618">
                <a:alpha val="13000"/>
              </a:srgbClr>
            </a:outerShdw>
          </a:effectLst>
        </p:spPr>
      </p:sp>
      <p:sp>
        <p:nvSpPr>
          <p:cNvPr id="34" name="Text 32"/>
          <p:cNvSpPr/>
          <p:nvPr/>
        </p:nvSpPr>
        <p:spPr>
          <a:xfrm>
            <a:off x="9723730" y="4681728"/>
            <a:ext cx="1682496" cy="512064"/>
          </a:xfrm>
          <a:prstGeom prst="rect">
            <a:avLst/>
          </a:prstGeom>
          <a:noFill/>
          <a:ln/>
        </p:spPr>
        <p:txBody>
          <a:bodyPr wrap="square" lIns="0" tIns="0" rIns="0" bIns="0" rtlCol="0" anchor="ctr"/>
          <a:lstStyle/>
          <a:p>
            <a:pPr indent="0" marL="0">
              <a:buNone/>
            </a:pPr>
            <a:r>
              <a:rPr lang="en-US" sz="2500" b="1" dirty="0">
                <a:solidFill>
                  <a:srgbClr val="A68A64"/>
                </a:solidFill>
                <a:latin typeface="Cambria" pitchFamily="34" charset="0"/>
                <a:ea typeface="Cambria" pitchFamily="34" charset="-122"/>
                <a:cs typeface="Cambria" pitchFamily="34" charset="-120"/>
              </a:rPr>
              <a:t>4</a:t>
            </a:r>
            <a:endParaRPr lang="en-US" sz="2500" dirty="0"/>
          </a:p>
        </p:txBody>
      </p:sp>
      <p:sp>
        <p:nvSpPr>
          <p:cNvPr id="35" name="Text 33"/>
          <p:cNvSpPr/>
          <p:nvPr/>
        </p:nvSpPr>
        <p:spPr>
          <a:xfrm>
            <a:off x="9723730" y="5212080"/>
            <a:ext cx="1682496" cy="402336"/>
          </a:xfrm>
          <a:prstGeom prst="rect">
            <a:avLst/>
          </a:prstGeom>
          <a:noFill/>
          <a:ln/>
        </p:spPr>
        <p:txBody>
          <a:bodyPr wrap="square" lIns="0" tIns="0" rIns="0" bIns="0" rtlCol="0" anchor="ctr"/>
          <a:lstStyle/>
          <a:p>
            <a:pPr indent="0" marL="0">
              <a:lnSpc>
                <a:spcPct val="100000"/>
              </a:lnSpc>
              <a:buNone/>
            </a:pPr>
            <a:r>
              <a:rPr lang="en-US" sz="1050" dirty="0">
                <a:solidFill>
                  <a:srgbClr val="F5F0E2"/>
                </a:solidFill>
                <a:latin typeface="Calibri" pitchFamily="34" charset="0"/>
                <a:ea typeface="Calibri" pitchFamily="34" charset="-122"/>
                <a:cs typeface="Calibri" pitchFamily="34" charset="-120"/>
              </a:rPr>
              <a:t>role-based portals</a:t>
            </a:r>
            <a:endParaRPr lang="en-US" sz="1050" dirty="0"/>
          </a:p>
        </p:txBody>
      </p:sp>
      <p:sp>
        <p:nvSpPr>
          <p:cNvPr id="36" name="Text 34"/>
          <p:cNvSpPr/>
          <p:nvPr/>
        </p:nvSpPr>
        <p:spPr>
          <a:xfrm>
            <a:off x="685800" y="5907024"/>
            <a:ext cx="10820095" cy="274320"/>
          </a:xfrm>
          <a:prstGeom prst="rect">
            <a:avLst/>
          </a:prstGeom>
          <a:noFill/>
          <a:ln/>
        </p:spPr>
        <p:txBody>
          <a:bodyPr wrap="square" lIns="0" tIns="0" rIns="0" bIns="0" rtlCol="0" anchor="ctr"/>
          <a:lstStyle/>
          <a:p>
            <a:pPr indent="0" marL="0">
              <a:buNone/>
            </a:pPr>
            <a:r>
              <a:rPr lang="en-US" sz="1100" i="1" dirty="0">
                <a:solidFill>
                  <a:srgbClr val="656D4A"/>
                </a:solidFill>
                <a:latin typeface="Calibri" pitchFamily="34" charset="0"/>
                <a:ea typeface="Calibri" pitchFamily="34" charset="-122"/>
                <a:cs typeface="Calibri" pitchFamily="34" charset="-120"/>
              </a:rPr>
              <a:t>Client · Vendor · Manager · Admin — one shared event spine, four different views of it.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402336"/>
            <a:ext cx="10817352" cy="237744"/>
          </a:xfrm>
          <a:prstGeom prst="rect">
            <a:avLst/>
          </a:prstGeom>
          <a:noFill/>
          <a:ln/>
        </p:spPr>
        <p:txBody>
          <a:bodyPr wrap="square" lIns="0" tIns="0" rIns="0" bIns="0" rtlCol="0" anchor="ctr"/>
          <a:lstStyle/>
          <a:p>
            <a:pPr indent="0" marL="0">
              <a:buNone/>
            </a:pPr>
            <a:r>
              <a:rPr lang="en-US" sz="1050" b="1" spc="260" kern="0" dirty="0">
                <a:solidFill>
                  <a:srgbClr val="A68A64"/>
                </a:solidFill>
                <a:latin typeface="Calibri" pitchFamily="34" charset="0"/>
                <a:ea typeface="Calibri" pitchFamily="34" charset="-122"/>
                <a:cs typeface="Calibri" pitchFamily="34" charset="-120"/>
              </a:rPr>
              <a:t>04 · LIVE DEMO</a:t>
            </a:r>
            <a:endParaRPr lang="en-US" sz="1050" dirty="0"/>
          </a:p>
        </p:txBody>
      </p:sp>
      <p:sp>
        <p:nvSpPr>
          <p:cNvPr id="3" name="Text 1"/>
          <p:cNvSpPr/>
          <p:nvPr/>
        </p:nvSpPr>
        <p:spPr>
          <a:xfrm>
            <a:off x="777240" y="1847088"/>
            <a:ext cx="6035040" cy="1700784"/>
          </a:xfrm>
          <a:prstGeom prst="rect">
            <a:avLst/>
          </a:prstGeom>
          <a:noFill/>
          <a:ln/>
        </p:spPr>
        <p:txBody>
          <a:bodyPr wrap="square" lIns="0" tIns="0" rIns="0" bIns="0" rtlCol="0" anchor="ctr"/>
          <a:lstStyle/>
          <a:p>
            <a:pPr indent="0" marL="0">
              <a:lnSpc>
                <a:spcPct val="98000"/>
              </a:lnSpc>
              <a:buNone/>
            </a:pPr>
            <a:r>
              <a:rPr lang="en-US" sz="4000" b="1" dirty="0">
                <a:solidFill>
                  <a:srgbClr val="F5F0E2"/>
                </a:solidFill>
                <a:latin typeface="Cambria" pitchFamily="34" charset="0"/>
                <a:ea typeface="Cambria" pitchFamily="34" charset="-122"/>
                <a:cs typeface="Cambria" pitchFamily="34" charset="-120"/>
              </a:rPr>
              <a:t>Let me show you</a:t>
            </a:r>
            <a:endParaRPr lang="en-US" sz="4000" dirty="0"/>
          </a:p>
          <a:p>
            <a:pPr indent="0" marL="0">
              <a:lnSpc>
                <a:spcPct val="98000"/>
              </a:lnSpc>
              <a:buNone/>
            </a:pPr>
            <a:r>
              <a:rPr lang="en-US" sz="4000" b="1" dirty="0">
                <a:solidFill>
                  <a:srgbClr val="F5F0E2"/>
                </a:solidFill>
                <a:latin typeface="Cambria" pitchFamily="34" charset="0"/>
                <a:ea typeface="Cambria" pitchFamily="34" charset="-122"/>
                <a:cs typeface="Cambria" pitchFamily="34" charset="-120"/>
              </a:rPr>
              <a:t>the real thing.</a:t>
            </a:r>
            <a:endParaRPr lang="en-US" sz="4000" dirty="0"/>
          </a:p>
        </p:txBody>
      </p:sp>
      <p:sp>
        <p:nvSpPr>
          <p:cNvPr id="4" name="Shape 2"/>
          <p:cNvSpPr/>
          <p:nvPr/>
        </p:nvSpPr>
        <p:spPr>
          <a:xfrm>
            <a:off x="777240" y="3803904"/>
            <a:ext cx="5029200" cy="713232"/>
          </a:xfrm>
          <a:prstGeom prst="roundRect">
            <a:avLst>
              <a:gd name="adj" fmla="val 11538"/>
            </a:avLst>
          </a:prstGeom>
          <a:solidFill>
            <a:srgbClr val="7F4F24"/>
          </a:solidFill>
          <a:ln w="9525">
            <a:solidFill>
              <a:srgbClr val="7F4F24"/>
            </a:solidFill>
            <a:prstDash val="solid"/>
          </a:ln>
        </p:spPr>
      </p:sp>
      <p:sp>
        <p:nvSpPr>
          <p:cNvPr id="5" name="Text 3"/>
          <p:cNvSpPr/>
          <p:nvPr/>
        </p:nvSpPr>
        <p:spPr>
          <a:xfrm>
            <a:off x="777240" y="3803904"/>
            <a:ext cx="5029200" cy="713232"/>
          </a:xfrm>
          <a:prstGeom prst="rect">
            <a:avLst/>
          </a:prstGeom>
          <a:noFill/>
          <a:ln/>
        </p:spPr>
        <p:txBody>
          <a:bodyPr wrap="square" lIns="0" tIns="0" rIns="0" bIns="0" rtlCol="0" anchor="ctr"/>
          <a:lstStyle/>
          <a:p>
            <a:pPr algn="ctr" indent="0" marL="0">
              <a:buNone/>
            </a:pPr>
            <a:r>
              <a:rPr lang="en-US" sz="1700" b="1" dirty="0">
                <a:solidFill>
                  <a:srgbClr val="F5F0E2"/>
                </a:solidFill>
                <a:latin typeface="Calibri" pitchFamily="34" charset="0"/>
                <a:ea typeface="Calibri" pitchFamily="34" charset="-122"/>
                <a:cs typeface="Calibri" pitchFamily="34" charset="-120"/>
              </a:rPr>
              <a:t>elysiancelebrations.com</a:t>
            </a:r>
            <a:endParaRPr lang="en-US" sz="1700" dirty="0"/>
          </a:p>
        </p:txBody>
      </p:sp>
      <p:sp>
        <p:nvSpPr>
          <p:cNvPr id="6" name="Shape 4"/>
          <p:cNvSpPr/>
          <p:nvPr/>
        </p:nvSpPr>
        <p:spPr>
          <a:xfrm>
            <a:off x="6675120" y="1938528"/>
            <a:ext cx="4828032" cy="1170432"/>
          </a:xfrm>
          <a:prstGeom prst="roundRect">
            <a:avLst>
              <a:gd name="adj" fmla="val 7031"/>
            </a:avLst>
          </a:prstGeom>
          <a:solidFill>
            <a:srgbClr val="2B331F"/>
          </a:solidFill>
          <a:ln w="12700">
            <a:solidFill>
              <a:srgbClr val="4A5138"/>
            </a:solidFill>
            <a:prstDash val="solid"/>
          </a:ln>
        </p:spPr>
      </p:sp>
      <p:sp>
        <p:nvSpPr>
          <p:cNvPr id="7" name="Shape 5"/>
          <p:cNvSpPr/>
          <p:nvPr/>
        </p:nvSpPr>
        <p:spPr>
          <a:xfrm>
            <a:off x="6949440" y="2340864"/>
            <a:ext cx="365760" cy="365760"/>
          </a:xfrm>
          <a:prstGeom prst="ellipse">
            <a:avLst/>
          </a:prstGeom>
          <a:solidFill>
            <a:srgbClr val="A68A64"/>
          </a:solidFill>
          <a:ln w="12700">
            <a:solidFill>
              <a:srgbClr val="A68A64"/>
            </a:solidFill>
            <a:prstDash val="solid"/>
          </a:ln>
        </p:spPr>
      </p:sp>
      <p:sp>
        <p:nvSpPr>
          <p:cNvPr id="8" name="Text 6"/>
          <p:cNvSpPr/>
          <p:nvPr/>
        </p:nvSpPr>
        <p:spPr>
          <a:xfrm>
            <a:off x="6949440" y="2340864"/>
            <a:ext cx="365760" cy="365760"/>
          </a:xfrm>
          <a:prstGeom prst="rect">
            <a:avLst/>
          </a:prstGeom>
          <a:noFill/>
          <a:ln/>
        </p:spPr>
        <p:txBody>
          <a:bodyPr wrap="square" lIns="0" tIns="0" rIns="0" bIns="0" rtlCol="0" anchor="ctr"/>
          <a:lstStyle/>
          <a:p>
            <a:pPr algn="ctr" indent="0" marL="0">
              <a:buNone/>
            </a:pPr>
            <a:r>
              <a:rPr lang="en-US" sz="1250" b="1" dirty="0">
                <a:solidFill>
                  <a:srgbClr val="333D29"/>
                </a:solidFill>
                <a:latin typeface="Calibri" pitchFamily="34" charset="0"/>
                <a:ea typeface="Calibri" pitchFamily="34" charset="-122"/>
                <a:cs typeface="Calibri" pitchFamily="34" charset="-120"/>
              </a:rPr>
              <a:t>1</a:t>
            </a:r>
            <a:endParaRPr lang="en-US" sz="1250" dirty="0"/>
          </a:p>
        </p:txBody>
      </p:sp>
      <p:sp>
        <p:nvSpPr>
          <p:cNvPr id="9" name="Text 7"/>
          <p:cNvSpPr/>
          <p:nvPr/>
        </p:nvSpPr>
        <p:spPr>
          <a:xfrm>
            <a:off x="7443216" y="2121408"/>
            <a:ext cx="3840480" cy="274320"/>
          </a:xfrm>
          <a:prstGeom prst="rect">
            <a:avLst/>
          </a:prstGeom>
          <a:noFill/>
          <a:ln/>
        </p:spPr>
        <p:txBody>
          <a:bodyPr wrap="square" lIns="0" tIns="0" rIns="0" bIns="0" rtlCol="0" anchor="ctr"/>
          <a:lstStyle/>
          <a:p>
            <a:pPr indent="0" marL="0">
              <a:buNone/>
            </a:pPr>
            <a:r>
              <a:rPr lang="en-US" sz="1300" b="1" dirty="0">
                <a:solidFill>
                  <a:srgbClr val="F5F0E2"/>
                </a:solidFill>
                <a:latin typeface="Calibri" pitchFamily="34" charset="0"/>
                <a:ea typeface="Calibri" pitchFamily="34" charset="-122"/>
                <a:cs typeface="Calibri" pitchFamily="34" charset="-120"/>
              </a:rPr>
              <a:t>The flow map</a:t>
            </a:r>
            <a:endParaRPr lang="en-US" sz="1300" dirty="0"/>
          </a:p>
        </p:txBody>
      </p:sp>
      <p:sp>
        <p:nvSpPr>
          <p:cNvPr id="10" name="Text 8"/>
          <p:cNvSpPr/>
          <p:nvPr/>
        </p:nvSpPr>
        <p:spPr>
          <a:xfrm>
            <a:off x="7443216" y="2414016"/>
            <a:ext cx="3840480" cy="566928"/>
          </a:xfrm>
          <a:prstGeom prst="rect">
            <a:avLst/>
          </a:prstGeom>
          <a:noFill/>
          <a:ln/>
        </p:spPr>
        <p:txBody>
          <a:bodyPr wrap="square" lIns="0" tIns="0" rIns="0" bIns="0" rtlCol="0" anchor="ctr"/>
          <a:lstStyle/>
          <a:p>
            <a:pPr indent="0" marL="0">
              <a:lnSpc>
                <a:spcPct val="104000"/>
              </a:lnSpc>
              <a:buNone/>
            </a:pPr>
            <a:r>
              <a:rPr lang="en-US" sz="1050" dirty="0">
                <a:solidFill>
                  <a:srgbClr val="BFC2AC"/>
                </a:solidFill>
                <a:latin typeface="Calibri" pitchFamily="34" charset="0"/>
                <a:ea typeface="Calibri" pitchFamily="34" charset="-122"/>
                <a:cs typeface="Calibri" pitchFamily="34" charset="-120"/>
              </a:rPr>
              <a:t>Drill from the event hub down to a single step of one function.</a:t>
            </a:r>
            <a:endParaRPr lang="en-US" sz="1050" dirty="0"/>
          </a:p>
        </p:txBody>
      </p:sp>
      <p:sp>
        <p:nvSpPr>
          <p:cNvPr id="11" name="Shape 9"/>
          <p:cNvSpPr/>
          <p:nvPr/>
        </p:nvSpPr>
        <p:spPr>
          <a:xfrm>
            <a:off x="6675120" y="3273552"/>
            <a:ext cx="4828032" cy="1170432"/>
          </a:xfrm>
          <a:prstGeom prst="roundRect">
            <a:avLst>
              <a:gd name="adj" fmla="val 7031"/>
            </a:avLst>
          </a:prstGeom>
          <a:solidFill>
            <a:srgbClr val="2B331F"/>
          </a:solidFill>
          <a:ln w="12700">
            <a:solidFill>
              <a:srgbClr val="4A5138"/>
            </a:solidFill>
            <a:prstDash val="solid"/>
          </a:ln>
        </p:spPr>
      </p:sp>
      <p:sp>
        <p:nvSpPr>
          <p:cNvPr id="12" name="Shape 10"/>
          <p:cNvSpPr/>
          <p:nvPr/>
        </p:nvSpPr>
        <p:spPr>
          <a:xfrm>
            <a:off x="6949440" y="3675888"/>
            <a:ext cx="365760" cy="365760"/>
          </a:xfrm>
          <a:prstGeom prst="ellipse">
            <a:avLst/>
          </a:prstGeom>
          <a:solidFill>
            <a:srgbClr val="A68A64"/>
          </a:solidFill>
          <a:ln w="12700">
            <a:solidFill>
              <a:srgbClr val="A68A64"/>
            </a:solidFill>
            <a:prstDash val="solid"/>
          </a:ln>
        </p:spPr>
      </p:sp>
      <p:sp>
        <p:nvSpPr>
          <p:cNvPr id="13" name="Text 11"/>
          <p:cNvSpPr/>
          <p:nvPr/>
        </p:nvSpPr>
        <p:spPr>
          <a:xfrm>
            <a:off x="6949440" y="3675888"/>
            <a:ext cx="365760" cy="365760"/>
          </a:xfrm>
          <a:prstGeom prst="rect">
            <a:avLst/>
          </a:prstGeom>
          <a:noFill/>
          <a:ln/>
        </p:spPr>
        <p:txBody>
          <a:bodyPr wrap="square" lIns="0" tIns="0" rIns="0" bIns="0" rtlCol="0" anchor="ctr"/>
          <a:lstStyle/>
          <a:p>
            <a:pPr algn="ctr" indent="0" marL="0">
              <a:buNone/>
            </a:pPr>
            <a:r>
              <a:rPr lang="en-US" sz="1250" b="1" dirty="0">
                <a:solidFill>
                  <a:srgbClr val="333D29"/>
                </a:solidFill>
                <a:latin typeface="Calibri" pitchFamily="34" charset="0"/>
                <a:ea typeface="Calibri" pitchFamily="34" charset="-122"/>
                <a:cs typeface="Calibri" pitchFamily="34" charset="-120"/>
              </a:rPr>
              <a:t>2</a:t>
            </a:r>
            <a:endParaRPr lang="en-US" sz="1250" dirty="0"/>
          </a:p>
        </p:txBody>
      </p:sp>
      <p:sp>
        <p:nvSpPr>
          <p:cNvPr id="14" name="Text 12"/>
          <p:cNvSpPr/>
          <p:nvPr/>
        </p:nvSpPr>
        <p:spPr>
          <a:xfrm>
            <a:off x="7443216" y="3456432"/>
            <a:ext cx="3840480" cy="274320"/>
          </a:xfrm>
          <a:prstGeom prst="rect">
            <a:avLst/>
          </a:prstGeom>
          <a:noFill/>
          <a:ln/>
        </p:spPr>
        <p:txBody>
          <a:bodyPr wrap="square" lIns="0" tIns="0" rIns="0" bIns="0" rtlCol="0" anchor="ctr"/>
          <a:lstStyle/>
          <a:p>
            <a:pPr indent="0" marL="0">
              <a:buNone/>
            </a:pPr>
            <a:r>
              <a:rPr lang="en-US" sz="1300" b="1" dirty="0">
                <a:solidFill>
                  <a:srgbClr val="F5F0E2"/>
                </a:solidFill>
                <a:latin typeface="Calibri" pitchFamily="34" charset="0"/>
                <a:ea typeface="Calibri" pitchFamily="34" charset="-122"/>
                <a:cs typeface="Calibri" pitchFamily="34" charset="-120"/>
              </a:rPr>
              <a:t>Vendor catalogue</a:t>
            </a:r>
            <a:endParaRPr lang="en-US" sz="1300" dirty="0"/>
          </a:p>
        </p:txBody>
      </p:sp>
      <p:sp>
        <p:nvSpPr>
          <p:cNvPr id="15" name="Text 13"/>
          <p:cNvSpPr/>
          <p:nvPr/>
        </p:nvSpPr>
        <p:spPr>
          <a:xfrm>
            <a:off x="7443216" y="3749040"/>
            <a:ext cx="3840480" cy="566928"/>
          </a:xfrm>
          <a:prstGeom prst="rect">
            <a:avLst/>
          </a:prstGeom>
          <a:noFill/>
          <a:ln/>
        </p:spPr>
        <p:txBody>
          <a:bodyPr wrap="square" lIns="0" tIns="0" rIns="0" bIns="0" rtlCol="0" anchor="ctr"/>
          <a:lstStyle/>
          <a:p>
            <a:pPr indent="0" marL="0">
              <a:lnSpc>
                <a:spcPct val="104000"/>
              </a:lnSpc>
              <a:buNone/>
            </a:pPr>
            <a:r>
              <a:rPr lang="en-US" sz="1050" dirty="0">
                <a:solidFill>
                  <a:srgbClr val="BFC2AC"/>
                </a:solidFill>
                <a:latin typeface="Calibri" pitchFamily="34" charset="0"/>
                <a:ea typeface="Calibri" pitchFamily="34" charset="-122"/>
                <a:cs typeface="Calibri" pitchFamily="34" charset="-120"/>
              </a:rPr>
              <a:t>Selection happens inside the need — real offerings, never typed names.</a:t>
            </a:r>
            <a:endParaRPr lang="en-US" sz="1050" dirty="0"/>
          </a:p>
        </p:txBody>
      </p:sp>
      <p:sp>
        <p:nvSpPr>
          <p:cNvPr id="16" name="Shape 14"/>
          <p:cNvSpPr/>
          <p:nvPr/>
        </p:nvSpPr>
        <p:spPr>
          <a:xfrm>
            <a:off x="6675120" y="4608576"/>
            <a:ext cx="4828032" cy="1170432"/>
          </a:xfrm>
          <a:prstGeom prst="roundRect">
            <a:avLst>
              <a:gd name="adj" fmla="val 7031"/>
            </a:avLst>
          </a:prstGeom>
          <a:solidFill>
            <a:srgbClr val="2B331F"/>
          </a:solidFill>
          <a:ln w="12700">
            <a:solidFill>
              <a:srgbClr val="4A5138"/>
            </a:solidFill>
            <a:prstDash val="solid"/>
          </a:ln>
        </p:spPr>
      </p:sp>
      <p:sp>
        <p:nvSpPr>
          <p:cNvPr id="17" name="Shape 15"/>
          <p:cNvSpPr/>
          <p:nvPr/>
        </p:nvSpPr>
        <p:spPr>
          <a:xfrm>
            <a:off x="6949440" y="5010912"/>
            <a:ext cx="365760" cy="365760"/>
          </a:xfrm>
          <a:prstGeom prst="ellipse">
            <a:avLst/>
          </a:prstGeom>
          <a:solidFill>
            <a:srgbClr val="A68A64"/>
          </a:solidFill>
          <a:ln w="12700">
            <a:solidFill>
              <a:srgbClr val="A68A64"/>
            </a:solidFill>
            <a:prstDash val="solid"/>
          </a:ln>
        </p:spPr>
      </p:sp>
      <p:sp>
        <p:nvSpPr>
          <p:cNvPr id="18" name="Text 16"/>
          <p:cNvSpPr/>
          <p:nvPr/>
        </p:nvSpPr>
        <p:spPr>
          <a:xfrm>
            <a:off x="6949440" y="5010912"/>
            <a:ext cx="365760" cy="365760"/>
          </a:xfrm>
          <a:prstGeom prst="rect">
            <a:avLst/>
          </a:prstGeom>
          <a:noFill/>
          <a:ln/>
        </p:spPr>
        <p:txBody>
          <a:bodyPr wrap="square" lIns="0" tIns="0" rIns="0" bIns="0" rtlCol="0" anchor="ctr"/>
          <a:lstStyle/>
          <a:p>
            <a:pPr algn="ctr" indent="0" marL="0">
              <a:buNone/>
            </a:pPr>
            <a:r>
              <a:rPr lang="en-US" sz="1250" b="1" dirty="0">
                <a:solidFill>
                  <a:srgbClr val="333D29"/>
                </a:solidFill>
                <a:latin typeface="Calibri" pitchFamily="34" charset="0"/>
                <a:ea typeface="Calibri" pitchFamily="34" charset="-122"/>
                <a:cs typeface="Calibri" pitchFamily="34" charset="-120"/>
              </a:rPr>
              <a:t>3</a:t>
            </a:r>
            <a:endParaRPr lang="en-US" sz="1250" dirty="0"/>
          </a:p>
        </p:txBody>
      </p:sp>
      <p:sp>
        <p:nvSpPr>
          <p:cNvPr id="19" name="Text 17"/>
          <p:cNvSpPr/>
          <p:nvPr/>
        </p:nvSpPr>
        <p:spPr>
          <a:xfrm>
            <a:off x="7443216" y="4791456"/>
            <a:ext cx="3840480" cy="274320"/>
          </a:xfrm>
          <a:prstGeom prst="rect">
            <a:avLst/>
          </a:prstGeom>
          <a:noFill/>
          <a:ln/>
        </p:spPr>
        <p:txBody>
          <a:bodyPr wrap="square" lIns="0" tIns="0" rIns="0" bIns="0" rtlCol="0" anchor="ctr"/>
          <a:lstStyle/>
          <a:p>
            <a:pPr indent="0" marL="0">
              <a:buNone/>
            </a:pPr>
            <a:r>
              <a:rPr lang="en-US" sz="1300" b="1" dirty="0">
                <a:solidFill>
                  <a:srgbClr val="F5F0E2"/>
                </a:solidFill>
                <a:latin typeface="Calibri" pitchFamily="34" charset="0"/>
                <a:ea typeface="Calibri" pitchFamily="34" charset="-122"/>
                <a:cs typeface="Calibri" pitchFamily="34" charset="-120"/>
              </a:rPr>
              <a:t>Readiness gate</a:t>
            </a:r>
            <a:endParaRPr lang="en-US" sz="1300" dirty="0"/>
          </a:p>
        </p:txBody>
      </p:sp>
      <p:sp>
        <p:nvSpPr>
          <p:cNvPr id="20" name="Text 18"/>
          <p:cNvSpPr/>
          <p:nvPr/>
        </p:nvSpPr>
        <p:spPr>
          <a:xfrm>
            <a:off x="7443216" y="5084064"/>
            <a:ext cx="3840480" cy="566928"/>
          </a:xfrm>
          <a:prstGeom prst="rect">
            <a:avLst/>
          </a:prstGeom>
          <a:noFill/>
          <a:ln/>
        </p:spPr>
        <p:txBody>
          <a:bodyPr wrap="square" lIns="0" tIns="0" rIns="0" bIns="0" rtlCol="0" anchor="ctr"/>
          <a:lstStyle/>
          <a:p>
            <a:pPr indent="0" marL="0">
              <a:lnSpc>
                <a:spcPct val="104000"/>
              </a:lnSpc>
              <a:buNone/>
            </a:pPr>
            <a:r>
              <a:rPr lang="en-US" sz="1050" dirty="0">
                <a:solidFill>
                  <a:srgbClr val="BFC2AC"/>
                </a:solidFill>
                <a:latin typeface="Calibri" pitchFamily="34" charset="0"/>
                <a:ea typeface="Calibri" pitchFamily="34" charset="-122"/>
                <a:cs typeface="Calibri" pitchFamily="34" charset="-120"/>
              </a:rPr>
              <a:t>The client total only appears once the function is genuinely complete.</a:t>
            </a:r>
            <a:endParaRPr lang="en-US" sz="1050" dirty="0"/>
          </a:p>
        </p:txBody>
      </p:sp>
      <p:sp>
        <p:nvSpPr>
          <p:cNvPr id="21" name="Text 19"/>
          <p:cNvSpPr/>
          <p:nvPr/>
        </p:nvSpPr>
        <p:spPr>
          <a:xfrm>
            <a:off x="777240" y="4809744"/>
            <a:ext cx="5120640" cy="310896"/>
          </a:xfrm>
          <a:prstGeom prst="rect">
            <a:avLst/>
          </a:prstGeom>
          <a:noFill/>
          <a:ln/>
        </p:spPr>
        <p:txBody>
          <a:bodyPr wrap="square" lIns="0" tIns="0" rIns="0" bIns="0" rtlCol="0" anchor="ctr"/>
          <a:lstStyle/>
          <a:p>
            <a:pPr indent="0" marL="0">
              <a:buNone/>
            </a:pPr>
            <a:r>
              <a:rPr lang="en-US" sz="1200" i="1" dirty="0">
                <a:solidFill>
                  <a:srgbClr val="B6AD90"/>
                </a:solidFill>
                <a:latin typeface="Calibri" pitchFamily="34" charset="0"/>
                <a:ea typeface="Calibri" pitchFamily="34" charset="-122"/>
                <a:cs typeface="Calibri" pitchFamily="34" charset="-120"/>
              </a:rPr>
              <a:t>Three beats, then straight back to the deck.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402336"/>
            <a:ext cx="10817352" cy="237744"/>
          </a:xfrm>
          <a:prstGeom prst="rect">
            <a:avLst/>
          </a:prstGeom>
          <a:noFill/>
          <a:ln/>
        </p:spPr>
        <p:txBody>
          <a:bodyPr wrap="square" lIns="0" tIns="0" rIns="0" bIns="0" rtlCol="0" anchor="ctr"/>
          <a:lstStyle/>
          <a:p>
            <a:pPr indent="0" marL="0">
              <a:buNone/>
            </a:pPr>
            <a:r>
              <a:rPr lang="en-US" sz="1050" b="1" spc="260" kern="0" dirty="0">
                <a:solidFill>
                  <a:srgbClr val="7F4F24"/>
                </a:solidFill>
                <a:latin typeface="Calibri" pitchFamily="34" charset="0"/>
                <a:ea typeface="Calibri" pitchFamily="34" charset="-122"/>
                <a:cs typeface="Calibri" pitchFamily="34" charset="-120"/>
              </a:rPr>
              <a:t>05 · TECHNOLOGIES USED</a:t>
            </a:r>
            <a:endParaRPr lang="en-US" sz="1050" dirty="0"/>
          </a:p>
        </p:txBody>
      </p:sp>
      <p:sp>
        <p:nvSpPr>
          <p:cNvPr id="3" name="Text 1"/>
          <p:cNvSpPr/>
          <p:nvPr/>
        </p:nvSpPr>
        <p:spPr>
          <a:xfrm>
            <a:off x="685800" y="713232"/>
            <a:ext cx="10607040" cy="932688"/>
          </a:xfrm>
          <a:prstGeom prst="rect">
            <a:avLst/>
          </a:prstGeom>
          <a:noFill/>
          <a:ln/>
        </p:spPr>
        <p:txBody>
          <a:bodyPr wrap="square" lIns="0" tIns="0" rIns="0" bIns="0" rtlCol="0" anchor="t"/>
          <a:lstStyle/>
          <a:p>
            <a:pPr indent="0" marL="0">
              <a:lnSpc>
                <a:spcPct val="102000"/>
              </a:lnSpc>
              <a:buNone/>
            </a:pPr>
            <a:r>
              <a:rPr lang="en-US" sz="2900" b="1" dirty="0">
                <a:solidFill>
                  <a:srgbClr val="333D29"/>
                </a:solidFill>
                <a:latin typeface="Cambria" pitchFamily="34" charset="0"/>
                <a:ea typeface="Cambria" pitchFamily="34" charset="-122"/>
                <a:cs typeface="Cambria" pitchFamily="34" charset="-120"/>
              </a:rPr>
              <a:t>A production stack, not a student stack.</a:t>
            </a:r>
            <a:endParaRPr lang="en-US" sz="2900" dirty="0"/>
          </a:p>
        </p:txBody>
      </p:sp>
      <p:sp>
        <p:nvSpPr>
          <p:cNvPr id="4" name="Shape 2"/>
          <p:cNvSpPr/>
          <p:nvPr/>
        </p:nvSpPr>
        <p:spPr>
          <a:xfrm>
            <a:off x="685800" y="1975104"/>
            <a:ext cx="2615184" cy="3529584"/>
          </a:xfrm>
          <a:prstGeom prst="roundRect">
            <a:avLst>
              <a:gd name="adj" fmla="val 3497"/>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5" name="Text 3"/>
          <p:cNvSpPr/>
          <p:nvPr/>
        </p:nvSpPr>
        <p:spPr>
          <a:xfrm>
            <a:off x="923544" y="2212848"/>
            <a:ext cx="2157984" cy="256032"/>
          </a:xfrm>
          <a:prstGeom prst="rect">
            <a:avLst/>
          </a:prstGeom>
          <a:noFill/>
          <a:ln/>
        </p:spPr>
        <p:txBody>
          <a:bodyPr wrap="square" lIns="0" tIns="0" rIns="0" bIns="0" rtlCol="0" anchor="ctr"/>
          <a:lstStyle/>
          <a:p>
            <a:pPr indent="0" marL="0">
              <a:buNone/>
            </a:pPr>
            <a:r>
              <a:rPr lang="en-US" sz="950" b="1" spc="180" kern="0" dirty="0">
                <a:solidFill>
                  <a:srgbClr val="7F4F24"/>
                </a:solidFill>
                <a:latin typeface="Calibri" pitchFamily="34" charset="0"/>
                <a:ea typeface="Calibri" pitchFamily="34" charset="-122"/>
                <a:cs typeface="Calibri" pitchFamily="34" charset="-120"/>
              </a:rPr>
              <a:t>FRONTEND</a:t>
            </a:r>
            <a:endParaRPr lang="en-US" sz="950" dirty="0"/>
          </a:p>
        </p:txBody>
      </p:sp>
      <p:sp>
        <p:nvSpPr>
          <p:cNvPr id="6" name="Shape 4"/>
          <p:cNvSpPr/>
          <p:nvPr/>
        </p:nvSpPr>
        <p:spPr>
          <a:xfrm>
            <a:off x="941832" y="2724912"/>
            <a:ext cx="137160" cy="137160"/>
          </a:xfrm>
          <a:prstGeom prst="ellipse">
            <a:avLst/>
          </a:prstGeom>
          <a:solidFill>
            <a:srgbClr val="7F4F24"/>
          </a:solidFill>
          <a:ln w="12700">
            <a:solidFill>
              <a:srgbClr val="7F4F24"/>
            </a:solidFill>
            <a:prstDash val="solid"/>
          </a:ln>
        </p:spPr>
      </p:sp>
      <p:sp>
        <p:nvSpPr>
          <p:cNvPr id="7" name="Text 5"/>
          <p:cNvSpPr/>
          <p:nvPr/>
        </p:nvSpPr>
        <p:spPr>
          <a:xfrm>
            <a:off x="1197864" y="2596896"/>
            <a:ext cx="1865376" cy="402336"/>
          </a:xfrm>
          <a:prstGeom prst="rect">
            <a:avLst/>
          </a:prstGeom>
          <a:noFill/>
          <a:ln/>
        </p:spPr>
        <p:txBody>
          <a:bodyPr wrap="square" lIns="0" tIns="0" rIns="0" bIns="0" rtlCol="0" anchor="ctr"/>
          <a:lstStyle/>
          <a:p>
            <a:pPr indent="0" marL="0">
              <a:buNone/>
            </a:pPr>
            <a:r>
              <a:rPr lang="en-US" sz="1150" b="1" dirty="0">
                <a:solidFill>
                  <a:srgbClr val="333D29"/>
                </a:solidFill>
                <a:latin typeface="Calibri" pitchFamily="34" charset="0"/>
                <a:ea typeface="Calibri" pitchFamily="34" charset="-122"/>
                <a:cs typeface="Calibri" pitchFamily="34" charset="-120"/>
              </a:rPr>
              <a:t>Next.js 16 App Router</a:t>
            </a:r>
            <a:endParaRPr lang="en-US" sz="1150" dirty="0"/>
          </a:p>
        </p:txBody>
      </p:sp>
      <p:sp>
        <p:nvSpPr>
          <p:cNvPr id="8" name="Shape 6"/>
          <p:cNvSpPr/>
          <p:nvPr/>
        </p:nvSpPr>
        <p:spPr>
          <a:xfrm>
            <a:off x="941832" y="3310128"/>
            <a:ext cx="137160" cy="137160"/>
          </a:xfrm>
          <a:prstGeom prst="ellipse">
            <a:avLst/>
          </a:prstGeom>
          <a:solidFill>
            <a:srgbClr val="A68A64"/>
          </a:solidFill>
          <a:ln w="12700">
            <a:solidFill>
              <a:srgbClr val="A68A64"/>
            </a:solidFill>
            <a:prstDash val="solid"/>
          </a:ln>
        </p:spPr>
      </p:sp>
      <p:sp>
        <p:nvSpPr>
          <p:cNvPr id="9" name="Text 7"/>
          <p:cNvSpPr/>
          <p:nvPr/>
        </p:nvSpPr>
        <p:spPr>
          <a:xfrm>
            <a:off x="1197864" y="3182112"/>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React 19</a:t>
            </a:r>
            <a:endParaRPr lang="en-US" sz="1150" dirty="0"/>
          </a:p>
        </p:txBody>
      </p:sp>
      <p:sp>
        <p:nvSpPr>
          <p:cNvPr id="10" name="Shape 8"/>
          <p:cNvSpPr/>
          <p:nvPr/>
        </p:nvSpPr>
        <p:spPr>
          <a:xfrm>
            <a:off x="941832" y="3895344"/>
            <a:ext cx="137160" cy="137160"/>
          </a:xfrm>
          <a:prstGeom prst="ellipse">
            <a:avLst/>
          </a:prstGeom>
          <a:solidFill>
            <a:srgbClr val="A68A64"/>
          </a:solidFill>
          <a:ln w="12700">
            <a:solidFill>
              <a:srgbClr val="A68A64"/>
            </a:solidFill>
            <a:prstDash val="solid"/>
          </a:ln>
        </p:spPr>
      </p:sp>
      <p:sp>
        <p:nvSpPr>
          <p:cNvPr id="11" name="Text 9"/>
          <p:cNvSpPr/>
          <p:nvPr/>
        </p:nvSpPr>
        <p:spPr>
          <a:xfrm>
            <a:off x="1197864" y="3767328"/>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TypeScript (strict)</a:t>
            </a:r>
            <a:endParaRPr lang="en-US" sz="1150" dirty="0"/>
          </a:p>
        </p:txBody>
      </p:sp>
      <p:sp>
        <p:nvSpPr>
          <p:cNvPr id="12" name="Shape 10"/>
          <p:cNvSpPr/>
          <p:nvPr/>
        </p:nvSpPr>
        <p:spPr>
          <a:xfrm>
            <a:off x="941832" y="4480560"/>
            <a:ext cx="137160" cy="137160"/>
          </a:xfrm>
          <a:prstGeom prst="ellipse">
            <a:avLst/>
          </a:prstGeom>
          <a:solidFill>
            <a:srgbClr val="A68A64"/>
          </a:solidFill>
          <a:ln w="12700">
            <a:solidFill>
              <a:srgbClr val="A68A64"/>
            </a:solidFill>
            <a:prstDash val="solid"/>
          </a:ln>
        </p:spPr>
      </p:sp>
      <p:sp>
        <p:nvSpPr>
          <p:cNvPr id="13" name="Text 11"/>
          <p:cNvSpPr/>
          <p:nvPr/>
        </p:nvSpPr>
        <p:spPr>
          <a:xfrm>
            <a:off x="1197864" y="4352544"/>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Tailwind CSS v4</a:t>
            </a:r>
            <a:endParaRPr lang="en-US" sz="1150" dirty="0"/>
          </a:p>
        </p:txBody>
      </p:sp>
      <p:sp>
        <p:nvSpPr>
          <p:cNvPr id="14" name="Shape 12"/>
          <p:cNvSpPr/>
          <p:nvPr/>
        </p:nvSpPr>
        <p:spPr>
          <a:xfrm>
            <a:off x="941832" y="5065776"/>
            <a:ext cx="137160" cy="137160"/>
          </a:xfrm>
          <a:prstGeom prst="ellipse">
            <a:avLst/>
          </a:prstGeom>
          <a:solidFill>
            <a:srgbClr val="A68A64"/>
          </a:solidFill>
          <a:ln w="12700">
            <a:solidFill>
              <a:srgbClr val="A68A64"/>
            </a:solidFill>
            <a:prstDash val="solid"/>
          </a:ln>
        </p:spPr>
      </p:sp>
      <p:sp>
        <p:nvSpPr>
          <p:cNvPr id="15" name="Text 13"/>
          <p:cNvSpPr/>
          <p:nvPr/>
        </p:nvSpPr>
        <p:spPr>
          <a:xfrm>
            <a:off x="1197864" y="4937760"/>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Framer Motion</a:t>
            </a:r>
            <a:endParaRPr lang="en-US" sz="1150" dirty="0"/>
          </a:p>
        </p:txBody>
      </p:sp>
      <p:sp>
        <p:nvSpPr>
          <p:cNvPr id="16" name="Shape 14"/>
          <p:cNvSpPr/>
          <p:nvPr/>
        </p:nvSpPr>
        <p:spPr>
          <a:xfrm>
            <a:off x="3584448" y="1975104"/>
            <a:ext cx="2615184" cy="3529584"/>
          </a:xfrm>
          <a:prstGeom prst="roundRect">
            <a:avLst>
              <a:gd name="adj" fmla="val 3497"/>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17" name="Text 15"/>
          <p:cNvSpPr/>
          <p:nvPr/>
        </p:nvSpPr>
        <p:spPr>
          <a:xfrm>
            <a:off x="3822192" y="2212848"/>
            <a:ext cx="2157984" cy="256032"/>
          </a:xfrm>
          <a:prstGeom prst="rect">
            <a:avLst/>
          </a:prstGeom>
          <a:noFill/>
          <a:ln/>
        </p:spPr>
        <p:txBody>
          <a:bodyPr wrap="square" lIns="0" tIns="0" rIns="0" bIns="0" rtlCol="0" anchor="ctr"/>
          <a:lstStyle/>
          <a:p>
            <a:pPr indent="0" marL="0">
              <a:buNone/>
            </a:pPr>
            <a:r>
              <a:rPr lang="en-US" sz="950" b="1" spc="180" kern="0" dirty="0">
                <a:solidFill>
                  <a:srgbClr val="7F4F24"/>
                </a:solidFill>
                <a:latin typeface="Calibri" pitchFamily="34" charset="0"/>
                <a:ea typeface="Calibri" pitchFamily="34" charset="-122"/>
                <a:cs typeface="Calibri" pitchFamily="34" charset="-120"/>
              </a:rPr>
              <a:t>DATA</a:t>
            </a:r>
            <a:endParaRPr lang="en-US" sz="950" dirty="0"/>
          </a:p>
        </p:txBody>
      </p:sp>
      <p:sp>
        <p:nvSpPr>
          <p:cNvPr id="18" name="Shape 16"/>
          <p:cNvSpPr/>
          <p:nvPr/>
        </p:nvSpPr>
        <p:spPr>
          <a:xfrm>
            <a:off x="3840480" y="2724912"/>
            <a:ext cx="137160" cy="137160"/>
          </a:xfrm>
          <a:prstGeom prst="ellipse">
            <a:avLst/>
          </a:prstGeom>
          <a:solidFill>
            <a:srgbClr val="7F4F24"/>
          </a:solidFill>
          <a:ln w="12700">
            <a:solidFill>
              <a:srgbClr val="7F4F24"/>
            </a:solidFill>
            <a:prstDash val="solid"/>
          </a:ln>
        </p:spPr>
      </p:sp>
      <p:sp>
        <p:nvSpPr>
          <p:cNvPr id="19" name="Text 17"/>
          <p:cNvSpPr/>
          <p:nvPr/>
        </p:nvSpPr>
        <p:spPr>
          <a:xfrm>
            <a:off x="4096512" y="2596896"/>
            <a:ext cx="1865376" cy="402336"/>
          </a:xfrm>
          <a:prstGeom prst="rect">
            <a:avLst/>
          </a:prstGeom>
          <a:noFill/>
          <a:ln/>
        </p:spPr>
        <p:txBody>
          <a:bodyPr wrap="square" lIns="0" tIns="0" rIns="0" bIns="0" rtlCol="0" anchor="ctr"/>
          <a:lstStyle/>
          <a:p>
            <a:pPr indent="0" marL="0">
              <a:buNone/>
            </a:pPr>
            <a:r>
              <a:rPr lang="en-US" sz="1150" b="1" dirty="0">
                <a:solidFill>
                  <a:srgbClr val="333D29"/>
                </a:solidFill>
                <a:latin typeface="Calibri" pitchFamily="34" charset="0"/>
                <a:ea typeface="Calibri" pitchFamily="34" charset="-122"/>
                <a:cs typeface="Calibri" pitchFamily="34" charset="-120"/>
              </a:rPr>
              <a:t>Supabase Postgres</a:t>
            </a:r>
            <a:endParaRPr lang="en-US" sz="1150" dirty="0"/>
          </a:p>
        </p:txBody>
      </p:sp>
      <p:sp>
        <p:nvSpPr>
          <p:cNvPr id="20" name="Shape 18"/>
          <p:cNvSpPr/>
          <p:nvPr/>
        </p:nvSpPr>
        <p:spPr>
          <a:xfrm>
            <a:off x="3840480" y="3310128"/>
            <a:ext cx="137160" cy="137160"/>
          </a:xfrm>
          <a:prstGeom prst="ellipse">
            <a:avLst/>
          </a:prstGeom>
          <a:solidFill>
            <a:srgbClr val="A68A64"/>
          </a:solidFill>
          <a:ln w="12700">
            <a:solidFill>
              <a:srgbClr val="A68A64"/>
            </a:solidFill>
            <a:prstDash val="solid"/>
          </a:ln>
        </p:spPr>
      </p:sp>
      <p:sp>
        <p:nvSpPr>
          <p:cNvPr id="21" name="Text 19"/>
          <p:cNvSpPr/>
          <p:nvPr/>
        </p:nvSpPr>
        <p:spPr>
          <a:xfrm>
            <a:off x="4096512" y="3182112"/>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27 tables, 25 migrations</a:t>
            </a:r>
            <a:endParaRPr lang="en-US" sz="1150" dirty="0"/>
          </a:p>
        </p:txBody>
      </p:sp>
      <p:sp>
        <p:nvSpPr>
          <p:cNvPr id="22" name="Shape 20"/>
          <p:cNvSpPr/>
          <p:nvPr/>
        </p:nvSpPr>
        <p:spPr>
          <a:xfrm>
            <a:off x="3840480" y="3895344"/>
            <a:ext cx="137160" cy="137160"/>
          </a:xfrm>
          <a:prstGeom prst="ellipse">
            <a:avLst/>
          </a:prstGeom>
          <a:solidFill>
            <a:srgbClr val="A68A64"/>
          </a:solidFill>
          <a:ln w="12700">
            <a:solidFill>
              <a:srgbClr val="A68A64"/>
            </a:solidFill>
            <a:prstDash val="solid"/>
          </a:ln>
        </p:spPr>
      </p:sp>
      <p:sp>
        <p:nvSpPr>
          <p:cNvPr id="23" name="Text 21"/>
          <p:cNvSpPr/>
          <p:nvPr/>
        </p:nvSpPr>
        <p:spPr>
          <a:xfrm>
            <a:off x="4096512" y="3767328"/>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Supabase Storage</a:t>
            </a:r>
            <a:endParaRPr lang="en-US" sz="1150" dirty="0"/>
          </a:p>
        </p:txBody>
      </p:sp>
      <p:sp>
        <p:nvSpPr>
          <p:cNvPr id="24" name="Shape 22"/>
          <p:cNvSpPr/>
          <p:nvPr/>
        </p:nvSpPr>
        <p:spPr>
          <a:xfrm>
            <a:off x="3840480" y="4480560"/>
            <a:ext cx="137160" cy="137160"/>
          </a:xfrm>
          <a:prstGeom prst="ellipse">
            <a:avLst/>
          </a:prstGeom>
          <a:solidFill>
            <a:srgbClr val="A68A64"/>
          </a:solidFill>
          <a:ln w="12700">
            <a:solidFill>
              <a:srgbClr val="A68A64"/>
            </a:solidFill>
            <a:prstDash val="solid"/>
          </a:ln>
        </p:spPr>
      </p:sp>
      <p:sp>
        <p:nvSpPr>
          <p:cNvPr id="25" name="Text 23"/>
          <p:cNvSpPr/>
          <p:nvPr/>
        </p:nvSpPr>
        <p:spPr>
          <a:xfrm>
            <a:off x="4096512" y="4352544"/>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Generated DB types</a:t>
            </a:r>
            <a:endParaRPr lang="en-US" sz="1150" dirty="0"/>
          </a:p>
        </p:txBody>
      </p:sp>
      <p:sp>
        <p:nvSpPr>
          <p:cNvPr id="26" name="Shape 24"/>
          <p:cNvSpPr/>
          <p:nvPr/>
        </p:nvSpPr>
        <p:spPr>
          <a:xfrm>
            <a:off x="3840480" y="5065776"/>
            <a:ext cx="137160" cy="137160"/>
          </a:xfrm>
          <a:prstGeom prst="ellipse">
            <a:avLst/>
          </a:prstGeom>
          <a:solidFill>
            <a:srgbClr val="A68A64"/>
          </a:solidFill>
          <a:ln w="12700">
            <a:solidFill>
              <a:srgbClr val="A68A64"/>
            </a:solidFill>
            <a:prstDash val="solid"/>
          </a:ln>
        </p:spPr>
      </p:sp>
      <p:sp>
        <p:nvSpPr>
          <p:cNvPr id="27" name="Text 25"/>
          <p:cNvSpPr/>
          <p:nvPr/>
        </p:nvSpPr>
        <p:spPr>
          <a:xfrm>
            <a:off x="4096512" y="4937760"/>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SQL constraints</a:t>
            </a:r>
            <a:endParaRPr lang="en-US" sz="1150" dirty="0"/>
          </a:p>
        </p:txBody>
      </p:sp>
      <p:sp>
        <p:nvSpPr>
          <p:cNvPr id="28" name="Shape 26"/>
          <p:cNvSpPr/>
          <p:nvPr/>
        </p:nvSpPr>
        <p:spPr>
          <a:xfrm>
            <a:off x="6483096" y="1975104"/>
            <a:ext cx="2615184" cy="3529584"/>
          </a:xfrm>
          <a:prstGeom prst="roundRect">
            <a:avLst>
              <a:gd name="adj" fmla="val 3497"/>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29" name="Text 27"/>
          <p:cNvSpPr/>
          <p:nvPr/>
        </p:nvSpPr>
        <p:spPr>
          <a:xfrm>
            <a:off x="6720840" y="2212848"/>
            <a:ext cx="2157984" cy="256032"/>
          </a:xfrm>
          <a:prstGeom prst="rect">
            <a:avLst/>
          </a:prstGeom>
          <a:noFill/>
          <a:ln/>
        </p:spPr>
        <p:txBody>
          <a:bodyPr wrap="square" lIns="0" tIns="0" rIns="0" bIns="0" rtlCol="0" anchor="ctr"/>
          <a:lstStyle/>
          <a:p>
            <a:pPr indent="0" marL="0">
              <a:buNone/>
            </a:pPr>
            <a:r>
              <a:rPr lang="en-US" sz="950" b="1" spc="180" kern="0" dirty="0">
                <a:solidFill>
                  <a:srgbClr val="7F4F24"/>
                </a:solidFill>
                <a:latin typeface="Calibri" pitchFamily="34" charset="0"/>
                <a:ea typeface="Calibri" pitchFamily="34" charset="-122"/>
                <a:cs typeface="Calibri" pitchFamily="34" charset="-120"/>
              </a:rPr>
              <a:t>AUTH &amp; SECURITY</a:t>
            </a:r>
            <a:endParaRPr lang="en-US" sz="950" dirty="0"/>
          </a:p>
        </p:txBody>
      </p:sp>
      <p:sp>
        <p:nvSpPr>
          <p:cNvPr id="30" name="Shape 28"/>
          <p:cNvSpPr/>
          <p:nvPr/>
        </p:nvSpPr>
        <p:spPr>
          <a:xfrm>
            <a:off x="6739128" y="2724912"/>
            <a:ext cx="137160" cy="137160"/>
          </a:xfrm>
          <a:prstGeom prst="ellipse">
            <a:avLst/>
          </a:prstGeom>
          <a:solidFill>
            <a:srgbClr val="7F4F24"/>
          </a:solidFill>
          <a:ln w="12700">
            <a:solidFill>
              <a:srgbClr val="7F4F24"/>
            </a:solidFill>
            <a:prstDash val="solid"/>
          </a:ln>
        </p:spPr>
      </p:sp>
      <p:sp>
        <p:nvSpPr>
          <p:cNvPr id="31" name="Text 29"/>
          <p:cNvSpPr/>
          <p:nvPr/>
        </p:nvSpPr>
        <p:spPr>
          <a:xfrm>
            <a:off x="6995160" y="2596896"/>
            <a:ext cx="1865376" cy="402336"/>
          </a:xfrm>
          <a:prstGeom prst="rect">
            <a:avLst/>
          </a:prstGeom>
          <a:noFill/>
          <a:ln/>
        </p:spPr>
        <p:txBody>
          <a:bodyPr wrap="square" lIns="0" tIns="0" rIns="0" bIns="0" rtlCol="0" anchor="ctr"/>
          <a:lstStyle/>
          <a:p>
            <a:pPr indent="0" marL="0">
              <a:buNone/>
            </a:pPr>
            <a:r>
              <a:rPr lang="en-US" sz="1150" b="1" dirty="0">
                <a:solidFill>
                  <a:srgbClr val="333D29"/>
                </a:solidFill>
                <a:latin typeface="Calibri" pitchFamily="34" charset="0"/>
                <a:ea typeface="Calibri" pitchFamily="34" charset="-122"/>
                <a:cs typeface="Calibri" pitchFamily="34" charset="-120"/>
              </a:rPr>
              <a:t>Clerk authentication</a:t>
            </a:r>
            <a:endParaRPr lang="en-US" sz="1150" dirty="0"/>
          </a:p>
        </p:txBody>
      </p:sp>
      <p:sp>
        <p:nvSpPr>
          <p:cNvPr id="32" name="Shape 30"/>
          <p:cNvSpPr/>
          <p:nvPr/>
        </p:nvSpPr>
        <p:spPr>
          <a:xfrm>
            <a:off x="6739128" y="3310128"/>
            <a:ext cx="137160" cy="137160"/>
          </a:xfrm>
          <a:prstGeom prst="ellipse">
            <a:avLst/>
          </a:prstGeom>
          <a:solidFill>
            <a:srgbClr val="A68A64"/>
          </a:solidFill>
          <a:ln w="12700">
            <a:solidFill>
              <a:srgbClr val="A68A64"/>
            </a:solidFill>
            <a:prstDash val="solid"/>
          </a:ln>
        </p:spPr>
      </p:sp>
      <p:sp>
        <p:nvSpPr>
          <p:cNvPr id="33" name="Text 31"/>
          <p:cNvSpPr/>
          <p:nvPr/>
        </p:nvSpPr>
        <p:spPr>
          <a:xfrm>
            <a:off x="6995160" y="3182112"/>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Webhook role sync</a:t>
            </a:r>
            <a:endParaRPr lang="en-US" sz="1150" dirty="0"/>
          </a:p>
        </p:txBody>
      </p:sp>
      <p:sp>
        <p:nvSpPr>
          <p:cNvPr id="34" name="Shape 32"/>
          <p:cNvSpPr/>
          <p:nvPr/>
        </p:nvSpPr>
        <p:spPr>
          <a:xfrm>
            <a:off x="6739128" y="3895344"/>
            <a:ext cx="137160" cy="137160"/>
          </a:xfrm>
          <a:prstGeom prst="ellipse">
            <a:avLst/>
          </a:prstGeom>
          <a:solidFill>
            <a:srgbClr val="A68A64"/>
          </a:solidFill>
          <a:ln w="12700">
            <a:solidFill>
              <a:srgbClr val="A68A64"/>
            </a:solidFill>
            <a:prstDash val="solid"/>
          </a:ln>
        </p:spPr>
      </p:sp>
      <p:sp>
        <p:nvSpPr>
          <p:cNvPr id="35" name="Text 33"/>
          <p:cNvSpPr/>
          <p:nvPr/>
        </p:nvSpPr>
        <p:spPr>
          <a:xfrm>
            <a:off x="6995160" y="3767328"/>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Row Level Security</a:t>
            </a:r>
            <a:endParaRPr lang="en-US" sz="1150" dirty="0"/>
          </a:p>
        </p:txBody>
      </p:sp>
      <p:sp>
        <p:nvSpPr>
          <p:cNvPr id="36" name="Shape 34"/>
          <p:cNvSpPr/>
          <p:nvPr/>
        </p:nvSpPr>
        <p:spPr>
          <a:xfrm>
            <a:off x="6739128" y="4480560"/>
            <a:ext cx="137160" cy="137160"/>
          </a:xfrm>
          <a:prstGeom prst="ellipse">
            <a:avLst/>
          </a:prstGeom>
          <a:solidFill>
            <a:srgbClr val="A68A64"/>
          </a:solidFill>
          <a:ln w="12700">
            <a:solidFill>
              <a:srgbClr val="A68A64"/>
            </a:solidFill>
            <a:prstDash val="solid"/>
          </a:ln>
        </p:spPr>
      </p:sp>
      <p:sp>
        <p:nvSpPr>
          <p:cNvPr id="37" name="Text 35"/>
          <p:cNvSpPr/>
          <p:nvPr/>
        </p:nvSpPr>
        <p:spPr>
          <a:xfrm>
            <a:off x="6995160" y="4352544"/>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Server-side ownership</a:t>
            </a:r>
            <a:endParaRPr lang="en-US" sz="1150" dirty="0"/>
          </a:p>
        </p:txBody>
      </p:sp>
      <p:sp>
        <p:nvSpPr>
          <p:cNvPr id="38" name="Shape 36"/>
          <p:cNvSpPr/>
          <p:nvPr/>
        </p:nvSpPr>
        <p:spPr>
          <a:xfrm>
            <a:off x="6739128" y="5065776"/>
            <a:ext cx="137160" cy="137160"/>
          </a:xfrm>
          <a:prstGeom prst="ellipse">
            <a:avLst/>
          </a:prstGeom>
          <a:solidFill>
            <a:srgbClr val="A68A64"/>
          </a:solidFill>
          <a:ln w="12700">
            <a:solidFill>
              <a:srgbClr val="A68A64"/>
            </a:solidFill>
            <a:prstDash val="solid"/>
          </a:ln>
        </p:spPr>
      </p:sp>
      <p:sp>
        <p:nvSpPr>
          <p:cNvPr id="39" name="Text 37"/>
          <p:cNvSpPr/>
          <p:nvPr/>
        </p:nvSpPr>
        <p:spPr>
          <a:xfrm>
            <a:off x="6995160" y="4937760"/>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Self-audited routes</a:t>
            </a:r>
            <a:endParaRPr lang="en-US" sz="1150" dirty="0"/>
          </a:p>
        </p:txBody>
      </p:sp>
      <p:sp>
        <p:nvSpPr>
          <p:cNvPr id="40" name="Shape 38"/>
          <p:cNvSpPr/>
          <p:nvPr/>
        </p:nvSpPr>
        <p:spPr>
          <a:xfrm>
            <a:off x="9381744" y="1975104"/>
            <a:ext cx="2615184" cy="3529584"/>
          </a:xfrm>
          <a:prstGeom prst="roundRect">
            <a:avLst>
              <a:gd name="adj" fmla="val 3497"/>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41" name="Text 39"/>
          <p:cNvSpPr/>
          <p:nvPr/>
        </p:nvSpPr>
        <p:spPr>
          <a:xfrm>
            <a:off x="9619488" y="2212848"/>
            <a:ext cx="2157984" cy="256032"/>
          </a:xfrm>
          <a:prstGeom prst="rect">
            <a:avLst/>
          </a:prstGeom>
          <a:noFill/>
          <a:ln/>
        </p:spPr>
        <p:txBody>
          <a:bodyPr wrap="square" lIns="0" tIns="0" rIns="0" bIns="0" rtlCol="0" anchor="ctr"/>
          <a:lstStyle/>
          <a:p>
            <a:pPr indent="0" marL="0">
              <a:buNone/>
            </a:pPr>
            <a:r>
              <a:rPr lang="en-US" sz="950" b="1" spc="180" kern="0" dirty="0">
                <a:solidFill>
                  <a:srgbClr val="7F4F24"/>
                </a:solidFill>
                <a:latin typeface="Calibri" pitchFamily="34" charset="0"/>
                <a:ea typeface="Calibri" pitchFamily="34" charset="-122"/>
                <a:cs typeface="Calibri" pitchFamily="34" charset="-120"/>
              </a:rPr>
              <a:t>DELIVERY</a:t>
            </a:r>
            <a:endParaRPr lang="en-US" sz="950" dirty="0"/>
          </a:p>
        </p:txBody>
      </p:sp>
      <p:sp>
        <p:nvSpPr>
          <p:cNvPr id="42" name="Shape 40"/>
          <p:cNvSpPr/>
          <p:nvPr/>
        </p:nvSpPr>
        <p:spPr>
          <a:xfrm>
            <a:off x="9637776" y="2724912"/>
            <a:ext cx="137160" cy="137160"/>
          </a:xfrm>
          <a:prstGeom prst="ellipse">
            <a:avLst/>
          </a:prstGeom>
          <a:solidFill>
            <a:srgbClr val="7F4F24"/>
          </a:solidFill>
          <a:ln w="12700">
            <a:solidFill>
              <a:srgbClr val="7F4F24"/>
            </a:solidFill>
            <a:prstDash val="solid"/>
          </a:ln>
        </p:spPr>
      </p:sp>
      <p:sp>
        <p:nvSpPr>
          <p:cNvPr id="43" name="Text 41"/>
          <p:cNvSpPr/>
          <p:nvPr/>
        </p:nvSpPr>
        <p:spPr>
          <a:xfrm>
            <a:off x="9893808" y="2596896"/>
            <a:ext cx="1865376" cy="402336"/>
          </a:xfrm>
          <a:prstGeom prst="rect">
            <a:avLst/>
          </a:prstGeom>
          <a:noFill/>
          <a:ln/>
        </p:spPr>
        <p:txBody>
          <a:bodyPr wrap="square" lIns="0" tIns="0" rIns="0" bIns="0" rtlCol="0" anchor="ctr"/>
          <a:lstStyle/>
          <a:p>
            <a:pPr indent="0" marL="0">
              <a:buNone/>
            </a:pPr>
            <a:r>
              <a:rPr lang="en-US" sz="1150" b="1" dirty="0">
                <a:solidFill>
                  <a:srgbClr val="333D29"/>
                </a:solidFill>
                <a:latin typeface="Calibri" pitchFamily="34" charset="0"/>
                <a:ea typeface="Calibri" pitchFamily="34" charset="-122"/>
                <a:cs typeface="Calibri" pitchFamily="34" charset="-120"/>
              </a:rPr>
              <a:t>Vercel CI/CD</a:t>
            </a:r>
            <a:endParaRPr lang="en-US" sz="1150" dirty="0"/>
          </a:p>
        </p:txBody>
      </p:sp>
      <p:sp>
        <p:nvSpPr>
          <p:cNvPr id="44" name="Shape 42"/>
          <p:cNvSpPr/>
          <p:nvPr/>
        </p:nvSpPr>
        <p:spPr>
          <a:xfrm>
            <a:off x="9637776" y="3310128"/>
            <a:ext cx="137160" cy="137160"/>
          </a:xfrm>
          <a:prstGeom prst="ellipse">
            <a:avLst/>
          </a:prstGeom>
          <a:solidFill>
            <a:srgbClr val="A68A64"/>
          </a:solidFill>
          <a:ln w="12700">
            <a:solidFill>
              <a:srgbClr val="A68A64"/>
            </a:solidFill>
            <a:prstDash val="solid"/>
          </a:ln>
        </p:spPr>
      </p:sp>
      <p:sp>
        <p:nvSpPr>
          <p:cNvPr id="45" name="Text 43"/>
          <p:cNvSpPr/>
          <p:nvPr/>
        </p:nvSpPr>
        <p:spPr>
          <a:xfrm>
            <a:off x="9893808" y="3182112"/>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Git branch workflow</a:t>
            </a:r>
            <a:endParaRPr lang="en-US" sz="1150" dirty="0"/>
          </a:p>
        </p:txBody>
      </p:sp>
      <p:sp>
        <p:nvSpPr>
          <p:cNvPr id="46" name="Shape 44"/>
          <p:cNvSpPr/>
          <p:nvPr/>
        </p:nvSpPr>
        <p:spPr>
          <a:xfrm>
            <a:off x="9637776" y="3895344"/>
            <a:ext cx="137160" cy="137160"/>
          </a:xfrm>
          <a:prstGeom prst="ellipse">
            <a:avLst/>
          </a:prstGeom>
          <a:solidFill>
            <a:srgbClr val="A68A64"/>
          </a:solidFill>
          <a:ln w="12700">
            <a:solidFill>
              <a:srgbClr val="A68A64"/>
            </a:solidFill>
            <a:prstDash val="solid"/>
          </a:ln>
        </p:spPr>
      </p:sp>
      <p:sp>
        <p:nvSpPr>
          <p:cNvPr id="47" name="Text 45"/>
          <p:cNvSpPr/>
          <p:nvPr/>
        </p:nvSpPr>
        <p:spPr>
          <a:xfrm>
            <a:off x="9893808" y="3767328"/>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ESLint + tsc gates</a:t>
            </a:r>
            <a:endParaRPr lang="en-US" sz="1150" dirty="0"/>
          </a:p>
        </p:txBody>
      </p:sp>
      <p:sp>
        <p:nvSpPr>
          <p:cNvPr id="48" name="Shape 46"/>
          <p:cNvSpPr/>
          <p:nvPr/>
        </p:nvSpPr>
        <p:spPr>
          <a:xfrm>
            <a:off x="9637776" y="4480560"/>
            <a:ext cx="137160" cy="137160"/>
          </a:xfrm>
          <a:prstGeom prst="ellipse">
            <a:avLst/>
          </a:prstGeom>
          <a:solidFill>
            <a:srgbClr val="A68A64"/>
          </a:solidFill>
          <a:ln w="12700">
            <a:solidFill>
              <a:srgbClr val="A68A64"/>
            </a:solidFill>
            <a:prstDash val="solid"/>
          </a:ln>
        </p:spPr>
      </p:sp>
      <p:sp>
        <p:nvSpPr>
          <p:cNvPr id="49" name="Text 47"/>
          <p:cNvSpPr/>
          <p:nvPr/>
        </p:nvSpPr>
        <p:spPr>
          <a:xfrm>
            <a:off x="9893808" y="4352544"/>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Scripted migrations</a:t>
            </a:r>
            <a:endParaRPr lang="en-US" sz="1150" dirty="0"/>
          </a:p>
        </p:txBody>
      </p:sp>
      <p:sp>
        <p:nvSpPr>
          <p:cNvPr id="50" name="Shape 48"/>
          <p:cNvSpPr/>
          <p:nvPr/>
        </p:nvSpPr>
        <p:spPr>
          <a:xfrm>
            <a:off x="9637776" y="5065776"/>
            <a:ext cx="137160" cy="137160"/>
          </a:xfrm>
          <a:prstGeom prst="ellipse">
            <a:avLst/>
          </a:prstGeom>
          <a:solidFill>
            <a:srgbClr val="A68A64"/>
          </a:solidFill>
          <a:ln w="12700">
            <a:solidFill>
              <a:srgbClr val="A68A64"/>
            </a:solidFill>
            <a:prstDash val="solid"/>
          </a:ln>
        </p:spPr>
      </p:sp>
      <p:sp>
        <p:nvSpPr>
          <p:cNvPr id="51" name="Text 49"/>
          <p:cNvSpPr/>
          <p:nvPr/>
        </p:nvSpPr>
        <p:spPr>
          <a:xfrm>
            <a:off x="9893808" y="4937760"/>
            <a:ext cx="1865376" cy="402336"/>
          </a:xfrm>
          <a:prstGeom prst="rect">
            <a:avLst/>
          </a:prstGeom>
          <a:noFill/>
          <a:ln/>
        </p:spPr>
        <p:txBody>
          <a:bodyPr wrap="square" lIns="0" tIns="0" rIns="0" bIns="0" rtlCol="0" anchor="ctr"/>
          <a:lstStyle/>
          <a:p>
            <a:pPr indent="0" marL="0">
              <a:buNone/>
            </a:pPr>
            <a:r>
              <a:rPr lang="en-US" sz="1150" dirty="0">
                <a:solidFill>
                  <a:srgbClr val="656D4A"/>
                </a:solidFill>
                <a:latin typeface="Calibri" pitchFamily="34" charset="0"/>
                <a:ea typeface="Calibri" pitchFamily="34" charset="-122"/>
                <a:cs typeface="Calibri" pitchFamily="34" charset="-120"/>
              </a:rPr>
              <a:t>AI-assisted development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402336"/>
            <a:ext cx="10817352" cy="237744"/>
          </a:xfrm>
          <a:prstGeom prst="rect">
            <a:avLst/>
          </a:prstGeom>
          <a:noFill/>
          <a:ln/>
        </p:spPr>
        <p:txBody>
          <a:bodyPr wrap="square" lIns="0" tIns="0" rIns="0" bIns="0" rtlCol="0" anchor="ctr"/>
          <a:lstStyle/>
          <a:p>
            <a:pPr indent="0" marL="0">
              <a:buNone/>
            </a:pPr>
            <a:r>
              <a:rPr lang="en-US" sz="1050" b="1" spc="260" kern="0" dirty="0">
                <a:solidFill>
                  <a:srgbClr val="7F4F24"/>
                </a:solidFill>
                <a:latin typeface="Calibri" pitchFamily="34" charset="0"/>
                <a:ea typeface="Calibri" pitchFamily="34" charset="-122"/>
                <a:cs typeface="Calibri" pitchFamily="34" charset="-120"/>
              </a:rPr>
              <a:t>06 · SKILLS GAINED &amp; CHALLENGES FACED</a:t>
            </a:r>
            <a:endParaRPr lang="en-US" sz="1050" dirty="0"/>
          </a:p>
        </p:txBody>
      </p:sp>
      <p:sp>
        <p:nvSpPr>
          <p:cNvPr id="3" name="Text 1"/>
          <p:cNvSpPr/>
          <p:nvPr/>
        </p:nvSpPr>
        <p:spPr>
          <a:xfrm>
            <a:off x="685800" y="713232"/>
            <a:ext cx="10607040" cy="932688"/>
          </a:xfrm>
          <a:prstGeom prst="rect">
            <a:avLst/>
          </a:prstGeom>
          <a:noFill/>
          <a:ln/>
        </p:spPr>
        <p:txBody>
          <a:bodyPr wrap="square" lIns="0" tIns="0" rIns="0" bIns="0" rtlCol="0" anchor="t"/>
          <a:lstStyle/>
          <a:p>
            <a:pPr indent="0" marL="0">
              <a:lnSpc>
                <a:spcPct val="102000"/>
              </a:lnSpc>
              <a:buNone/>
            </a:pPr>
            <a:r>
              <a:rPr lang="en-US" sz="2900" b="1" dirty="0">
                <a:solidFill>
                  <a:srgbClr val="333D29"/>
                </a:solidFill>
                <a:latin typeface="Cambria" pitchFamily="34" charset="0"/>
                <a:ea typeface="Cambria" pitchFamily="34" charset="-122"/>
                <a:cs typeface="Cambria" pitchFamily="34" charset="-120"/>
              </a:rPr>
              <a:t>What the work taught me — and what fought back.</a:t>
            </a:r>
            <a:endParaRPr lang="en-US" sz="2900" dirty="0"/>
          </a:p>
        </p:txBody>
      </p:sp>
      <p:sp>
        <p:nvSpPr>
          <p:cNvPr id="4" name="Shape 2"/>
          <p:cNvSpPr/>
          <p:nvPr/>
        </p:nvSpPr>
        <p:spPr>
          <a:xfrm>
            <a:off x="685800" y="2048256"/>
            <a:ext cx="5029200" cy="3877056"/>
          </a:xfrm>
          <a:prstGeom prst="roundRect">
            <a:avLst>
              <a:gd name="adj" fmla="val 2358"/>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5" name="Text 3"/>
          <p:cNvSpPr/>
          <p:nvPr/>
        </p:nvSpPr>
        <p:spPr>
          <a:xfrm>
            <a:off x="960120" y="2286000"/>
            <a:ext cx="4480560" cy="256032"/>
          </a:xfrm>
          <a:prstGeom prst="rect">
            <a:avLst/>
          </a:prstGeom>
          <a:noFill/>
          <a:ln/>
        </p:spPr>
        <p:txBody>
          <a:bodyPr wrap="square" lIns="0" tIns="0" rIns="0" bIns="0" rtlCol="0" anchor="ctr"/>
          <a:lstStyle/>
          <a:p>
            <a:pPr indent="0" marL="0">
              <a:buNone/>
            </a:pPr>
            <a:r>
              <a:rPr lang="en-US" sz="950" b="1" spc="180" kern="0" dirty="0">
                <a:solidFill>
                  <a:srgbClr val="7F4F24"/>
                </a:solidFill>
                <a:latin typeface="Calibri" pitchFamily="34" charset="0"/>
                <a:ea typeface="Calibri" pitchFamily="34" charset="-122"/>
                <a:cs typeface="Calibri" pitchFamily="34" charset="-120"/>
              </a:rPr>
              <a:t>SKILLS I GAINED</a:t>
            </a:r>
            <a:endParaRPr lang="en-US" sz="950" dirty="0"/>
          </a:p>
        </p:txBody>
      </p:sp>
      <p:sp>
        <p:nvSpPr>
          <p:cNvPr id="6" name="Shape 4"/>
          <p:cNvSpPr/>
          <p:nvPr/>
        </p:nvSpPr>
        <p:spPr>
          <a:xfrm>
            <a:off x="960120" y="2752344"/>
            <a:ext cx="137160" cy="137160"/>
          </a:xfrm>
          <a:prstGeom prst="ellipse">
            <a:avLst/>
          </a:prstGeom>
          <a:solidFill>
            <a:srgbClr val="A68A64"/>
          </a:solidFill>
          <a:ln w="12700">
            <a:solidFill>
              <a:srgbClr val="A68A64"/>
            </a:solidFill>
            <a:prstDash val="solid"/>
          </a:ln>
        </p:spPr>
      </p:sp>
      <p:sp>
        <p:nvSpPr>
          <p:cNvPr id="7" name="Text 5"/>
          <p:cNvSpPr/>
          <p:nvPr/>
        </p:nvSpPr>
        <p:spPr>
          <a:xfrm>
            <a:off x="1225296" y="2633472"/>
            <a:ext cx="420624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Full-stack product engineering</a:t>
            </a:r>
            <a:endParaRPr lang="en-US" sz="1200" dirty="0"/>
          </a:p>
        </p:txBody>
      </p:sp>
      <p:sp>
        <p:nvSpPr>
          <p:cNvPr id="8" name="Text 6"/>
          <p:cNvSpPr/>
          <p:nvPr/>
        </p:nvSpPr>
        <p:spPr>
          <a:xfrm>
            <a:off x="1225296" y="2852928"/>
            <a:ext cx="4206240" cy="237744"/>
          </a:xfrm>
          <a:prstGeom prst="rect">
            <a:avLst/>
          </a:prstGeom>
          <a:noFill/>
          <a:ln/>
        </p:spPr>
        <p:txBody>
          <a:bodyPr wrap="square" lIns="0" tIns="0" rIns="0" bIns="0" rtlCol="0" anchor="ctr"/>
          <a:lstStyle/>
          <a:p>
            <a:pPr indent="0" marL="0">
              <a:buNone/>
            </a:pPr>
            <a:r>
              <a:rPr lang="en-US" sz="1000" i="1" dirty="0">
                <a:solidFill>
                  <a:srgbClr val="656D4A"/>
                </a:solidFill>
                <a:latin typeface="Calibri" pitchFamily="34" charset="0"/>
                <a:ea typeface="Calibri" pitchFamily="34" charset="-122"/>
                <a:cs typeface="Calibri" pitchFamily="34" charset="-120"/>
              </a:rPr>
              <a:t>from schema to interface, alone</a:t>
            </a:r>
            <a:endParaRPr lang="en-US" sz="1000" dirty="0"/>
          </a:p>
        </p:txBody>
      </p:sp>
      <p:sp>
        <p:nvSpPr>
          <p:cNvPr id="9" name="Shape 7"/>
          <p:cNvSpPr/>
          <p:nvPr/>
        </p:nvSpPr>
        <p:spPr>
          <a:xfrm>
            <a:off x="960120" y="3300984"/>
            <a:ext cx="137160" cy="137160"/>
          </a:xfrm>
          <a:prstGeom prst="ellipse">
            <a:avLst/>
          </a:prstGeom>
          <a:solidFill>
            <a:srgbClr val="A68A64"/>
          </a:solidFill>
          <a:ln w="12700">
            <a:solidFill>
              <a:srgbClr val="A68A64"/>
            </a:solidFill>
            <a:prstDash val="solid"/>
          </a:ln>
        </p:spPr>
      </p:sp>
      <p:sp>
        <p:nvSpPr>
          <p:cNvPr id="10" name="Text 8"/>
          <p:cNvSpPr/>
          <p:nvPr/>
        </p:nvSpPr>
        <p:spPr>
          <a:xfrm>
            <a:off x="1225296" y="3182112"/>
            <a:ext cx="420624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Relational data modelling</a:t>
            </a:r>
            <a:endParaRPr lang="en-US" sz="1200" dirty="0"/>
          </a:p>
        </p:txBody>
      </p:sp>
      <p:sp>
        <p:nvSpPr>
          <p:cNvPr id="11" name="Text 9"/>
          <p:cNvSpPr/>
          <p:nvPr/>
        </p:nvSpPr>
        <p:spPr>
          <a:xfrm>
            <a:off x="1225296" y="3401568"/>
            <a:ext cx="4206240" cy="237744"/>
          </a:xfrm>
          <a:prstGeom prst="rect">
            <a:avLst/>
          </a:prstGeom>
          <a:noFill/>
          <a:ln/>
        </p:spPr>
        <p:txBody>
          <a:bodyPr wrap="square" lIns="0" tIns="0" rIns="0" bIns="0" rtlCol="0" anchor="ctr"/>
          <a:lstStyle/>
          <a:p>
            <a:pPr indent="0" marL="0">
              <a:buNone/>
            </a:pPr>
            <a:r>
              <a:rPr lang="en-US" sz="1000" i="1" dirty="0">
                <a:solidFill>
                  <a:srgbClr val="656D4A"/>
                </a:solidFill>
                <a:latin typeface="Calibri" pitchFamily="34" charset="0"/>
                <a:ea typeface="Calibri" pitchFamily="34" charset="-122"/>
                <a:cs typeface="Calibri" pitchFamily="34" charset="-120"/>
              </a:rPr>
              <a:t>27 tables and a versioned migration habit</a:t>
            </a:r>
            <a:endParaRPr lang="en-US" sz="1000" dirty="0"/>
          </a:p>
        </p:txBody>
      </p:sp>
      <p:sp>
        <p:nvSpPr>
          <p:cNvPr id="12" name="Shape 10"/>
          <p:cNvSpPr/>
          <p:nvPr/>
        </p:nvSpPr>
        <p:spPr>
          <a:xfrm>
            <a:off x="960120" y="3849624"/>
            <a:ext cx="137160" cy="137160"/>
          </a:xfrm>
          <a:prstGeom prst="ellipse">
            <a:avLst/>
          </a:prstGeom>
          <a:solidFill>
            <a:srgbClr val="A68A64"/>
          </a:solidFill>
          <a:ln w="12700">
            <a:solidFill>
              <a:srgbClr val="A68A64"/>
            </a:solidFill>
            <a:prstDash val="solid"/>
          </a:ln>
        </p:spPr>
      </p:sp>
      <p:sp>
        <p:nvSpPr>
          <p:cNvPr id="13" name="Text 11"/>
          <p:cNvSpPr/>
          <p:nvPr/>
        </p:nvSpPr>
        <p:spPr>
          <a:xfrm>
            <a:off x="1225296" y="3730752"/>
            <a:ext cx="420624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Authorisation design</a:t>
            </a:r>
            <a:endParaRPr lang="en-US" sz="1200" dirty="0"/>
          </a:p>
        </p:txBody>
      </p:sp>
      <p:sp>
        <p:nvSpPr>
          <p:cNvPr id="14" name="Text 12"/>
          <p:cNvSpPr/>
          <p:nvPr/>
        </p:nvSpPr>
        <p:spPr>
          <a:xfrm>
            <a:off x="1225296" y="3950208"/>
            <a:ext cx="4206240" cy="237744"/>
          </a:xfrm>
          <a:prstGeom prst="rect">
            <a:avLst/>
          </a:prstGeom>
          <a:noFill/>
          <a:ln/>
        </p:spPr>
        <p:txBody>
          <a:bodyPr wrap="square" lIns="0" tIns="0" rIns="0" bIns="0" rtlCol="0" anchor="ctr"/>
          <a:lstStyle/>
          <a:p>
            <a:pPr indent="0" marL="0">
              <a:buNone/>
            </a:pPr>
            <a:r>
              <a:rPr lang="en-US" sz="1000" i="1" dirty="0">
                <a:solidFill>
                  <a:srgbClr val="656D4A"/>
                </a:solidFill>
                <a:latin typeface="Calibri" pitchFamily="34" charset="0"/>
                <a:ea typeface="Calibri" pitchFamily="34" charset="-122"/>
                <a:cs typeface="Calibri" pitchFamily="34" charset="-120"/>
              </a:rPr>
              <a:t>four roles, each seeing different truths</a:t>
            </a:r>
            <a:endParaRPr lang="en-US" sz="1000" dirty="0"/>
          </a:p>
        </p:txBody>
      </p:sp>
      <p:sp>
        <p:nvSpPr>
          <p:cNvPr id="15" name="Shape 13"/>
          <p:cNvSpPr/>
          <p:nvPr/>
        </p:nvSpPr>
        <p:spPr>
          <a:xfrm>
            <a:off x="960120" y="4398264"/>
            <a:ext cx="137160" cy="137160"/>
          </a:xfrm>
          <a:prstGeom prst="ellipse">
            <a:avLst/>
          </a:prstGeom>
          <a:solidFill>
            <a:srgbClr val="A68A64"/>
          </a:solidFill>
          <a:ln w="12700">
            <a:solidFill>
              <a:srgbClr val="A68A64"/>
            </a:solidFill>
            <a:prstDash val="solid"/>
          </a:ln>
        </p:spPr>
      </p:sp>
      <p:sp>
        <p:nvSpPr>
          <p:cNvPr id="16" name="Text 14"/>
          <p:cNvSpPr/>
          <p:nvPr/>
        </p:nvSpPr>
        <p:spPr>
          <a:xfrm>
            <a:off x="1225296" y="4279392"/>
            <a:ext cx="420624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Security auditing</a:t>
            </a:r>
            <a:endParaRPr lang="en-US" sz="1200" dirty="0"/>
          </a:p>
        </p:txBody>
      </p:sp>
      <p:sp>
        <p:nvSpPr>
          <p:cNvPr id="17" name="Text 15"/>
          <p:cNvSpPr/>
          <p:nvPr/>
        </p:nvSpPr>
        <p:spPr>
          <a:xfrm>
            <a:off x="1225296" y="4498848"/>
            <a:ext cx="4206240" cy="237744"/>
          </a:xfrm>
          <a:prstGeom prst="rect">
            <a:avLst/>
          </a:prstGeom>
          <a:noFill/>
          <a:ln/>
        </p:spPr>
        <p:txBody>
          <a:bodyPr wrap="square" lIns="0" tIns="0" rIns="0" bIns="0" rtlCol="0" anchor="ctr"/>
          <a:lstStyle/>
          <a:p>
            <a:pPr indent="0" marL="0">
              <a:buNone/>
            </a:pPr>
            <a:r>
              <a:rPr lang="en-US" sz="1000" i="1" dirty="0">
                <a:solidFill>
                  <a:srgbClr val="656D4A"/>
                </a:solidFill>
                <a:latin typeface="Calibri" pitchFamily="34" charset="0"/>
                <a:ea typeface="Calibri" pitchFamily="34" charset="-122"/>
                <a:cs typeface="Calibri" pitchFamily="34" charset="-120"/>
              </a:rPr>
              <a:t>reading my own code adversarially</a:t>
            </a:r>
            <a:endParaRPr lang="en-US" sz="1000" dirty="0"/>
          </a:p>
        </p:txBody>
      </p:sp>
      <p:sp>
        <p:nvSpPr>
          <p:cNvPr id="18" name="Shape 16"/>
          <p:cNvSpPr/>
          <p:nvPr/>
        </p:nvSpPr>
        <p:spPr>
          <a:xfrm>
            <a:off x="960120" y="4946904"/>
            <a:ext cx="137160" cy="137160"/>
          </a:xfrm>
          <a:prstGeom prst="ellipse">
            <a:avLst/>
          </a:prstGeom>
          <a:solidFill>
            <a:srgbClr val="A68A64"/>
          </a:solidFill>
          <a:ln w="12700">
            <a:solidFill>
              <a:srgbClr val="A68A64"/>
            </a:solidFill>
            <a:prstDash val="solid"/>
          </a:ln>
        </p:spPr>
      </p:sp>
      <p:sp>
        <p:nvSpPr>
          <p:cNvPr id="19" name="Text 17"/>
          <p:cNvSpPr/>
          <p:nvPr/>
        </p:nvSpPr>
        <p:spPr>
          <a:xfrm>
            <a:off x="1225296" y="4828032"/>
            <a:ext cx="420624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Design systems</a:t>
            </a:r>
            <a:endParaRPr lang="en-US" sz="1200" dirty="0"/>
          </a:p>
        </p:txBody>
      </p:sp>
      <p:sp>
        <p:nvSpPr>
          <p:cNvPr id="20" name="Text 18"/>
          <p:cNvSpPr/>
          <p:nvPr/>
        </p:nvSpPr>
        <p:spPr>
          <a:xfrm>
            <a:off x="1225296" y="5047488"/>
            <a:ext cx="4206240" cy="237744"/>
          </a:xfrm>
          <a:prstGeom prst="rect">
            <a:avLst/>
          </a:prstGeom>
          <a:noFill/>
          <a:ln/>
        </p:spPr>
        <p:txBody>
          <a:bodyPr wrap="square" lIns="0" tIns="0" rIns="0" bIns="0" rtlCol="0" anchor="ctr"/>
          <a:lstStyle/>
          <a:p>
            <a:pPr indent="0" marL="0">
              <a:buNone/>
            </a:pPr>
            <a:r>
              <a:rPr lang="en-US" sz="1000" i="1" dirty="0">
                <a:solidFill>
                  <a:srgbClr val="656D4A"/>
                </a:solidFill>
                <a:latin typeface="Calibri" pitchFamily="34" charset="0"/>
                <a:ea typeface="Calibri" pitchFamily="34" charset="-122"/>
                <a:cs typeface="Calibri" pitchFamily="34" charset="-120"/>
              </a:rPr>
              <a:t>one palette and one component language</a:t>
            </a:r>
            <a:endParaRPr lang="en-US" sz="1000" dirty="0"/>
          </a:p>
        </p:txBody>
      </p:sp>
      <p:sp>
        <p:nvSpPr>
          <p:cNvPr id="21" name="Shape 19"/>
          <p:cNvSpPr/>
          <p:nvPr/>
        </p:nvSpPr>
        <p:spPr>
          <a:xfrm>
            <a:off x="960120" y="5495544"/>
            <a:ext cx="137160" cy="137160"/>
          </a:xfrm>
          <a:prstGeom prst="ellipse">
            <a:avLst/>
          </a:prstGeom>
          <a:solidFill>
            <a:srgbClr val="A68A64"/>
          </a:solidFill>
          <a:ln w="12700">
            <a:solidFill>
              <a:srgbClr val="A68A64"/>
            </a:solidFill>
            <a:prstDash val="solid"/>
          </a:ln>
        </p:spPr>
      </p:sp>
      <p:sp>
        <p:nvSpPr>
          <p:cNvPr id="22" name="Text 20"/>
          <p:cNvSpPr/>
          <p:nvPr/>
        </p:nvSpPr>
        <p:spPr>
          <a:xfrm>
            <a:off x="1225296" y="5376672"/>
            <a:ext cx="420624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AI-assisted development</a:t>
            </a:r>
            <a:endParaRPr lang="en-US" sz="1200" dirty="0"/>
          </a:p>
        </p:txBody>
      </p:sp>
      <p:sp>
        <p:nvSpPr>
          <p:cNvPr id="23" name="Text 21"/>
          <p:cNvSpPr/>
          <p:nvPr/>
        </p:nvSpPr>
        <p:spPr>
          <a:xfrm>
            <a:off x="1225296" y="5596128"/>
            <a:ext cx="4206240" cy="237744"/>
          </a:xfrm>
          <a:prstGeom prst="rect">
            <a:avLst/>
          </a:prstGeom>
          <a:noFill/>
          <a:ln/>
        </p:spPr>
        <p:txBody>
          <a:bodyPr wrap="square" lIns="0" tIns="0" rIns="0" bIns="0" rtlCol="0" anchor="ctr"/>
          <a:lstStyle/>
          <a:p>
            <a:pPr indent="0" marL="0">
              <a:buNone/>
            </a:pPr>
            <a:r>
              <a:rPr lang="en-US" sz="1000" i="1" dirty="0">
                <a:solidFill>
                  <a:srgbClr val="656D4A"/>
                </a:solidFill>
                <a:latin typeface="Calibri" pitchFamily="34" charset="0"/>
                <a:ea typeface="Calibri" pitchFamily="34" charset="-122"/>
                <a:cs typeface="Calibri" pitchFamily="34" charset="-120"/>
              </a:rPr>
              <a:t>directing tools without losing the architecture</a:t>
            </a:r>
            <a:endParaRPr lang="en-US" sz="1000" dirty="0"/>
          </a:p>
        </p:txBody>
      </p:sp>
      <p:sp>
        <p:nvSpPr>
          <p:cNvPr id="24" name="Text 22"/>
          <p:cNvSpPr/>
          <p:nvPr/>
        </p:nvSpPr>
        <p:spPr>
          <a:xfrm>
            <a:off x="6382512" y="2286000"/>
            <a:ext cx="4937760" cy="256032"/>
          </a:xfrm>
          <a:prstGeom prst="rect">
            <a:avLst/>
          </a:prstGeom>
          <a:noFill/>
          <a:ln/>
        </p:spPr>
        <p:txBody>
          <a:bodyPr wrap="square" lIns="0" tIns="0" rIns="0" bIns="0" rtlCol="0" anchor="ctr"/>
          <a:lstStyle/>
          <a:p>
            <a:pPr indent="0" marL="0">
              <a:buNone/>
            </a:pPr>
            <a:r>
              <a:rPr lang="en-US" sz="950" b="1" spc="180" kern="0" dirty="0">
                <a:solidFill>
                  <a:srgbClr val="7F4F24"/>
                </a:solidFill>
                <a:latin typeface="Calibri" pitchFamily="34" charset="0"/>
                <a:ea typeface="Calibri" pitchFamily="34" charset="-122"/>
                <a:cs typeface="Calibri" pitchFamily="34" charset="-120"/>
              </a:rPr>
              <a:t>CHALLENGES I FACED</a:t>
            </a:r>
            <a:endParaRPr lang="en-US" sz="950" dirty="0"/>
          </a:p>
        </p:txBody>
      </p:sp>
      <p:sp>
        <p:nvSpPr>
          <p:cNvPr id="25" name="Shape 23"/>
          <p:cNvSpPr/>
          <p:nvPr/>
        </p:nvSpPr>
        <p:spPr>
          <a:xfrm>
            <a:off x="6108192" y="2670048"/>
            <a:ext cx="5394960" cy="1042416"/>
          </a:xfrm>
          <a:prstGeom prst="roundRect">
            <a:avLst>
              <a:gd name="adj" fmla="val 7018"/>
            </a:avLst>
          </a:prstGeom>
          <a:solidFill>
            <a:srgbClr val="EBE3CE"/>
          </a:solidFill>
          <a:ln w="15875">
            <a:solidFill>
              <a:srgbClr val="7F4F24"/>
            </a:solidFill>
            <a:prstDash val="solid"/>
          </a:ln>
          <a:effectLst>
            <a:outerShdw sx="100000" sy="100000" kx="0" ky="0" algn="bl" rotWithShape="0" blurRad="177800" dist="38100" dir="5400000">
              <a:srgbClr val="1F2618">
                <a:alpha val="13000"/>
              </a:srgbClr>
            </a:outerShdw>
          </a:effectLst>
        </p:spPr>
      </p:sp>
      <p:sp>
        <p:nvSpPr>
          <p:cNvPr id="26" name="Text 24"/>
          <p:cNvSpPr/>
          <p:nvPr/>
        </p:nvSpPr>
        <p:spPr>
          <a:xfrm>
            <a:off x="6345936" y="2761488"/>
            <a:ext cx="493776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Two rules guarding one price</a:t>
            </a:r>
            <a:endParaRPr lang="en-US" sz="1200" dirty="0"/>
          </a:p>
        </p:txBody>
      </p:sp>
      <p:sp>
        <p:nvSpPr>
          <p:cNvPr id="27" name="Text 25"/>
          <p:cNvSpPr/>
          <p:nvPr/>
        </p:nvSpPr>
        <p:spPr>
          <a:xfrm>
            <a:off x="6345936" y="2999232"/>
            <a:ext cx="4937760" cy="384048"/>
          </a:xfrm>
          <a:prstGeom prst="rect">
            <a:avLst/>
          </a:prstGeom>
          <a:noFill/>
          <a:ln/>
        </p:spPr>
        <p:txBody>
          <a:bodyPr wrap="square" lIns="0" tIns="0" rIns="0" bIns="0" rtlCol="0" anchor="ctr"/>
          <a:lstStyle/>
          <a:p>
            <a:pPr indent="0" marL="0">
              <a:lnSpc>
                <a:spcPct val="100000"/>
              </a:lnSpc>
              <a:buNone/>
            </a:pPr>
            <a:r>
              <a:rPr lang="en-US" sz="950" dirty="0">
                <a:solidFill>
                  <a:srgbClr val="656D4A"/>
                </a:solidFill>
                <a:latin typeface="Calibri" pitchFamily="34" charset="0"/>
                <a:ea typeface="Calibri" pitchFamily="34" charset="-122"/>
                <a:cs typeface="Calibri" pitchFamily="34" charset="-120"/>
              </a:rPr>
              <a:t>Readiness was computed in the browser and again on the server, with different logic — and one copy decided whether a client could see a price.</a:t>
            </a:r>
            <a:endParaRPr lang="en-US" sz="950" dirty="0"/>
          </a:p>
        </p:txBody>
      </p:sp>
      <p:sp>
        <p:nvSpPr>
          <p:cNvPr id="28" name="Text 26"/>
          <p:cNvSpPr/>
          <p:nvPr/>
        </p:nvSpPr>
        <p:spPr>
          <a:xfrm>
            <a:off x="6345936" y="3401568"/>
            <a:ext cx="4937760" cy="237744"/>
          </a:xfrm>
          <a:prstGeom prst="rect">
            <a:avLst/>
          </a:prstGeom>
          <a:noFill/>
          <a:ln/>
        </p:spPr>
        <p:txBody>
          <a:bodyPr wrap="square" lIns="0" tIns="0" rIns="0" bIns="0" rtlCol="0" anchor="ctr"/>
          <a:lstStyle/>
          <a:p>
            <a:pPr indent="0" marL="0">
              <a:buNone/>
            </a:pPr>
            <a:r>
              <a:rPr lang="en-US" sz="950" b="1" i="1" dirty="0">
                <a:solidFill>
                  <a:srgbClr val="7F4F24"/>
                </a:solidFill>
                <a:latin typeface="Calibri" pitchFamily="34" charset="0"/>
                <a:ea typeface="Calibri" pitchFamily="34" charset="-122"/>
                <a:cs typeface="Calibri" pitchFamily="34" charset="-120"/>
              </a:rPr>
              <a:t>→ Collapsed it into a single server-side contract.</a:t>
            </a:r>
            <a:endParaRPr lang="en-US" sz="950" dirty="0"/>
          </a:p>
        </p:txBody>
      </p:sp>
      <p:sp>
        <p:nvSpPr>
          <p:cNvPr id="29" name="Shape 27"/>
          <p:cNvSpPr/>
          <p:nvPr/>
        </p:nvSpPr>
        <p:spPr>
          <a:xfrm>
            <a:off x="6108192" y="3803904"/>
            <a:ext cx="5394960" cy="1042416"/>
          </a:xfrm>
          <a:prstGeom prst="roundRect">
            <a:avLst>
              <a:gd name="adj" fmla="val 7018"/>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30" name="Text 28"/>
          <p:cNvSpPr/>
          <p:nvPr/>
        </p:nvSpPr>
        <p:spPr>
          <a:xfrm>
            <a:off x="6345936" y="3895344"/>
            <a:ext cx="493776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Three roles, three truths</a:t>
            </a:r>
            <a:endParaRPr lang="en-US" sz="1200" dirty="0"/>
          </a:p>
        </p:txBody>
      </p:sp>
      <p:sp>
        <p:nvSpPr>
          <p:cNvPr id="31" name="Text 29"/>
          <p:cNvSpPr/>
          <p:nvPr/>
        </p:nvSpPr>
        <p:spPr>
          <a:xfrm>
            <a:off x="6345936" y="4133088"/>
            <a:ext cx="4937760" cy="384048"/>
          </a:xfrm>
          <a:prstGeom prst="rect">
            <a:avLst/>
          </a:prstGeom>
          <a:noFill/>
          <a:ln/>
        </p:spPr>
        <p:txBody>
          <a:bodyPr wrap="square" lIns="0" tIns="0" rIns="0" bIns="0" rtlCol="0" anchor="ctr"/>
          <a:lstStyle/>
          <a:p>
            <a:pPr indent="0" marL="0">
              <a:lnSpc>
                <a:spcPct val="100000"/>
              </a:lnSpc>
              <a:buNone/>
            </a:pPr>
            <a:r>
              <a:rPr lang="en-US" sz="950" dirty="0">
                <a:solidFill>
                  <a:srgbClr val="656D4A"/>
                </a:solidFill>
                <a:latin typeface="Calibri" pitchFamily="34" charset="0"/>
                <a:ea typeface="Calibri" pitchFamily="34" charset="-122"/>
                <a:cs typeface="Calibri" pitchFamily="34" charset="-120"/>
              </a:rPr>
              <a:t>Vendors, clients and Elysian must each see a different part of the same number.</a:t>
            </a:r>
            <a:endParaRPr lang="en-US" sz="950" dirty="0"/>
          </a:p>
        </p:txBody>
      </p:sp>
      <p:sp>
        <p:nvSpPr>
          <p:cNvPr id="32" name="Text 30"/>
          <p:cNvSpPr/>
          <p:nvPr/>
        </p:nvSpPr>
        <p:spPr>
          <a:xfrm>
            <a:off x="6345936" y="4535424"/>
            <a:ext cx="4937760" cy="237744"/>
          </a:xfrm>
          <a:prstGeom prst="rect">
            <a:avLst/>
          </a:prstGeom>
          <a:noFill/>
          <a:ln/>
        </p:spPr>
        <p:txBody>
          <a:bodyPr wrap="square" lIns="0" tIns="0" rIns="0" bIns="0" rtlCol="0" anchor="ctr"/>
          <a:lstStyle/>
          <a:p>
            <a:pPr indent="0" marL="0">
              <a:buNone/>
            </a:pPr>
            <a:r>
              <a:rPr lang="en-US" sz="950" b="1" i="1" dirty="0">
                <a:solidFill>
                  <a:srgbClr val="7F4F24"/>
                </a:solidFill>
                <a:latin typeface="Calibri" pitchFamily="34" charset="0"/>
                <a:ea typeface="Calibri" pitchFamily="34" charset="-122"/>
                <a:cs typeface="Calibri" pitchFamily="34" charset="-120"/>
              </a:rPr>
              <a:t>→ Enforced in Postgres with generated columns, not in the UI.</a:t>
            </a:r>
            <a:endParaRPr lang="en-US" sz="950" dirty="0"/>
          </a:p>
        </p:txBody>
      </p:sp>
      <p:sp>
        <p:nvSpPr>
          <p:cNvPr id="33" name="Shape 31"/>
          <p:cNvSpPr/>
          <p:nvPr/>
        </p:nvSpPr>
        <p:spPr>
          <a:xfrm>
            <a:off x="6108192" y="4937760"/>
            <a:ext cx="5394960" cy="1042416"/>
          </a:xfrm>
          <a:prstGeom prst="roundRect">
            <a:avLst>
              <a:gd name="adj" fmla="val 7018"/>
            </a:avLst>
          </a:prstGeom>
          <a:solidFill>
            <a:srgbClr val="FFFFFF"/>
          </a:solidFill>
          <a:ln w="9525">
            <a:solidFill>
              <a:srgbClr val="B6AD90"/>
            </a:solidFill>
            <a:prstDash val="solid"/>
          </a:ln>
          <a:effectLst>
            <a:outerShdw sx="100000" sy="100000" kx="0" ky="0" algn="bl" rotWithShape="0" blurRad="177800" dist="38100" dir="5400000">
              <a:srgbClr val="1F2618">
                <a:alpha val="13000"/>
              </a:srgbClr>
            </a:outerShdw>
          </a:effectLst>
        </p:spPr>
      </p:sp>
      <p:sp>
        <p:nvSpPr>
          <p:cNvPr id="34" name="Text 32"/>
          <p:cNvSpPr/>
          <p:nvPr/>
        </p:nvSpPr>
        <p:spPr>
          <a:xfrm>
            <a:off x="6345936" y="5029200"/>
            <a:ext cx="4937760" cy="237744"/>
          </a:xfrm>
          <a:prstGeom prst="rect">
            <a:avLst/>
          </a:prstGeom>
          <a:noFill/>
          <a:ln/>
        </p:spPr>
        <p:txBody>
          <a:bodyPr wrap="square" lIns="0" tIns="0" rIns="0" bIns="0" rtlCol="0" anchor="ctr"/>
          <a:lstStyle/>
          <a:p>
            <a:pPr indent="0" marL="0">
              <a:buNone/>
            </a:pPr>
            <a:r>
              <a:rPr lang="en-US" sz="1200" b="1" dirty="0">
                <a:solidFill>
                  <a:srgbClr val="333D29"/>
                </a:solidFill>
                <a:latin typeface="Calibri" pitchFamily="34" charset="0"/>
                <a:ea typeface="Calibri" pitchFamily="34" charset="-122"/>
                <a:cs typeface="Calibri" pitchFamily="34" charset="-120"/>
              </a:rPr>
              <a:t>Building solo on a live venture</a:t>
            </a:r>
            <a:endParaRPr lang="en-US" sz="1200" dirty="0"/>
          </a:p>
        </p:txBody>
      </p:sp>
      <p:sp>
        <p:nvSpPr>
          <p:cNvPr id="35" name="Text 33"/>
          <p:cNvSpPr/>
          <p:nvPr/>
        </p:nvSpPr>
        <p:spPr>
          <a:xfrm>
            <a:off x="6345936" y="5266944"/>
            <a:ext cx="4937760" cy="384048"/>
          </a:xfrm>
          <a:prstGeom prst="rect">
            <a:avLst/>
          </a:prstGeom>
          <a:noFill/>
          <a:ln/>
        </p:spPr>
        <p:txBody>
          <a:bodyPr wrap="square" lIns="0" tIns="0" rIns="0" bIns="0" rtlCol="0" anchor="ctr"/>
          <a:lstStyle/>
          <a:p>
            <a:pPr indent="0" marL="0">
              <a:lnSpc>
                <a:spcPct val="100000"/>
              </a:lnSpc>
              <a:buNone/>
            </a:pPr>
            <a:r>
              <a:rPr lang="en-US" sz="950" dirty="0">
                <a:solidFill>
                  <a:srgbClr val="656D4A"/>
                </a:solidFill>
                <a:latin typeface="Calibri" pitchFamily="34" charset="0"/>
                <a:ea typeface="Calibri" pitchFamily="34" charset="-122"/>
                <a:cs typeface="Calibri" pitchFamily="34" charset="-120"/>
              </a:rPr>
              <a:t>Product, design, backend and security with no team to hand work to.</a:t>
            </a:r>
            <a:endParaRPr lang="en-US" sz="950" dirty="0"/>
          </a:p>
        </p:txBody>
      </p:sp>
      <p:sp>
        <p:nvSpPr>
          <p:cNvPr id="36" name="Text 34"/>
          <p:cNvSpPr/>
          <p:nvPr/>
        </p:nvSpPr>
        <p:spPr>
          <a:xfrm>
            <a:off x="6345936" y="5669280"/>
            <a:ext cx="4937760" cy="237744"/>
          </a:xfrm>
          <a:prstGeom prst="rect">
            <a:avLst/>
          </a:prstGeom>
          <a:noFill/>
          <a:ln/>
        </p:spPr>
        <p:txBody>
          <a:bodyPr wrap="square" lIns="0" tIns="0" rIns="0" bIns="0" rtlCol="0" anchor="ctr"/>
          <a:lstStyle/>
          <a:p>
            <a:pPr indent="0" marL="0">
              <a:buNone/>
            </a:pPr>
            <a:r>
              <a:rPr lang="en-US" sz="950" b="1" i="1" dirty="0">
                <a:solidFill>
                  <a:srgbClr val="7F4F24"/>
                </a:solidFill>
                <a:latin typeface="Calibri" pitchFamily="34" charset="0"/>
                <a:ea typeface="Calibri" pitchFamily="34" charset="-122"/>
                <a:cs typeface="Calibri" pitchFamily="34" charset="-120"/>
              </a:rPr>
              <a:t>→ Wrote my own audits to catch what a reviewer would.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402336"/>
            <a:ext cx="10817352" cy="237744"/>
          </a:xfrm>
          <a:prstGeom prst="rect">
            <a:avLst/>
          </a:prstGeom>
          <a:noFill/>
          <a:ln/>
        </p:spPr>
        <p:txBody>
          <a:bodyPr wrap="square" lIns="0" tIns="0" rIns="0" bIns="0" rtlCol="0" anchor="ctr"/>
          <a:lstStyle/>
          <a:p>
            <a:pPr indent="0" marL="0">
              <a:buNone/>
            </a:pPr>
            <a:r>
              <a:rPr lang="en-US" sz="1050" b="1" spc="260" kern="0" dirty="0">
                <a:solidFill>
                  <a:srgbClr val="A68A64"/>
                </a:solidFill>
                <a:latin typeface="Calibri" pitchFamily="34" charset="0"/>
                <a:ea typeface="Calibri" pitchFamily="34" charset="-122"/>
                <a:cs typeface="Calibri" pitchFamily="34" charset="-120"/>
              </a:rPr>
              <a:t>07 · ACADEMIC LEARNING APPLIED &amp; FUTURE GOALS</a:t>
            </a:r>
            <a:endParaRPr lang="en-US" sz="1050" dirty="0"/>
          </a:p>
        </p:txBody>
      </p:sp>
      <p:sp>
        <p:nvSpPr>
          <p:cNvPr id="3" name="Text 1"/>
          <p:cNvSpPr/>
          <p:nvPr/>
        </p:nvSpPr>
        <p:spPr>
          <a:xfrm>
            <a:off x="685800" y="713232"/>
            <a:ext cx="10607040" cy="932688"/>
          </a:xfrm>
          <a:prstGeom prst="rect">
            <a:avLst/>
          </a:prstGeom>
          <a:noFill/>
          <a:ln/>
        </p:spPr>
        <p:txBody>
          <a:bodyPr wrap="square" lIns="0" tIns="0" rIns="0" bIns="0" rtlCol="0" anchor="t"/>
          <a:lstStyle/>
          <a:p>
            <a:pPr indent="0" marL="0">
              <a:lnSpc>
                <a:spcPct val="102000"/>
              </a:lnSpc>
              <a:buNone/>
            </a:pPr>
            <a:r>
              <a:rPr lang="en-US" sz="2900" b="1" dirty="0">
                <a:solidFill>
                  <a:srgbClr val="F5F0E2"/>
                </a:solidFill>
                <a:latin typeface="Cambria" pitchFamily="34" charset="0"/>
                <a:ea typeface="Cambria" pitchFamily="34" charset="-122"/>
                <a:cs typeface="Cambria" pitchFamily="34" charset="-120"/>
              </a:rPr>
              <a:t>Digital Transformation, applied literally.</a:t>
            </a:r>
            <a:endParaRPr lang="en-US" sz="2900" dirty="0"/>
          </a:p>
        </p:txBody>
      </p:sp>
      <p:sp>
        <p:nvSpPr>
          <p:cNvPr id="4" name="Shape 2"/>
          <p:cNvSpPr/>
          <p:nvPr/>
        </p:nvSpPr>
        <p:spPr>
          <a:xfrm>
            <a:off x="685800" y="2121408"/>
            <a:ext cx="5303520" cy="3712464"/>
          </a:xfrm>
          <a:prstGeom prst="roundRect">
            <a:avLst>
              <a:gd name="adj" fmla="val 2463"/>
            </a:avLst>
          </a:prstGeom>
          <a:solidFill>
            <a:srgbClr val="2B331F"/>
          </a:solidFill>
          <a:ln w="12700">
            <a:solidFill>
              <a:srgbClr val="4A5138"/>
            </a:solidFill>
            <a:prstDash val="solid"/>
          </a:ln>
        </p:spPr>
      </p:sp>
      <p:sp>
        <p:nvSpPr>
          <p:cNvPr id="5" name="Text 3"/>
          <p:cNvSpPr/>
          <p:nvPr/>
        </p:nvSpPr>
        <p:spPr>
          <a:xfrm>
            <a:off x="960120" y="2359152"/>
            <a:ext cx="4754880" cy="256032"/>
          </a:xfrm>
          <a:prstGeom prst="rect">
            <a:avLst/>
          </a:prstGeom>
          <a:noFill/>
          <a:ln/>
        </p:spPr>
        <p:txBody>
          <a:bodyPr wrap="square" lIns="0" tIns="0" rIns="0" bIns="0" rtlCol="0" anchor="ctr"/>
          <a:lstStyle/>
          <a:p>
            <a:pPr indent="0" marL="0">
              <a:buNone/>
            </a:pPr>
            <a:r>
              <a:rPr lang="en-US" sz="950" b="1" spc="160" kern="0" dirty="0">
                <a:solidFill>
                  <a:srgbClr val="A68A64"/>
                </a:solidFill>
                <a:latin typeface="Calibri" pitchFamily="34" charset="0"/>
                <a:ea typeface="Calibri" pitchFamily="34" charset="-122"/>
                <a:cs typeface="Calibri" pitchFamily="34" charset="-120"/>
              </a:rPr>
              <a:t>FROM THE CLASSROOM TO THE FOUNDER'S DESK</a:t>
            </a:r>
            <a:endParaRPr lang="en-US" sz="950" dirty="0"/>
          </a:p>
        </p:txBody>
      </p:sp>
      <p:sp>
        <p:nvSpPr>
          <p:cNvPr id="6" name="Shape 4"/>
          <p:cNvSpPr/>
          <p:nvPr/>
        </p:nvSpPr>
        <p:spPr>
          <a:xfrm>
            <a:off x="960120" y="2834640"/>
            <a:ext cx="137160" cy="137160"/>
          </a:xfrm>
          <a:prstGeom prst="ellipse">
            <a:avLst/>
          </a:prstGeom>
          <a:solidFill>
            <a:srgbClr val="A4AC86"/>
          </a:solidFill>
          <a:ln w="12700">
            <a:solidFill>
              <a:srgbClr val="A4AC86"/>
            </a:solidFill>
            <a:prstDash val="solid"/>
          </a:ln>
        </p:spPr>
      </p:sp>
      <p:sp>
        <p:nvSpPr>
          <p:cNvPr id="7" name="Text 5"/>
          <p:cNvSpPr/>
          <p:nvPr/>
        </p:nvSpPr>
        <p:spPr>
          <a:xfrm>
            <a:off x="1225296" y="2724912"/>
            <a:ext cx="4535424" cy="237744"/>
          </a:xfrm>
          <a:prstGeom prst="rect">
            <a:avLst/>
          </a:prstGeom>
          <a:noFill/>
          <a:ln/>
        </p:spPr>
        <p:txBody>
          <a:bodyPr wrap="square" lIns="0" tIns="0" rIns="0" bIns="0" rtlCol="0" anchor="ctr"/>
          <a:lstStyle/>
          <a:p>
            <a:pPr indent="0" marL="0">
              <a:buNone/>
            </a:pPr>
            <a:r>
              <a:rPr lang="en-US" sz="1200" b="1" dirty="0">
                <a:solidFill>
                  <a:srgbClr val="F5F0E2"/>
                </a:solidFill>
                <a:latin typeface="Calibri" pitchFamily="34" charset="0"/>
                <a:ea typeface="Calibri" pitchFamily="34" charset="-122"/>
                <a:cs typeface="Calibri" pitchFamily="34" charset="-120"/>
              </a:rPr>
              <a:t>Process mapping &amp; systems thinking</a:t>
            </a:r>
            <a:endParaRPr lang="en-US" sz="1200" dirty="0"/>
          </a:p>
        </p:txBody>
      </p:sp>
      <p:sp>
        <p:nvSpPr>
          <p:cNvPr id="8" name="Text 6"/>
          <p:cNvSpPr/>
          <p:nvPr/>
        </p:nvSpPr>
        <p:spPr>
          <a:xfrm>
            <a:off x="1225296" y="2962656"/>
            <a:ext cx="4535424" cy="457200"/>
          </a:xfrm>
          <a:prstGeom prst="rect">
            <a:avLst/>
          </a:prstGeom>
          <a:noFill/>
          <a:ln/>
        </p:spPr>
        <p:txBody>
          <a:bodyPr wrap="square" lIns="0" tIns="0" rIns="0" bIns="0" rtlCol="0" anchor="ctr"/>
          <a:lstStyle/>
          <a:p>
            <a:pPr indent="0" marL="0">
              <a:lnSpc>
                <a:spcPct val="102000"/>
              </a:lnSpc>
              <a:buNone/>
            </a:pPr>
            <a:r>
              <a:rPr lang="en-US" sz="1050" dirty="0">
                <a:solidFill>
                  <a:srgbClr val="BFC2AC"/>
                </a:solidFill>
                <a:latin typeface="Calibri" pitchFamily="34" charset="0"/>
                <a:ea typeface="Calibri" pitchFamily="34" charset="-122"/>
                <a:cs typeface="Calibri" pitchFamily="34" charset="-120"/>
              </a:rPr>
              <a:t>became the flow map — the event modelled as days, functions and steps.</a:t>
            </a:r>
            <a:endParaRPr lang="en-US" sz="1050" dirty="0"/>
          </a:p>
        </p:txBody>
      </p:sp>
      <p:sp>
        <p:nvSpPr>
          <p:cNvPr id="9" name="Shape 7"/>
          <p:cNvSpPr/>
          <p:nvPr/>
        </p:nvSpPr>
        <p:spPr>
          <a:xfrm>
            <a:off x="960120" y="3602736"/>
            <a:ext cx="137160" cy="137160"/>
          </a:xfrm>
          <a:prstGeom prst="ellipse">
            <a:avLst/>
          </a:prstGeom>
          <a:solidFill>
            <a:srgbClr val="A4AC86"/>
          </a:solidFill>
          <a:ln w="12700">
            <a:solidFill>
              <a:srgbClr val="A4AC86"/>
            </a:solidFill>
            <a:prstDash val="solid"/>
          </a:ln>
        </p:spPr>
      </p:sp>
      <p:sp>
        <p:nvSpPr>
          <p:cNvPr id="10" name="Text 8"/>
          <p:cNvSpPr/>
          <p:nvPr/>
        </p:nvSpPr>
        <p:spPr>
          <a:xfrm>
            <a:off x="1225296" y="3493008"/>
            <a:ext cx="4535424" cy="237744"/>
          </a:xfrm>
          <a:prstGeom prst="rect">
            <a:avLst/>
          </a:prstGeom>
          <a:noFill/>
          <a:ln/>
        </p:spPr>
        <p:txBody>
          <a:bodyPr wrap="square" lIns="0" tIns="0" rIns="0" bIns="0" rtlCol="0" anchor="ctr"/>
          <a:lstStyle/>
          <a:p>
            <a:pPr indent="0" marL="0">
              <a:buNone/>
            </a:pPr>
            <a:r>
              <a:rPr lang="en-US" sz="1200" b="1" dirty="0">
                <a:solidFill>
                  <a:srgbClr val="F5F0E2"/>
                </a:solidFill>
                <a:latin typeface="Calibri" pitchFamily="34" charset="0"/>
                <a:ea typeface="Calibri" pitchFamily="34" charset="-122"/>
                <a:cs typeface="Calibri" pitchFamily="34" charset="-120"/>
              </a:rPr>
              <a:t>Database &amp; data modelling</a:t>
            </a:r>
            <a:endParaRPr lang="en-US" sz="1200" dirty="0"/>
          </a:p>
        </p:txBody>
      </p:sp>
      <p:sp>
        <p:nvSpPr>
          <p:cNvPr id="11" name="Text 9"/>
          <p:cNvSpPr/>
          <p:nvPr/>
        </p:nvSpPr>
        <p:spPr>
          <a:xfrm>
            <a:off x="1225296" y="3730752"/>
            <a:ext cx="4535424" cy="457200"/>
          </a:xfrm>
          <a:prstGeom prst="rect">
            <a:avLst/>
          </a:prstGeom>
          <a:noFill/>
          <a:ln/>
        </p:spPr>
        <p:txBody>
          <a:bodyPr wrap="square" lIns="0" tIns="0" rIns="0" bIns="0" rtlCol="0" anchor="ctr"/>
          <a:lstStyle/>
          <a:p>
            <a:pPr indent="0" marL="0">
              <a:lnSpc>
                <a:spcPct val="102000"/>
              </a:lnSpc>
              <a:buNone/>
            </a:pPr>
            <a:r>
              <a:rPr lang="en-US" sz="1050" dirty="0">
                <a:solidFill>
                  <a:srgbClr val="BFC2AC"/>
                </a:solidFill>
                <a:latin typeface="Calibri" pitchFamily="34" charset="0"/>
                <a:ea typeface="Calibri" pitchFamily="34" charset="-122"/>
                <a:cs typeface="Calibri" pitchFamily="34" charset="-120"/>
              </a:rPr>
              <a:t>became 27 normalised tables with constraints that encode business rules.</a:t>
            </a:r>
            <a:endParaRPr lang="en-US" sz="1050" dirty="0"/>
          </a:p>
        </p:txBody>
      </p:sp>
      <p:sp>
        <p:nvSpPr>
          <p:cNvPr id="12" name="Shape 10"/>
          <p:cNvSpPr/>
          <p:nvPr/>
        </p:nvSpPr>
        <p:spPr>
          <a:xfrm>
            <a:off x="960120" y="4370832"/>
            <a:ext cx="137160" cy="137160"/>
          </a:xfrm>
          <a:prstGeom prst="ellipse">
            <a:avLst/>
          </a:prstGeom>
          <a:solidFill>
            <a:srgbClr val="A4AC86"/>
          </a:solidFill>
          <a:ln w="12700">
            <a:solidFill>
              <a:srgbClr val="A4AC86"/>
            </a:solidFill>
            <a:prstDash val="solid"/>
          </a:ln>
        </p:spPr>
      </p:sp>
      <p:sp>
        <p:nvSpPr>
          <p:cNvPr id="13" name="Text 11"/>
          <p:cNvSpPr/>
          <p:nvPr/>
        </p:nvSpPr>
        <p:spPr>
          <a:xfrm>
            <a:off x="1225296" y="4261104"/>
            <a:ext cx="4535424" cy="237744"/>
          </a:xfrm>
          <a:prstGeom prst="rect">
            <a:avLst/>
          </a:prstGeom>
          <a:noFill/>
          <a:ln/>
        </p:spPr>
        <p:txBody>
          <a:bodyPr wrap="square" lIns="0" tIns="0" rIns="0" bIns="0" rtlCol="0" anchor="ctr"/>
          <a:lstStyle/>
          <a:p>
            <a:pPr indent="0" marL="0">
              <a:buNone/>
            </a:pPr>
            <a:r>
              <a:rPr lang="en-US" sz="1200" b="1" dirty="0">
                <a:solidFill>
                  <a:srgbClr val="F5F0E2"/>
                </a:solidFill>
                <a:latin typeface="Calibri" pitchFamily="34" charset="0"/>
                <a:ea typeface="Calibri" pitchFamily="34" charset="-122"/>
                <a:cs typeface="Calibri" pitchFamily="34" charset="-120"/>
              </a:rPr>
              <a:t>Data-driven decision making</a:t>
            </a:r>
            <a:endParaRPr lang="en-US" sz="1200" dirty="0"/>
          </a:p>
        </p:txBody>
      </p:sp>
      <p:sp>
        <p:nvSpPr>
          <p:cNvPr id="14" name="Text 12"/>
          <p:cNvSpPr/>
          <p:nvPr/>
        </p:nvSpPr>
        <p:spPr>
          <a:xfrm>
            <a:off x="1225296" y="4498848"/>
            <a:ext cx="4535424" cy="457200"/>
          </a:xfrm>
          <a:prstGeom prst="rect">
            <a:avLst/>
          </a:prstGeom>
          <a:noFill/>
          <a:ln/>
        </p:spPr>
        <p:txBody>
          <a:bodyPr wrap="square" lIns="0" tIns="0" rIns="0" bIns="0" rtlCol="0" anchor="ctr"/>
          <a:lstStyle/>
          <a:p>
            <a:pPr indent="0" marL="0">
              <a:lnSpc>
                <a:spcPct val="102000"/>
              </a:lnSpc>
              <a:buNone/>
            </a:pPr>
            <a:r>
              <a:rPr lang="en-US" sz="1050" dirty="0">
                <a:solidFill>
                  <a:srgbClr val="BFC2AC"/>
                </a:solidFill>
                <a:latin typeface="Calibri" pitchFamily="34" charset="0"/>
                <a:ea typeface="Calibri" pitchFamily="34" charset="-122"/>
                <a:cs typeface="Calibri" pitchFamily="34" charset="-120"/>
              </a:rPr>
              <a:t>became readiness scoring and spend intelligence instead of guesswork.</a:t>
            </a:r>
            <a:endParaRPr lang="en-US" sz="1050" dirty="0"/>
          </a:p>
        </p:txBody>
      </p:sp>
      <p:sp>
        <p:nvSpPr>
          <p:cNvPr id="15" name="Shape 13"/>
          <p:cNvSpPr/>
          <p:nvPr/>
        </p:nvSpPr>
        <p:spPr>
          <a:xfrm>
            <a:off x="960120" y="5138928"/>
            <a:ext cx="137160" cy="137160"/>
          </a:xfrm>
          <a:prstGeom prst="ellipse">
            <a:avLst/>
          </a:prstGeom>
          <a:solidFill>
            <a:srgbClr val="A4AC86"/>
          </a:solidFill>
          <a:ln w="12700">
            <a:solidFill>
              <a:srgbClr val="A4AC86"/>
            </a:solidFill>
            <a:prstDash val="solid"/>
          </a:ln>
        </p:spPr>
      </p:sp>
      <p:sp>
        <p:nvSpPr>
          <p:cNvPr id="16" name="Text 14"/>
          <p:cNvSpPr/>
          <p:nvPr/>
        </p:nvSpPr>
        <p:spPr>
          <a:xfrm>
            <a:off x="1225296" y="5029200"/>
            <a:ext cx="4535424" cy="237744"/>
          </a:xfrm>
          <a:prstGeom prst="rect">
            <a:avLst/>
          </a:prstGeom>
          <a:noFill/>
          <a:ln/>
        </p:spPr>
        <p:txBody>
          <a:bodyPr wrap="square" lIns="0" tIns="0" rIns="0" bIns="0" rtlCol="0" anchor="ctr"/>
          <a:lstStyle/>
          <a:p>
            <a:pPr indent="0" marL="0">
              <a:buNone/>
            </a:pPr>
            <a:r>
              <a:rPr lang="en-US" sz="1200" b="1" dirty="0">
                <a:solidFill>
                  <a:srgbClr val="F5F0E2"/>
                </a:solidFill>
                <a:latin typeface="Calibri" pitchFamily="34" charset="0"/>
                <a:ea typeface="Calibri" pitchFamily="34" charset="-122"/>
                <a:cs typeface="Calibri" pitchFamily="34" charset="-120"/>
              </a:rPr>
              <a:t>Product thinking</a:t>
            </a:r>
            <a:endParaRPr lang="en-US" sz="1200" dirty="0"/>
          </a:p>
        </p:txBody>
      </p:sp>
      <p:sp>
        <p:nvSpPr>
          <p:cNvPr id="17" name="Text 15"/>
          <p:cNvSpPr/>
          <p:nvPr/>
        </p:nvSpPr>
        <p:spPr>
          <a:xfrm>
            <a:off x="1225296" y="5266944"/>
            <a:ext cx="4535424" cy="457200"/>
          </a:xfrm>
          <a:prstGeom prst="rect">
            <a:avLst/>
          </a:prstGeom>
          <a:noFill/>
          <a:ln/>
        </p:spPr>
        <p:txBody>
          <a:bodyPr wrap="square" lIns="0" tIns="0" rIns="0" bIns="0" rtlCol="0" anchor="ctr"/>
          <a:lstStyle/>
          <a:p>
            <a:pPr indent="0" marL="0">
              <a:lnSpc>
                <a:spcPct val="102000"/>
              </a:lnSpc>
              <a:buNone/>
            </a:pPr>
            <a:r>
              <a:rPr lang="en-US" sz="1050" dirty="0">
                <a:solidFill>
                  <a:srgbClr val="BFC2AC"/>
                </a:solidFill>
                <a:latin typeface="Calibri" pitchFamily="34" charset="0"/>
                <a:ea typeface="Calibri" pitchFamily="34" charset="-122"/>
                <a:cs typeface="Calibri" pitchFamily="34" charset="-120"/>
              </a:rPr>
              <a:t>became the rule that users tap first and type only when they must.</a:t>
            </a:r>
            <a:endParaRPr lang="en-US" sz="1050" dirty="0"/>
          </a:p>
        </p:txBody>
      </p:sp>
      <p:sp>
        <p:nvSpPr>
          <p:cNvPr id="18" name="Shape 16"/>
          <p:cNvSpPr/>
          <p:nvPr/>
        </p:nvSpPr>
        <p:spPr>
          <a:xfrm>
            <a:off x="6199632" y="2121408"/>
            <a:ext cx="5303520" cy="3712464"/>
          </a:xfrm>
          <a:prstGeom prst="roundRect">
            <a:avLst>
              <a:gd name="adj" fmla="val 2463"/>
            </a:avLst>
          </a:prstGeom>
          <a:solidFill>
            <a:srgbClr val="2B331F"/>
          </a:solidFill>
          <a:ln w="12700">
            <a:solidFill>
              <a:srgbClr val="4A5138"/>
            </a:solidFill>
            <a:prstDash val="solid"/>
          </a:ln>
        </p:spPr>
      </p:sp>
      <p:sp>
        <p:nvSpPr>
          <p:cNvPr id="19" name="Text 17"/>
          <p:cNvSpPr/>
          <p:nvPr/>
        </p:nvSpPr>
        <p:spPr>
          <a:xfrm>
            <a:off x="6473952" y="2359152"/>
            <a:ext cx="4754880" cy="256032"/>
          </a:xfrm>
          <a:prstGeom prst="rect">
            <a:avLst/>
          </a:prstGeom>
          <a:noFill/>
          <a:ln/>
        </p:spPr>
        <p:txBody>
          <a:bodyPr wrap="square" lIns="0" tIns="0" rIns="0" bIns="0" rtlCol="0" anchor="ctr"/>
          <a:lstStyle/>
          <a:p>
            <a:pPr indent="0" marL="0">
              <a:buNone/>
            </a:pPr>
            <a:r>
              <a:rPr lang="en-US" sz="950" b="1" spc="160" kern="0" dirty="0">
                <a:solidFill>
                  <a:srgbClr val="A68A64"/>
                </a:solidFill>
                <a:latin typeface="Calibri" pitchFamily="34" charset="0"/>
                <a:ea typeface="Calibri" pitchFamily="34" charset="-122"/>
                <a:cs typeface="Calibri" pitchFamily="34" charset="-120"/>
              </a:rPr>
              <a:t>WHERE THIS GOES NEXT</a:t>
            </a:r>
            <a:endParaRPr lang="en-US" sz="950" dirty="0"/>
          </a:p>
        </p:txBody>
      </p:sp>
      <p:sp>
        <p:nvSpPr>
          <p:cNvPr id="20" name="Shape 18"/>
          <p:cNvSpPr/>
          <p:nvPr/>
        </p:nvSpPr>
        <p:spPr>
          <a:xfrm>
            <a:off x="6473952" y="2743200"/>
            <a:ext cx="274320" cy="274320"/>
          </a:xfrm>
          <a:prstGeom prst="ellipse">
            <a:avLst/>
          </a:prstGeom>
          <a:solidFill>
            <a:srgbClr val="A68A64"/>
          </a:solidFill>
          <a:ln w="12700">
            <a:solidFill>
              <a:srgbClr val="A68A64"/>
            </a:solidFill>
            <a:prstDash val="solid"/>
          </a:ln>
        </p:spPr>
      </p:sp>
      <p:sp>
        <p:nvSpPr>
          <p:cNvPr id="21" name="Text 19"/>
          <p:cNvSpPr/>
          <p:nvPr/>
        </p:nvSpPr>
        <p:spPr>
          <a:xfrm>
            <a:off x="6473952" y="2743200"/>
            <a:ext cx="274320" cy="274320"/>
          </a:xfrm>
          <a:prstGeom prst="rect">
            <a:avLst/>
          </a:prstGeom>
          <a:noFill/>
          <a:ln/>
        </p:spPr>
        <p:txBody>
          <a:bodyPr wrap="square" lIns="0" tIns="0" rIns="0" bIns="0" rtlCol="0" anchor="ctr"/>
          <a:lstStyle/>
          <a:p>
            <a:pPr algn="ctr" indent="0" marL="0">
              <a:buNone/>
            </a:pPr>
            <a:r>
              <a:rPr lang="en-US" sz="1050" b="1" dirty="0">
                <a:solidFill>
                  <a:srgbClr val="333D29"/>
                </a:solidFill>
                <a:latin typeface="Calibri" pitchFamily="34" charset="0"/>
                <a:ea typeface="Calibri" pitchFamily="34" charset="-122"/>
                <a:cs typeface="Calibri" pitchFamily="34" charset="-120"/>
              </a:rPr>
              <a:t>1</a:t>
            </a:r>
            <a:endParaRPr lang="en-US" sz="1050" dirty="0"/>
          </a:p>
        </p:txBody>
      </p:sp>
      <p:sp>
        <p:nvSpPr>
          <p:cNvPr id="22" name="Text 20"/>
          <p:cNvSpPr/>
          <p:nvPr/>
        </p:nvSpPr>
        <p:spPr>
          <a:xfrm>
            <a:off x="6876288" y="2724912"/>
            <a:ext cx="4443984" cy="237744"/>
          </a:xfrm>
          <a:prstGeom prst="rect">
            <a:avLst/>
          </a:prstGeom>
          <a:noFill/>
          <a:ln/>
        </p:spPr>
        <p:txBody>
          <a:bodyPr wrap="square" lIns="0" tIns="0" rIns="0" bIns="0" rtlCol="0" anchor="ctr"/>
          <a:lstStyle/>
          <a:p>
            <a:pPr indent="0" marL="0">
              <a:buNone/>
            </a:pPr>
            <a:r>
              <a:rPr lang="en-US" sz="1200" b="1" dirty="0">
                <a:solidFill>
                  <a:srgbClr val="F5F0E2"/>
                </a:solidFill>
                <a:latin typeface="Calibri" pitchFamily="34" charset="0"/>
                <a:ea typeface="Calibri" pitchFamily="34" charset="-122"/>
                <a:cs typeface="Calibri" pitchFamily="34" charset="-120"/>
              </a:rPr>
              <a:t>Still building — through December 2026</a:t>
            </a:r>
            <a:endParaRPr lang="en-US" sz="1200" dirty="0"/>
          </a:p>
        </p:txBody>
      </p:sp>
      <p:sp>
        <p:nvSpPr>
          <p:cNvPr id="23" name="Text 21"/>
          <p:cNvSpPr/>
          <p:nvPr/>
        </p:nvSpPr>
        <p:spPr>
          <a:xfrm>
            <a:off x="6876288" y="2962656"/>
            <a:ext cx="4443984" cy="457200"/>
          </a:xfrm>
          <a:prstGeom prst="rect">
            <a:avLst/>
          </a:prstGeom>
          <a:noFill/>
          <a:ln/>
        </p:spPr>
        <p:txBody>
          <a:bodyPr wrap="square" lIns="0" tIns="0" rIns="0" bIns="0" rtlCol="0" anchor="ctr"/>
          <a:lstStyle/>
          <a:p>
            <a:pPr indent="0" marL="0">
              <a:lnSpc>
                <a:spcPct val="102000"/>
              </a:lnSpc>
              <a:buNone/>
            </a:pPr>
            <a:r>
              <a:rPr lang="en-US" sz="1050" dirty="0">
                <a:solidFill>
                  <a:srgbClr val="BFC2AC"/>
                </a:solidFill>
                <a:latin typeface="Calibri" pitchFamily="34" charset="0"/>
                <a:ea typeface="Calibri" pitchFamily="34" charset="-122"/>
                <a:cs typeface="Calibri" pitchFamily="34" charset="-120"/>
              </a:rPr>
              <a:t>The engagement is ongoing; Elysian is not a finished submission.</a:t>
            </a:r>
            <a:endParaRPr lang="en-US" sz="1050" dirty="0"/>
          </a:p>
        </p:txBody>
      </p:sp>
      <p:sp>
        <p:nvSpPr>
          <p:cNvPr id="24" name="Shape 22"/>
          <p:cNvSpPr/>
          <p:nvPr/>
        </p:nvSpPr>
        <p:spPr>
          <a:xfrm>
            <a:off x="6473952" y="3511296"/>
            <a:ext cx="274320" cy="274320"/>
          </a:xfrm>
          <a:prstGeom prst="ellipse">
            <a:avLst/>
          </a:prstGeom>
          <a:solidFill>
            <a:srgbClr val="A68A64"/>
          </a:solidFill>
          <a:ln w="12700">
            <a:solidFill>
              <a:srgbClr val="A68A64"/>
            </a:solidFill>
            <a:prstDash val="solid"/>
          </a:ln>
        </p:spPr>
      </p:sp>
      <p:sp>
        <p:nvSpPr>
          <p:cNvPr id="25" name="Text 23"/>
          <p:cNvSpPr/>
          <p:nvPr/>
        </p:nvSpPr>
        <p:spPr>
          <a:xfrm>
            <a:off x="6473952" y="3511296"/>
            <a:ext cx="274320" cy="274320"/>
          </a:xfrm>
          <a:prstGeom prst="rect">
            <a:avLst/>
          </a:prstGeom>
          <a:noFill/>
          <a:ln/>
        </p:spPr>
        <p:txBody>
          <a:bodyPr wrap="square" lIns="0" tIns="0" rIns="0" bIns="0" rtlCol="0" anchor="ctr"/>
          <a:lstStyle/>
          <a:p>
            <a:pPr algn="ctr" indent="0" marL="0">
              <a:buNone/>
            </a:pPr>
            <a:r>
              <a:rPr lang="en-US" sz="1050" b="1" dirty="0">
                <a:solidFill>
                  <a:srgbClr val="333D29"/>
                </a:solidFill>
                <a:latin typeface="Calibri" pitchFamily="34" charset="0"/>
                <a:ea typeface="Calibri" pitchFamily="34" charset="-122"/>
                <a:cs typeface="Calibri" pitchFamily="34" charset="-120"/>
              </a:rPr>
              <a:t>2</a:t>
            </a:r>
            <a:endParaRPr lang="en-US" sz="1050" dirty="0"/>
          </a:p>
        </p:txBody>
      </p:sp>
      <p:sp>
        <p:nvSpPr>
          <p:cNvPr id="26" name="Text 24"/>
          <p:cNvSpPr/>
          <p:nvPr/>
        </p:nvSpPr>
        <p:spPr>
          <a:xfrm>
            <a:off x="6876288" y="3493008"/>
            <a:ext cx="4443984" cy="237744"/>
          </a:xfrm>
          <a:prstGeom prst="rect">
            <a:avLst/>
          </a:prstGeom>
          <a:noFill/>
          <a:ln/>
        </p:spPr>
        <p:txBody>
          <a:bodyPr wrap="square" lIns="0" tIns="0" rIns="0" bIns="0" rtlCol="0" anchor="ctr"/>
          <a:lstStyle/>
          <a:p>
            <a:pPr indent="0" marL="0">
              <a:buNone/>
            </a:pPr>
            <a:r>
              <a:rPr lang="en-US" sz="1200" b="1" dirty="0">
                <a:solidFill>
                  <a:srgbClr val="F5F0E2"/>
                </a:solidFill>
                <a:latin typeface="Calibri" pitchFamily="34" charset="0"/>
                <a:ea typeface="Calibri" pitchFamily="34" charset="-122"/>
                <a:cs typeface="Calibri" pitchFamily="34" charset="-120"/>
              </a:rPr>
              <a:t>Next: architecture, not features</a:t>
            </a:r>
            <a:endParaRPr lang="en-US" sz="1200" dirty="0"/>
          </a:p>
        </p:txBody>
      </p:sp>
      <p:sp>
        <p:nvSpPr>
          <p:cNvPr id="27" name="Text 25"/>
          <p:cNvSpPr/>
          <p:nvPr/>
        </p:nvSpPr>
        <p:spPr>
          <a:xfrm>
            <a:off x="6876288" y="3730752"/>
            <a:ext cx="4443984" cy="457200"/>
          </a:xfrm>
          <a:prstGeom prst="rect">
            <a:avLst/>
          </a:prstGeom>
          <a:noFill/>
          <a:ln/>
        </p:spPr>
        <p:txBody>
          <a:bodyPr wrap="square" lIns="0" tIns="0" rIns="0" bIns="0" rtlCol="0" anchor="ctr"/>
          <a:lstStyle/>
          <a:p>
            <a:pPr indent="0" marL="0">
              <a:lnSpc>
                <a:spcPct val="102000"/>
              </a:lnSpc>
              <a:buNone/>
            </a:pPr>
            <a:r>
              <a:rPr lang="en-US" sz="1050" dirty="0">
                <a:solidFill>
                  <a:srgbClr val="BFC2AC"/>
                </a:solidFill>
                <a:latin typeface="Calibri" pitchFamily="34" charset="0"/>
                <a:ea typeface="Calibri" pitchFamily="34" charset="-122"/>
                <a:cs typeface="Calibri" pitchFamily="34" charset="-120"/>
              </a:rPr>
              <a:t>Transaction boundaries in Postgres, a split client/vendor ledger, and server-side decomposition of the planner.</a:t>
            </a:r>
            <a:endParaRPr lang="en-US" sz="1050" dirty="0"/>
          </a:p>
        </p:txBody>
      </p:sp>
      <p:sp>
        <p:nvSpPr>
          <p:cNvPr id="28" name="Shape 26"/>
          <p:cNvSpPr/>
          <p:nvPr/>
        </p:nvSpPr>
        <p:spPr>
          <a:xfrm>
            <a:off x="6473952" y="4279392"/>
            <a:ext cx="274320" cy="274320"/>
          </a:xfrm>
          <a:prstGeom prst="ellipse">
            <a:avLst/>
          </a:prstGeom>
          <a:solidFill>
            <a:srgbClr val="A68A64"/>
          </a:solidFill>
          <a:ln w="12700">
            <a:solidFill>
              <a:srgbClr val="A68A64"/>
            </a:solidFill>
            <a:prstDash val="solid"/>
          </a:ln>
        </p:spPr>
      </p:sp>
      <p:sp>
        <p:nvSpPr>
          <p:cNvPr id="29" name="Text 27"/>
          <p:cNvSpPr/>
          <p:nvPr/>
        </p:nvSpPr>
        <p:spPr>
          <a:xfrm>
            <a:off x="6473952" y="4279392"/>
            <a:ext cx="274320" cy="274320"/>
          </a:xfrm>
          <a:prstGeom prst="rect">
            <a:avLst/>
          </a:prstGeom>
          <a:noFill/>
          <a:ln/>
        </p:spPr>
        <p:txBody>
          <a:bodyPr wrap="square" lIns="0" tIns="0" rIns="0" bIns="0" rtlCol="0" anchor="ctr"/>
          <a:lstStyle/>
          <a:p>
            <a:pPr algn="ctr" indent="0" marL="0">
              <a:buNone/>
            </a:pPr>
            <a:r>
              <a:rPr lang="en-US" sz="1050" b="1" dirty="0">
                <a:solidFill>
                  <a:srgbClr val="333D29"/>
                </a:solidFill>
                <a:latin typeface="Calibri" pitchFamily="34" charset="0"/>
                <a:ea typeface="Calibri" pitchFamily="34" charset="-122"/>
                <a:cs typeface="Calibri" pitchFamily="34" charset="-120"/>
              </a:rPr>
              <a:t>3</a:t>
            </a:r>
            <a:endParaRPr lang="en-US" sz="1050" dirty="0"/>
          </a:p>
        </p:txBody>
      </p:sp>
      <p:sp>
        <p:nvSpPr>
          <p:cNvPr id="30" name="Text 28"/>
          <p:cNvSpPr/>
          <p:nvPr/>
        </p:nvSpPr>
        <p:spPr>
          <a:xfrm>
            <a:off x="6876288" y="4261104"/>
            <a:ext cx="4443984" cy="237744"/>
          </a:xfrm>
          <a:prstGeom prst="rect">
            <a:avLst/>
          </a:prstGeom>
          <a:noFill/>
          <a:ln/>
        </p:spPr>
        <p:txBody>
          <a:bodyPr wrap="square" lIns="0" tIns="0" rIns="0" bIns="0" rtlCol="0" anchor="ctr"/>
          <a:lstStyle/>
          <a:p>
            <a:pPr indent="0" marL="0">
              <a:buNone/>
            </a:pPr>
            <a:r>
              <a:rPr lang="en-US" sz="1200" b="1" dirty="0">
                <a:solidFill>
                  <a:srgbClr val="F5F0E2"/>
                </a:solidFill>
                <a:latin typeface="Calibri" pitchFamily="34" charset="0"/>
                <a:ea typeface="Calibri" pitchFamily="34" charset="-122"/>
                <a:cs typeface="Calibri" pitchFamily="34" charset="-120"/>
              </a:rPr>
              <a:t>Scale Elysian past events</a:t>
            </a:r>
            <a:endParaRPr lang="en-US" sz="1200" dirty="0"/>
          </a:p>
        </p:txBody>
      </p:sp>
      <p:sp>
        <p:nvSpPr>
          <p:cNvPr id="31" name="Text 29"/>
          <p:cNvSpPr/>
          <p:nvPr/>
        </p:nvSpPr>
        <p:spPr>
          <a:xfrm>
            <a:off x="6876288" y="4498848"/>
            <a:ext cx="4443984" cy="457200"/>
          </a:xfrm>
          <a:prstGeom prst="rect">
            <a:avLst/>
          </a:prstGeom>
          <a:noFill/>
          <a:ln/>
        </p:spPr>
        <p:txBody>
          <a:bodyPr wrap="square" lIns="0" tIns="0" rIns="0" bIns="0" rtlCol="0" anchor="ctr"/>
          <a:lstStyle/>
          <a:p>
            <a:pPr indent="0" marL="0">
              <a:lnSpc>
                <a:spcPct val="102000"/>
              </a:lnSpc>
              <a:buNone/>
            </a:pPr>
            <a:r>
              <a:rPr lang="en-US" sz="1050" dirty="0">
                <a:solidFill>
                  <a:srgbClr val="BFC2AC"/>
                </a:solidFill>
                <a:latin typeface="Calibri" pitchFamily="34" charset="0"/>
                <a:ea typeface="Calibri" pitchFamily="34" charset="-122"/>
                <a:cs typeface="Calibri" pitchFamily="34" charset="-120"/>
              </a:rPr>
              <a:t>Extend the same spine to hospitality, education and real estate as a true multi-brand platform.</a:t>
            </a:r>
            <a:endParaRPr lang="en-US" sz="1050" dirty="0"/>
          </a:p>
        </p:txBody>
      </p:sp>
      <p:sp>
        <p:nvSpPr>
          <p:cNvPr id="32" name="Shape 30"/>
          <p:cNvSpPr/>
          <p:nvPr/>
        </p:nvSpPr>
        <p:spPr>
          <a:xfrm>
            <a:off x="6473952" y="5047488"/>
            <a:ext cx="274320" cy="274320"/>
          </a:xfrm>
          <a:prstGeom prst="ellipse">
            <a:avLst/>
          </a:prstGeom>
          <a:solidFill>
            <a:srgbClr val="A68A64"/>
          </a:solidFill>
          <a:ln w="12700">
            <a:solidFill>
              <a:srgbClr val="A68A64"/>
            </a:solidFill>
            <a:prstDash val="solid"/>
          </a:ln>
        </p:spPr>
      </p:sp>
      <p:sp>
        <p:nvSpPr>
          <p:cNvPr id="33" name="Text 31"/>
          <p:cNvSpPr/>
          <p:nvPr/>
        </p:nvSpPr>
        <p:spPr>
          <a:xfrm>
            <a:off x="6473952" y="5047488"/>
            <a:ext cx="274320" cy="274320"/>
          </a:xfrm>
          <a:prstGeom prst="rect">
            <a:avLst/>
          </a:prstGeom>
          <a:noFill/>
          <a:ln/>
        </p:spPr>
        <p:txBody>
          <a:bodyPr wrap="square" lIns="0" tIns="0" rIns="0" bIns="0" rtlCol="0" anchor="ctr"/>
          <a:lstStyle/>
          <a:p>
            <a:pPr algn="ctr" indent="0" marL="0">
              <a:buNone/>
            </a:pPr>
            <a:r>
              <a:rPr lang="en-US" sz="1050" b="1" dirty="0">
                <a:solidFill>
                  <a:srgbClr val="333D29"/>
                </a:solidFill>
                <a:latin typeface="Calibri" pitchFamily="34" charset="0"/>
                <a:ea typeface="Calibri" pitchFamily="34" charset="-122"/>
                <a:cs typeface="Calibri" pitchFamily="34" charset="-120"/>
              </a:rPr>
              <a:t>4</a:t>
            </a:r>
            <a:endParaRPr lang="en-US" sz="1050" dirty="0"/>
          </a:p>
        </p:txBody>
      </p:sp>
      <p:sp>
        <p:nvSpPr>
          <p:cNvPr id="34" name="Text 32"/>
          <p:cNvSpPr/>
          <p:nvPr/>
        </p:nvSpPr>
        <p:spPr>
          <a:xfrm>
            <a:off x="6876288" y="5029200"/>
            <a:ext cx="4443984" cy="237744"/>
          </a:xfrm>
          <a:prstGeom prst="rect">
            <a:avLst/>
          </a:prstGeom>
          <a:noFill/>
          <a:ln/>
        </p:spPr>
        <p:txBody>
          <a:bodyPr wrap="square" lIns="0" tIns="0" rIns="0" bIns="0" rtlCol="0" anchor="ctr"/>
          <a:lstStyle/>
          <a:p>
            <a:pPr indent="0" marL="0">
              <a:buNone/>
            </a:pPr>
            <a:r>
              <a:rPr lang="en-US" sz="1200" b="1" dirty="0">
                <a:solidFill>
                  <a:srgbClr val="F5F0E2"/>
                </a:solidFill>
                <a:latin typeface="Calibri" pitchFamily="34" charset="0"/>
                <a:ea typeface="Calibri" pitchFamily="34" charset="-122"/>
                <a:cs typeface="Calibri" pitchFamily="34" charset="-120"/>
              </a:rPr>
              <a:t>My own goal</a:t>
            </a:r>
            <a:endParaRPr lang="en-US" sz="1200" dirty="0"/>
          </a:p>
        </p:txBody>
      </p:sp>
      <p:sp>
        <p:nvSpPr>
          <p:cNvPr id="35" name="Text 33"/>
          <p:cNvSpPr/>
          <p:nvPr/>
        </p:nvSpPr>
        <p:spPr>
          <a:xfrm>
            <a:off x="6876288" y="5266944"/>
            <a:ext cx="4443984" cy="457200"/>
          </a:xfrm>
          <a:prstGeom prst="rect">
            <a:avLst/>
          </a:prstGeom>
          <a:noFill/>
          <a:ln/>
        </p:spPr>
        <p:txBody>
          <a:bodyPr wrap="square" lIns="0" tIns="0" rIns="0" bIns="0" rtlCol="0" anchor="ctr"/>
          <a:lstStyle/>
          <a:p>
            <a:pPr indent="0" marL="0">
              <a:lnSpc>
                <a:spcPct val="102000"/>
              </a:lnSpc>
              <a:buNone/>
            </a:pPr>
            <a:r>
              <a:rPr lang="en-US" sz="1050" dirty="0">
                <a:solidFill>
                  <a:srgbClr val="BFC2AC"/>
                </a:solidFill>
                <a:latin typeface="Calibri" pitchFamily="34" charset="0"/>
                <a:ea typeface="Calibri" pitchFamily="34" charset="-122"/>
                <a:cs typeface="Calibri" pitchFamily="34" charset="-120"/>
              </a:rPr>
              <a:t>Grow into an engineer who owns systems end to end — and keeps auditing his own work.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lysian-Celebrations/b352a563-fe1e-5748-a5d2-f04c5510bd2a/scratchpad/deck/assets/motif-flow.png">    </p:cNvPr>
          <p:cNvPicPr>
            <a:picLocks noChangeAspect="1"/>
          </p:cNvPicPr>
          <p:nvPr/>
        </p:nvPicPr>
        <p:blipFill>
          <a:blip r:embed="rId2">
            <a:alphaModFix amt="70000"/>
          </a:blip>
          <a:stretch>
            <a:fillRect/>
          </a:stretch>
        </p:blipFill>
        <p:spPr>
          <a:xfrm>
            <a:off x="7223760" y="502920"/>
            <a:ext cx="5852160" cy="5852160"/>
          </a:xfrm>
          <a:prstGeom prst="rect">
            <a:avLst/>
          </a:prstGeom>
        </p:spPr>
      </p:pic>
      <p:sp>
        <p:nvSpPr>
          <p:cNvPr id="3" name="Text 0"/>
          <p:cNvSpPr/>
          <p:nvPr/>
        </p:nvSpPr>
        <p:spPr>
          <a:xfrm>
            <a:off x="777240" y="1828800"/>
            <a:ext cx="6400800" cy="274320"/>
          </a:xfrm>
          <a:prstGeom prst="rect">
            <a:avLst/>
          </a:prstGeom>
          <a:noFill/>
          <a:ln/>
        </p:spPr>
        <p:txBody>
          <a:bodyPr wrap="square" lIns="0" tIns="0" rIns="0" bIns="0" rtlCol="0" anchor="ctr"/>
          <a:lstStyle/>
          <a:p>
            <a:pPr indent="0" marL="0">
              <a:buNone/>
            </a:pPr>
            <a:r>
              <a:rPr lang="en-US" sz="1150" b="1" spc="320" kern="0" dirty="0">
                <a:solidFill>
                  <a:srgbClr val="A68A64"/>
                </a:solidFill>
                <a:latin typeface="Calibri" pitchFamily="34" charset="0"/>
                <a:ea typeface="Calibri" pitchFamily="34" charset="-122"/>
                <a:cs typeface="Calibri" pitchFamily="34" charset="-120"/>
              </a:rPr>
              <a:t>THANK YOU</a:t>
            </a:r>
            <a:endParaRPr lang="en-US" sz="1150" dirty="0"/>
          </a:p>
        </p:txBody>
      </p:sp>
      <p:sp>
        <p:nvSpPr>
          <p:cNvPr id="4" name="Text 1"/>
          <p:cNvSpPr/>
          <p:nvPr/>
        </p:nvSpPr>
        <p:spPr>
          <a:xfrm>
            <a:off x="777240" y="2231136"/>
            <a:ext cx="6400800" cy="1554480"/>
          </a:xfrm>
          <a:prstGeom prst="rect">
            <a:avLst/>
          </a:prstGeom>
          <a:noFill/>
          <a:ln/>
        </p:spPr>
        <p:txBody>
          <a:bodyPr wrap="square" lIns="0" tIns="0" rIns="0" bIns="0" rtlCol="0" anchor="ctr"/>
          <a:lstStyle/>
          <a:p>
            <a:pPr indent="0" marL="0">
              <a:lnSpc>
                <a:spcPct val="98000"/>
              </a:lnSpc>
              <a:buNone/>
            </a:pPr>
            <a:r>
              <a:rPr lang="en-US" sz="4200" b="1" dirty="0">
                <a:solidFill>
                  <a:srgbClr val="F5F0E2"/>
                </a:solidFill>
                <a:latin typeface="Cambria" pitchFamily="34" charset="0"/>
                <a:ea typeface="Cambria" pitchFamily="34" charset="-122"/>
                <a:cs typeface="Cambria" pitchFamily="34" charset="-120"/>
              </a:rPr>
              <a:t>Questions are</a:t>
            </a:r>
            <a:endParaRPr lang="en-US" sz="4200" dirty="0"/>
          </a:p>
          <a:p>
            <a:pPr indent="0" marL="0">
              <a:lnSpc>
                <a:spcPct val="98000"/>
              </a:lnSpc>
              <a:buNone/>
            </a:pPr>
            <a:r>
              <a:rPr lang="en-US" sz="4200" b="1" dirty="0">
                <a:solidFill>
                  <a:srgbClr val="F5F0E2"/>
                </a:solidFill>
                <a:latin typeface="Cambria" pitchFamily="34" charset="0"/>
                <a:ea typeface="Cambria" pitchFamily="34" charset="-122"/>
                <a:cs typeface="Cambria" pitchFamily="34" charset="-120"/>
              </a:rPr>
              <a:t>welcome.</a:t>
            </a:r>
            <a:endParaRPr lang="en-US" sz="4200" dirty="0"/>
          </a:p>
        </p:txBody>
      </p:sp>
      <p:sp>
        <p:nvSpPr>
          <p:cNvPr id="5" name="Text 2"/>
          <p:cNvSpPr/>
          <p:nvPr/>
        </p:nvSpPr>
        <p:spPr>
          <a:xfrm>
            <a:off x="777240" y="3858768"/>
            <a:ext cx="5852160" cy="512064"/>
          </a:xfrm>
          <a:prstGeom prst="rect">
            <a:avLst/>
          </a:prstGeom>
          <a:noFill/>
          <a:ln/>
        </p:spPr>
        <p:txBody>
          <a:bodyPr wrap="square" lIns="0" tIns="0" rIns="0" bIns="0" rtlCol="0" anchor="ctr"/>
          <a:lstStyle/>
          <a:p>
            <a:pPr indent="0" marL="0">
              <a:lnSpc>
                <a:spcPct val="104000"/>
              </a:lnSpc>
              <a:buNone/>
            </a:pPr>
            <a:r>
              <a:rPr lang="en-US" sz="1350" i="1" dirty="0">
                <a:solidFill>
                  <a:srgbClr val="B6AD90"/>
                </a:solidFill>
                <a:latin typeface="Calibri" pitchFamily="34" charset="0"/>
                <a:ea typeface="Calibri" pitchFamily="34" charset="-122"/>
                <a:cs typeface="Calibri" pitchFamily="34" charset="-120"/>
              </a:rPr>
              <a:t>Happy to go deeper on the flow map, the pricing model, or the audit.</a:t>
            </a:r>
            <a:endParaRPr lang="en-US" sz="1350" dirty="0"/>
          </a:p>
        </p:txBody>
      </p:sp>
      <p:sp>
        <p:nvSpPr>
          <p:cNvPr id="6" name="Text 3"/>
          <p:cNvSpPr/>
          <p:nvPr/>
        </p:nvSpPr>
        <p:spPr>
          <a:xfrm>
            <a:off x="777240" y="4590288"/>
            <a:ext cx="1737360" cy="256032"/>
          </a:xfrm>
          <a:prstGeom prst="rect">
            <a:avLst/>
          </a:prstGeom>
          <a:noFill/>
          <a:ln/>
        </p:spPr>
        <p:txBody>
          <a:bodyPr wrap="square" lIns="0" tIns="0" rIns="0" bIns="0" rtlCol="0" anchor="ctr"/>
          <a:lstStyle/>
          <a:p>
            <a:pPr indent="0" marL="0">
              <a:buNone/>
            </a:pPr>
            <a:r>
              <a:rPr lang="en-US" sz="850" b="1" spc="180" kern="0" dirty="0">
                <a:solidFill>
                  <a:srgbClr val="656D4A"/>
                </a:solidFill>
                <a:latin typeface="Calibri" pitchFamily="34" charset="0"/>
                <a:ea typeface="Calibri" pitchFamily="34" charset="-122"/>
                <a:cs typeface="Calibri" pitchFamily="34" charset="-120"/>
              </a:rPr>
              <a:t>STUDENT</a:t>
            </a:r>
            <a:endParaRPr lang="en-US" sz="850" dirty="0"/>
          </a:p>
        </p:txBody>
      </p:sp>
      <p:sp>
        <p:nvSpPr>
          <p:cNvPr id="7" name="Text 4"/>
          <p:cNvSpPr/>
          <p:nvPr/>
        </p:nvSpPr>
        <p:spPr>
          <a:xfrm>
            <a:off x="2606040" y="4590288"/>
            <a:ext cx="4480560" cy="256032"/>
          </a:xfrm>
          <a:prstGeom prst="rect">
            <a:avLst/>
          </a:prstGeom>
          <a:noFill/>
          <a:ln/>
        </p:spPr>
        <p:txBody>
          <a:bodyPr wrap="square" lIns="0" tIns="0" rIns="0" bIns="0" rtlCol="0" anchor="ctr"/>
          <a:lstStyle/>
          <a:p>
            <a:pPr indent="0" marL="0">
              <a:buNone/>
            </a:pPr>
            <a:r>
              <a:rPr lang="en-US" sz="1100" b="1" dirty="0">
                <a:solidFill>
                  <a:srgbClr val="F5F0E2"/>
                </a:solidFill>
                <a:latin typeface="Calibri" pitchFamily="34" charset="0"/>
                <a:ea typeface="Calibri" pitchFamily="34" charset="-122"/>
                <a:cs typeface="Calibri" pitchFamily="34" charset="-120"/>
              </a:rPr>
              <a:t>Mohammed Rayyan Pasha  ·  AU23UG-015</a:t>
            </a:r>
            <a:endParaRPr lang="en-US" sz="1100" dirty="0"/>
          </a:p>
        </p:txBody>
      </p:sp>
      <p:sp>
        <p:nvSpPr>
          <p:cNvPr id="8" name="Text 5"/>
          <p:cNvSpPr/>
          <p:nvPr/>
        </p:nvSpPr>
        <p:spPr>
          <a:xfrm>
            <a:off x="777240" y="5047488"/>
            <a:ext cx="1737360" cy="256032"/>
          </a:xfrm>
          <a:prstGeom prst="rect">
            <a:avLst/>
          </a:prstGeom>
          <a:noFill/>
          <a:ln/>
        </p:spPr>
        <p:txBody>
          <a:bodyPr wrap="square" lIns="0" tIns="0" rIns="0" bIns="0" rtlCol="0" anchor="ctr"/>
          <a:lstStyle/>
          <a:p>
            <a:pPr indent="0" marL="0">
              <a:buNone/>
            </a:pPr>
            <a:r>
              <a:rPr lang="en-US" sz="850" b="1" spc="180" kern="0" dirty="0">
                <a:solidFill>
                  <a:srgbClr val="656D4A"/>
                </a:solidFill>
                <a:latin typeface="Calibri" pitchFamily="34" charset="0"/>
                <a:ea typeface="Calibri" pitchFamily="34" charset="-122"/>
                <a:cs typeface="Calibri" pitchFamily="34" charset="-120"/>
              </a:rPr>
              <a:t>PROGRAMME</a:t>
            </a:r>
            <a:endParaRPr lang="en-US" sz="850" dirty="0"/>
          </a:p>
        </p:txBody>
      </p:sp>
      <p:sp>
        <p:nvSpPr>
          <p:cNvPr id="9" name="Text 6"/>
          <p:cNvSpPr/>
          <p:nvPr/>
        </p:nvSpPr>
        <p:spPr>
          <a:xfrm>
            <a:off x="2606040" y="5047488"/>
            <a:ext cx="4480560" cy="256032"/>
          </a:xfrm>
          <a:prstGeom prst="rect">
            <a:avLst/>
          </a:prstGeom>
          <a:noFill/>
          <a:ln/>
        </p:spPr>
        <p:txBody>
          <a:bodyPr wrap="square" lIns="0" tIns="0" rIns="0" bIns="0" rtlCol="0" anchor="ctr"/>
          <a:lstStyle/>
          <a:p>
            <a:pPr indent="0" marL="0">
              <a:buNone/>
            </a:pPr>
            <a:r>
              <a:rPr lang="en-US" sz="1100" b="1" dirty="0">
                <a:solidFill>
                  <a:srgbClr val="F5F0E2"/>
                </a:solidFill>
                <a:latin typeface="Calibri" pitchFamily="34" charset="0"/>
                <a:ea typeface="Calibri" pitchFamily="34" charset="-122"/>
                <a:cs typeface="Calibri" pitchFamily="34" charset="-120"/>
              </a:rPr>
              <a:t>Undergraduate Programme in Digital Transformation</a:t>
            </a:r>
            <a:endParaRPr lang="en-US" sz="1100" dirty="0"/>
          </a:p>
        </p:txBody>
      </p:sp>
      <p:sp>
        <p:nvSpPr>
          <p:cNvPr id="10" name="Text 7"/>
          <p:cNvSpPr/>
          <p:nvPr/>
        </p:nvSpPr>
        <p:spPr>
          <a:xfrm>
            <a:off x="777240" y="5504688"/>
            <a:ext cx="1737360" cy="256032"/>
          </a:xfrm>
          <a:prstGeom prst="rect">
            <a:avLst/>
          </a:prstGeom>
          <a:noFill/>
          <a:ln/>
        </p:spPr>
        <p:txBody>
          <a:bodyPr wrap="square" lIns="0" tIns="0" rIns="0" bIns="0" rtlCol="0" anchor="ctr"/>
          <a:lstStyle/>
          <a:p>
            <a:pPr indent="0" marL="0">
              <a:buNone/>
            </a:pPr>
            <a:r>
              <a:rPr lang="en-US" sz="850" b="1" spc="180" kern="0" dirty="0">
                <a:solidFill>
                  <a:srgbClr val="656D4A"/>
                </a:solidFill>
                <a:latin typeface="Calibri" pitchFamily="34" charset="0"/>
                <a:ea typeface="Calibri" pitchFamily="34" charset="-122"/>
                <a:cs typeface="Calibri" pitchFamily="34" charset="-120"/>
              </a:rPr>
              <a:t>MENTOR</a:t>
            </a:r>
            <a:endParaRPr lang="en-US" sz="850" dirty="0"/>
          </a:p>
        </p:txBody>
      </p:sp>
      <p:sp>
        <p:nvSpPr>
          <p:cNvPr id="11" name="Text 8"/>
          <p:cNvSpPr/>
          <p:nvPr/>
        </p:nvSpPr>
        <p:spPr>
          <a:xfrm>
            <a:off x="2606040" y="5504688"/>
            <a:ext cx="4480560" cy="256032"/>
          </a:xfrm>
          <a:prstGeom prst="rect">
            <a:avLst/>
          </a:prstGeom>
          <a:noFill/>
          <a:ln/>
        </p:spPr>
        <p:txBody>
          <a:bodyPr wrap="square" lIns="0" tIns="0" rIns="0" bIns="0" rtlCol="0" anchor="ctr"/>
          <a:lstStyle/>
          <a:p>
            <a:pPr indent="0" marL="0">
              <a:buNone/>
            </a:pPr>
            <a:r>
              <a:rPr lang="en-US" sz="1100" b="1" dirty="0">
                <a:solidFill>
                  <a:srgbClr val="F5F0E2"/>
                </a:solidFill>
                <a:latin typeface="Calibri" pitchFamily="34" charset="0"/>
                <a:ea typeface="Calibri" pitchFamily="34" charset="-122"/>
                <a:cs typeface="Calibri" pitchFamily="34" charset="-120"/>
              </a:rPr>
              <a:t>Padmini Raghavendra — Director &amp; CEO</a:t>
            </a:r>
            <a:endParaRPr lang="en-US" sz="1100" dirty="0"/>
          </a:p>
        </p:txBody>
      </p:sp>
      <p:sp>
        <p:nvSpPr>
          <p:cNvPr id="12" name="Text 9"/>
          <p:cNvSpPr/>
          <p:nvPr/>
        </p:nvSpPr>
        <p:spPr>
          <a:xfrm>
            <a:off x="777240" y="5961888"/>
            <a:ext cx="1737360" cy="256032"/>
          </a:xfrm>
          <a:prstGeom prst="rect">
            <a:avLst/>
          </a:prstGeom>
          <a:noFill/>
          <a:ln/>
        </p:spPr>
        <p:txBody>
          <a:bodyPr wrap="square" lIns="0" tIns="0" rIns="0" bIns="0" rtlCol="0" anchor="ctr"/>
          <a:lstStyle/>
          <a:p>
            <a:pPr indent="0" marL="0">
              <a:buNone/>
            </a:pPr>
            <a:r>
              <a:rPr lang="en-US" sz="850" b="1" spc="180" kern="0" dirty="0">
                <a:solidFill>
                  <a:srgbClr val="656D4A"/>
                </a:solidFill>
                <a:latin typeface="Calibri" pitchFamily="34" charset="0"/>
                <a:ea typeface="Calibri" pitchFamily="34" charset="-122"/>
                <a:cs typeface="Calibri" pitchFamily="34" charset="-120"/>
              </a:rPr>
              <a:t>ORGANISATION</a:t>
            </a:r>
            <a:endParaRPr lang="en-US" sz="850" dirty="0"/>
          </a:p>
        </p:txBody>
      </p:sp>
      <p:sp>
        <p:nvSpPr>
          <p:cNvPr id="13" name="Text 10"/>
          <p:cNvSpPr/>
          <p:nvPr/>
        </p:nvSpPr>
        <p:spPr>
          <a:xfrm>
            <a:off x="2606040" y="5961888"/>
            <a:ext cx="4480560" cy="256032"/>
          </a:xfrm>
          <a:prstGeom prst="rect">
            <a:avLst/>
          </a:prstGeom>
          <a:noFill/>
          <a:ln/>
        </p:spPr>
        <p:txBody>
          <a:bodyPr wrap="square" lIns="0" tIns="0" rIns="0" bIns="0" rtlCol="0" anchor="ctr"/>
          <a:lstStyle/>
          <a:p>
            <a:pPr indent="0" marL="0">
              <a:buNone/>
            </a:pPr>
            <a:r>
              <a:rPr lang="en-US" sz="1100" b="1" dirty="0">
                <a:solidFill>
                  <a:srgbClr val="F5F0E2"/>
                </a:solidFill>
                <a:latin typeface="Calibri" pitchFamily="34" charset="0"/>
                <a:ea typeface="Calibri" pitchFamily="34" charset="-122"/>
                <a:cs typeface="Calibri" pitchFamily="34" charset="-120"/>
              </a:rPr>
              <a:t>TIPS Founder's Desk · The Indian Public School, Bengaluru</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Elysian Celebrations — Internship Presentation</dc:title>
  <dc:subject>PptxGenJS Presentation</dc:subject>
  <dc:creator>Mohammed Rayyan Pasha</dc:creator>
  <cp:lastModifiedBy>Mohammed Rayyan Pasha</cp:lastModifiedBy>
  <cp:revision>1</cp:revision>
  <dcterms:created xsi:type="dcterms:W3CDTF">2026-08-05T03:33:33Z</dcterms:created>
  <dcterms:modified xsi:type="dcterms:W3CDTF">2026-08-05T03:33:33Z</dcterms:modified>
</cp:coreProperties>
</file>